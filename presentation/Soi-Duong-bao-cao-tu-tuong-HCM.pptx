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 – 0:40 | MỞ ĐẦU]</a:t>
            </a:r>
          </a:p>
          <a:p/>
          <a:p>
            <a:r>
              <a:t>Kính thưa thầy/cô [Giảng viên hướng dẫn …] và các bạn,</a:t>
            </a:r>
          </a:p>
          <a:p/>
          <a:p>
            <a:r>
              <a:t>Em/mình là [Họ và tên / Nhóm …], lớp [Lớp …]. Hôm nay em xin trình bày</a:t>
            </a:r>
          </a:p>
          <a:p>
            <a:r>
              <a:t>một sản phẩm học liệu số mà em đã tự xây dựng cho môn Tư tưởng Hồ Chí Minh:</a:t>
            </a:r>
          </a:p>
          <a:p>
            <a:r>
              <a:t>website có tên là "Soi Đường".</a:t>
            </a:r>
          </a:p>
          <a:p/>
          <a:p>
            <a:r>
              <a:t>Ý tưởng rất ngắn gọn: thay vì chỉ đọc giáo trình, em thử trả lời một câu hỏi —</a:t>
            </a:r>
          </a:p>
          <a:p>
            <a:r>
              <a:t>nếu tư tưởng Hồ Chí Minh được trình bày bằng ngôn ngữ của một website hiện đại,</a:t>
            </a:r>
          </a:p>
          <a:p>
            <a:r>
              <a:t>có 3D, có tương tác, có câu hỏi tình huống, thì người trẻ hôm nay sẽ tiếp cận</a:t>
            </a:r>
          </a:p>
          <a:p>
            <a:r>
              <a:t>nó khác đi như thế nào?</a:t>
            </a:r>
          </a:p>
          <a:p/>
          <a:p>
            <a:r>
              <a:t>Trong khoảng 12–15 phút, em sẽ đi qua: vì sao làm, website có gì, công nghệ ra sao,</a:t>
            </a:r>
          </a:p>
          <a:p>
            <a:r>
              <a:t>và quan trọng nhất là những bài học tư tưởng nào được chuyển hoá thành hành vi</a:t>
            </a:r>
          </a:p>
          <a:p>
            <a:r>
              <a:t>cụ thể cho sinh viên. Cuối bài em sẽ demo trực tiếp trên trình duyệt.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[0:40 – 2:10 | VẤN ĐỀ]</a:t>
            </a:r>
          </a:p>
          <a:p/>
          <a:p>
            <a:r>
              <a:t>Trước khi nói về công nghệ, em xin nói về lý do.</a:t>
            </a:r>
          </a:p>
          <a:p/>
          <a:p>
            <a:r>
              <a:t>Em quan sát ba điều. Thứ nhất, giáo trình môn Tư tưởng Hồ Chí Minh có sáu chương,</a:t>
            </a:r>
          </a:p>
          <a:p>
            <a:r>
              <a:t>rất hệ thống về khái niệm, về cơ sở hình thành, về các nội dung tư tưởng. Nó cần</a:t>
            </a:r>
          </a:p>
          <a:p>
            <a:r>
              <a:t>thiết, nhưng với sinh viên năm nhất, năm hai thì khoảng cách giữa trang sách và</a:t>
            </a:r>
          </a:p>
          <a:p>
            <a:r>
              <a:t>đời sống khá xa.</a:t>
            </a:r>
          </a:p>
          <a:p/>
          <a:p>
            <a:r>
              <a:t>Thứ hai, cách học phổ biến là học để làm bài kiểm tra. Ít ai tự hỏi: "vậy mai mình</a:t>
            </a:r>
          </a:p>
          <a:p>
            <a:r>
              <a:t>dùng tư tưởng này vào việc gì?".</a:t>
            </a:r>
          </a:p>
          <a:p/>
          <a:p>
            <a:r>
              <a:t>Thứ ba, thế hệ chúng em tiếp nhận thông tin theo cách rất khác: trực quan, có</a:t>
            </a:r>
          </a:p>
          <a:p>
            <a:r>
              <a:t>tương tác, có phản hồi ngay lập tức.</a:t>
            </a:r>
          </a:p>
          <a:p/>
          <a:p>
            <a:r>
              <a:t>Từ đó em đặt một câu hỏi nghiên cứu rất cụ thể, nằm ở khung bên phải: làm thế nào</a:t>
            </a:r>
          </a:p>
          <a:p>
            <a:r>
              <a:t>để chuyển giá trị cốt lõi của tư tưởng Hồ Chí Minh thành một trải nghiệm mà người</a:t>
            </a:r>
          </a:p>
          <a:p>
            <a:r>
              <a:t>trẻ chủ động khám phá, chứ không phải bị động tiếp nhận.</a:t>
            </a:r>
          </a:p>
          <a:p/>
          <a:p>
            <a:r>
              <a:t>Và em muốn nhấn mạnh ngay từ đầu: website này không thay giáo trình. Nó là một</a:t>
            </a:r>
          </a:p>
          <a:p>
            <a:r>
              <a:t>"lối vào" khác, để sau khi xem xong, người học quay lại giáo trình với câu hỏi</a:t>
            </a:r>
          </a:p>
          <a:p>
            <a:r>
              <a:t>rõ ràng hơn.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[2:10 – 3:20 | Ý TƯỞNG CHỦ ĐẠO]</a:t>
            </a:r>
          </a:p>
          <a:p/>
          <a:p>
            <a:r>
              <a:t>Câu định vị nằm ngay trên trang chủ, em xin đọc nguyên văn: "Không phải sáu chương</a:t>
            </a:r>
          </a:p>
          <a:p>
            <a:r>
              <a:t>giáo trình dàn trải — mà là những giá trị cốt lõi, được kể lại theo cách một người</a:t>
            </a:r>
          </a:p>
          <a:p>
            <a:r>
              <a:t>trẻ hôm nay có thể mang vào đời sống của mình."</a:t>
            </a:r>
          </a:p>
          <a:p/>
          <a:p>
            <a:r>
              <a:t>Từ câu đó, em đặt ra ba nguyên tắc thiết kế.</a:t>
            </a:r>
          </a:p>
          <a:p/>
          <a:p>
            <a:r>
              <a:t>Một là chọn lọc, không dàn trải. Em không kể lại toàn bộ tiểu sử. Em chọn mười ba</a:t>
            </a:r>
          </a:p>
          <a:p>
            <a:r>
              <a:t>mốc tiêu biểu, và mỗi mốc phải rút ra được một bài học có thể hành động.</a:t>
            </a:r>
          </a:p>
          <a:p/>
          <a:p>
            <a:r>
              <a:t>Hai là một khung nhất quán: lịch sử, rồi bài học, rồi việc hôm nay. Người học đi</a:t>
            </a:r>
          </a:p>
          <a:p>
            <a:r>
              <a:t>từ sự kiện thật, đến ý nghĩa của nó, đến một gợi ý áp dụng, và cuối cùng là ghi chú</a:t>
            </a:r>
          </a:p>
          <a:p>
            <a:r>
              <a:t>về tư liệu.</a:t>
            </a:r>
          </a:p>
          <a:p/>
          <a:p>
            <a:r>
              <a:t>Ba là tư tưởng là để thực hành. Nên phần cuối website không phải những câu danh</a:t>
            </a:r>
          </a:p>
          <a:p>
            <a:r>
              <a:t>ngôn để ngắm, mà là các tình huống buộc người học phải chọn — và thấy ngay hệ quả</a:t>
            </a:r>
          </a:p>
          <a:p>
            <a:r>
              <a:t>của lựa chọn đó.</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[3:20 – 4:20 | CẤU TRÚC]</a:t>
            </a:r>
          </a:p>
          <a:p/>
          <a:p>
            <a:r>
              <a:t>Về cấu trúc, toàn bộ website là một trang duy nhất, chia thành bốn "trạm", được</a:t>
            </a:r>
          </a:p>
          <a:p>
            <a:r>
              <a:t>sắp theo một dụng ý sư phạm chứ không phải ngẫu nhiên.</a:t>
            </a:r>
          </a:p>
          <a:p/>
          <a:p>
            <a:r>
              <a:t>Trạm một là Hành trình: quả địa cầu ba chiều với mười ba mốc lịch sử. Nhiệm vụ của</a:t>
            </a:r>
          </a:p>
          <a:p>
            <a:r>
              <a:t>nó là tạo cảm xúc và bối cảnh.</a:t>
            </a:r>
          </a:p>
          <a:p/>
          <a:p>
            <a:r>
              <a:t>Trạm hai là Góc Gen Z: ba thẻ bài học chuyển tư tưởng thành thói quen. Đây là phần</a:t>
            </a:r>
          </a:p>
          <a:p>
            <a:r>
              <a:t>tri thức vận dụng.</a:t>
            </a:r>
          </a:p>
          <a:p/>
          <a:p>
            <a:r>
              <a:t>Trạm ba là Trạm thách thức: năm câu hỏi tình huống có giải thích. Ở đây người học</a:t>
            </a:r>
          </a:p>
          <a:p>
            <a:r>
              <a:t>phải ra quyết định.</a:t>
            </a:r>
          </a:p>
          <a:p/>
          <a:p>
            <a:r>
              <a:t>Trạm bốn là bộ sưu tập trích dẫn: bốn thẻ lật ba chiều, mặt trước là câu nói, mặt</a:t>
            </a:r>
          </a:p>
          <a:p>
            <a:r>
              <a:t>sau là nguồn và bài học. Đây là phần chiêm nghiệm, để người học giữ lại một điều gì đó.</a:t>
            </a:r>
          </a:p>
          <a:p/>
          <a:p>
            <a:r>
              <a:t>Bốn trạm này tạo một đường đi: cảm xúc, tri thức, ra quyết định, rồi chiêm nghiệm.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[4:20 – 6:00 | TRẠM HÀNH TRÌNH]</a:t>
            </a:r>
          </a:p>
          <a:p/>
          <a:p>
            <a:r>
              <a:t>Đây là phần em tâm đắc nhất và cũng là phần em sẽ demo kỹ.</a:t>
            </a:r>
          </a:p>
          <a:p/>
          <a:p>
            <a:r>
              <a:t>Một quả địa cầu ba chiều, tự xoay, và cứ bốn giây thì tự chuyển sang mốc tiếp theo.</a:t>
            </a:r>
          </a:p>
          <a:p>
            <a:r>
              <a:t>Em cố tình làm tính năng tự chạy này, vì khi trình chiếu trên lớp, thầy cô và các</a:t>
            </a:r>
          </a:p>
          <a:p>
            <a:r>
              <a:t>bạn vẫn theo dõi được mà em không phải bấm liên tục.</a:t>
            </a:r>
          </a:p>
          <a:p/>
          <a:p>
            <a:r>
              <a:t>Trên quả địa cầu có mười ba cột cờ đỏ sao vàng, được đặt đúng toạ độ địa lý thật</a:t>
            </a:r>
          </a:p>
          <a:p>
            <a:r>
              <a:t>của từng địa danh — từ Kim Liên, Nghệ An, đến Bến Nhà Rồng, Versailles, Tours,</a:t>
            </a:r>
          </a:p>
          <a:p>
            <a:r>
              <a:t>Quảng Châu, Hồng Kông, Pác Bó, Ba Đình, Điện Biên Phủ. Người xem thấy ngay một điều</a:t>
            </a:r>
          </a:p>
          <a:p>
            <a:r>
              <a:t>rất trực quan: hành trình của Bác là một hành trình vòng quanh thế giới, chứ</a:t>
            </a:r>
          </a:p>
          <a:p>
            <a:r>
              <a:t>không nằm gọn trong một địa phương.</a:t>
            </a:r>
          </a:p>
          <a:p/>
          <a:p>
            <a:r>
              <a:t>Người học có thể lọc theo tám giai đoạn, kéo xoay, phóng to, bấm "Tập trung mốc"</a:t>
            </a:r>
          </a:p>
          <a:p>
            <a:r>
              <a:t>hoặc "Toàn cảnh". Mỗi khi chạm vào một mốc, quả địa cầu tự tạm dừng ba giây rưỡi</a:t>
            </a:r>
          </a:p>
          <a:p>
            <a:r>
              <a:t>để đọc.</a:t>
            </a:r>
          </a:p>
          <a:p/>
          <a:p>
            <a:r>
              <a:t>Mỗi mốc có ảnh tư liệu lấy từ Wikimedia Commons, kèm chú thích và ghi chú nguồn.</a:t>
            </a:r>
          </a:p>
          <a:p>
            <a:r>
              <a:t>Nếu ảnh không tải được, giao diện tự hiện một khung dự phòng và phần chữ vẫn đọc</a:t>
            </a:r>
          </a:p>
          <a:p>
            <a:r>
              <a:t>được bình thường.</a:t>
            </a:r>
          </a:p>
          <a:p/>
          <a:p>
            <a:r>
              <a:t>Lưu ý nhỏ: hình bên trái là sơ đồ minh hoạ do em vẽ lại, không phải ảnh chụp</a:t>
            </a:r>
          </a:p>
          <a:p>
            <a:r>
              <a:t>màn hình — phần thật em sẽ demo ở cuối bài.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[6:00 – 7:00 | 13 MỐC]</a:t>
            </a:r>
          </a:p>
          <a:p/>
          <a:p>
            <a:r>
              <a:t>Đây là toàn bộ mười ba mốc trên website, từ năm 1890 ở Kim Liên đến năm 1990, kỷ</a:t>
            </a:r>
          </a:p>
          <a:p>
            <a:r>
              <a:t>niệm một trăm năm ngày sinh của Người.</a:t>
            </a:r>
          </a:p>
          <a:p/>
          <a:p>
            <a:r>
              <a:t>Em xin phép không đọc hết, chỉ nhấn mạnh cách chọn: mỗi mốc phải rút ra được một</a:t>
            </a:r>
          </a:p>
          <a:p>
            <a:r>
              <a:t>bài học viết bằng ngôn ngữ của hôm nay. Ví dụ năm 1911 ở Bến Nhà Rồng, bài học là</a:t>
            </a:r>
          </a:p>
          <a:p>
            <a:r>
              <a:t>"dấn thân và bước ra vùng an toàn". Năm 1930 ở Hồng Kông là "tổ chức và tìm điểm</a:t>
            </a:r>
          </a:p>
          <a:p>
            <a:r>
              <a:t>chung". Năm 1954 ở Điện Biên Phủ là "kiên định mục tiêu và phát huy sức dân".</a:t>
            </a:r>
          </a:p>
          <a:p/>
          <a:p>
            <a:r>
              <a:t>Tức là lịch sử vẫn được giữ đúng, nhưng đầu ra của nó là một kỹ năng sống.</a:t>
            </a:r>
          </a:p>
          <a:p>
            <a:r>
              <a:t>Đó chính là cách em hiểu câu "tư tưởng là kim chỉ nam": kim chỉ nam thì phải chỉ</a:t>
            </a:r>
          </a:p>
          <a:p>
            <a:r>
              <a:t>được hướng cho một quyết định cụ thể.</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[7:00 – 8:10 | CẤU TRÚC MỘT MỐC]</a:t>
            </a:r>
          </a:p>
          <a:p/>
          <a:p>
            <a:r>
              <a:t>Em xin phóng to một mốc để thầy cô thấy cấu trúc bên trong. Đây là mốc năm 1930</a:t>
            </a:r>
          </a:p>
          <a:p>
            <a:r>
              <a:t>tại Hồng Kông, Trung Quốc.</a:t>
            </a:r>
          </a:p>
          <a:p/>
          <a:p>
            <a:r>
              <a:t>Mục "Sự kiện" ghi đúng lịch sử: đầu năm 1930, Nguyễn Ái Quốc chủ trì hội nghị hợp</a:t>
            </a:r>
          </a:p>
          <a:p>
            <a:r>
              <a:t>nhất các tổ chức cộng sản, dẫn tới sự ra đời của Đảng Cộng sản Việt Nam.</a:t>
            </a:r>
          </a:p>
          <a:p/>
          <a:p>
            <a:r>
              <a:t>Mục "Vì sao quan trọng" nâng lên thành nguyên lý: một mục tiêu chung chỉ trở thành</a:t>
            </a:r>
          </a:p>
          <a:p>
            <a:r>
              <a:t>sức mạnh khi được chuyển thành tổ chức, nguyên tắc phối hợp và trách nhiệm cụ thể.</a:t>
            </a:r>
          </a:p>
          <a:p/>
          <a:p>
            <a:r>
              <a:t>Và mục "Gợi ý hôm nay" hạ xuống đời sống sinh viên: đoàn kết không có nghĩa là xoá</a:t>
            </a:r>
          </a:p>
          <a:p>
            <a:r>
              <a:t>khác biệt; một nhóm làm việc tốt cần mục tiêu chung, nguyên tắc trao đổi và một</a:t>
            </a:r>
          </a:p>
          <a:p>
            <a:r>
              <a:t>người chịu trách nhiệm kết nối các góc nhìn.</a:t>
            </a:r>
          </a:p>
          <a:p/>
          <a:p>
            <a:r>
              <a:t>Điểm em muốn thầy cô chú ý là khung nhỏ bên trái: "Ghi chú tư liệu". Ở đó website</a:t>
            </a:r>
          </a:p>
          <a:p>
            <a:r>
              <a:t>ghi rõ mốc tổ chức là tháng Hai năm 1930, hội nghị diễn ra tại khu vực Cửu Long,</a:t>
            </a:r>
          </a:p>
          <a:p>
            <a:r>
              <a:t>Hồng Kông. Mọi mốc trong mười ba mốc đều có dòng ghi chú như vậy. Em sẽ nói kỹ</a:t>
            </a:r>
          </a:p>
          <a:p>
            <a:r>
              <a:t>hơn về tính trung thực tư liệu ở phần sau.</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[8:10 – 9:20 | GÓC GEN Z]</a:t>
            </a:r>
          </a:p>
          <a:p/>
          <a:p>
            <a:r>
              <a:t>Sang trạm thứ hai: Góc Gen Z, với ba thẻ bài học. Ba thẻ này là phần em cho là</a:t>
            </a:r>
          </a:p>
          <a:p>
            <a:r>
              <a:t>"chất" nhất về mặt tư tưởng, vì nó làm đúng việc chuyển hoá.</a:t>
            </a:r>
          </a:p>
          <a:p/>
          <a:p>
            <a:r>
              <a:t>Thẻ thứ nhất: "Dĩ bất biến, ứng vạn biến" thời 4.0. Cái bất biến ở đây là giá trị</a:t>
            </a:r>
          </a:p>
          <a:p>
            <a:r>
              <a:t>nghề nghiệp cốt lõi và năng lực tư duy độc lập; cái vạn biến là công cụ — hôm nay</a:t>
            </a:r>
          </a:p>
          <a:p>
            <a:r>
              <a:t>là AI, ngày mai là thứ khác.</a:t>
            </a:r>
          </a:p>
          <a:p/>
          <a:p>
            <a:r>
              <a:t>Thẻ thứ hai: Cần, Kiệm, Liêm, Chính thời Gen Z. Bốn chữ rất quen, nhưng em diễn</a:t>
            </a:r>
          </a:p>
          <a:p>
            <a:r>
              <a:t>dịch lại thành bốn thói quen rất mới.</a:t>
            </a:r>
          </a:p>
          <a:p/>
          <a:p>
            <a:r>
              <a:t>Thẻ thứ ba: Tự học theo chân Bác — không chờ một môi trường lý tưởng, mà chủ động</a:t>
            </a:r>
          </a:p>
          <a:p>
            <a:r>
              <a:t>biến hoàn cảnh thành bài học.</a:t>
            </a:r>
          </a:p>
          <a:p/>
          <a:p>
            <a:r>
              <a:t>Về mặt giao diện, ba thẻ này nghiêng ba chiều theo con trỏ chuột và có nút "Đọc</a:t>
            </a:r>
          </a:p>
          <a:p>
            <a:r>
              <a:t>thêm" để mở phần phân tích. Em làm vậy vì không muốn bắt người đọc nuốt một khối</a:t>
            </a:r>
          </a:p>
          <a:p>
            <a:r>
              <a:t>chữ ngay từ đầu.</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[9:20 – 10:20 | CẦN KIỆM LIÊM CHÍNH]</a:t>
            </a:r>
          </a:p>
          <a:p/>
          <a:p>
            <a:r>
              <a:t>Em xin đi sâu một chút vào thẻ thứ hai, vì đây là chỗ tư tưởng chạm vào đời sống</a:t>
            </a:r>
          </a:p>
          <a:p>
            <a:r>
              <a:t>số rõ nhất.</a:t>
            </a:r>
          </a:p>
          <a:p/>
          <a:p>
            <a:r>
              <a:t>Cần, em hiểu là kỷ luật với thời gian. Trong thời đại mà thuật toán mạng xã hội</a:t>
            </a:r>
          </a:p>
          <a:p>
            <a:r>
              <a:t>được thiết kế để giữ chân mình, thì tự chủ được thời gian biểu đã là một hình thức</a:t>
            </a:r>
          </a:p>
          <a:p>
            <a:r>
              <a:t>của chữ Cần.</a:t>
            </a:r>
          </a:p>
          <a:p/>
          <a:p>
            <a:r>
              <a:t>Kiệm là chi tiêu có kế hoạch, không chạy theo áp lực tiêu dùng.</a:t>
            </a:r>
          </a:p>
          <a:p/>
          <a:p>
            <a:r>
              <a:t>Liêm, em chuyển thành tôn trọng bản quyền nội dung số: ghi nguồn, xin phép, không</a:t>
            </a:r>
          </a:p>
          <a:p>
            <a:r>
              <a:t>xào lại bài của người khác rồi nhận là của mình.</a:t>
            </a:r>
          </a:p>
          <a:p/>
          <a:p>
            <a:r>
              <a:t>Chính là giữ sự tử tế một cách nhất quán, kể cả khi mình đang ẩn danh sau màn hình.</a:t>
            </a:r>
          </a:p>
          <a:p/>
          <a:p>
            <a:r>
              <a:t>Em chọn bốn chữ này vì đây là bộ giá trị đạo đức ngắn nhất, dễ nhớ nhất, và cũng</a:t>
            </a:r>
          </a:p>
          <a:p>
            <a:r>
              <a:t>dễ kiểm tra nhất: cuối ngày mình tự hỏi là biết ngay hôm nay mình có sống đúng</a:t>
            </a:r>
          </a:p>
          <a:p>
            <a:r>
              <a:t>bốn chữ đó hay không.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[10:20 – 11:20 | QUIZ]</a:t>
            </a:r>
          </a:p>
          <a:p/>
          <a:p>
            <a:r>
              <a:t>Trạm thứ ba là phần em nghĩ sẽ khiến lớp tham gia nhiều nhất: năm câu hỏi tình huống.</a:t>
            </a:r>
          </a:p>
          <a:p/>
          <a:p>
            <a:r>
              <a:t>Ví dụ câu một: bạn vừa mất một cơ hội việc làm mơ ước vì thiếu một kỹ năng nhỏ —</a:t>
            </a:r>
          </a:p>
          <a:p>
            <a:r>
              <a:t>bạn làm gì? Đáp án đúng là xác định đúng kỹ năng còn thiếu và tự học trong ba mươi</a:t>
            </a:r>
          </a:p>
          <a:p>
            <a:r>
              <a:t>ngày tới. Phần giải thích nhắc rằng Bác từng tự học tiếng Anh, tiếng Pháp, tiếng</a:t>
            </a:r>
          </a:p>
          <a:p>
            <a:r>
              <a:t>Nga ngay trong lúc làm những công việc chân tay vất vả nhất.</a:t>
            </a:r>
          </a:p>
          <a:p/>
          <a:p>
            <a:r>
              <a:t>Câu em thích nhất là câu năm, rất thời sự: AI có thể viết giúp bạn gần như trọn</a:t>
            </a:r>
          </a:p>
          <a:p>
            <a:r>
              <a:t>vẹn một bài luận, vậy theo tinh thần "dĩ bất biến, ứng vạn biến" thì nên làm gì?</a:t>
            </a:r>
          </a:p>
          <a:p>
            <a:r>
              <a:t>Đáp án không phải là dùng AI rồi nộp nguyên văn, cũng không phải tẩy chay AI, mà</a:t>
            </a:r>
          </a:p>
          <a:p>
            <a:r>
              <a:t>là dùng AI như công cụ hỗ trợ nhưng tự mình tư duy, kiểm chứng và chịu trách nhiệm</a:t>
            </a:r>
          </a:p>
          <a:p>
            <a:r>
              <a:t>với nội dung cuối cùng.</a:t>
            </a:r>
          </a:p>
          <a:p/>
          <a:p>
            <a:r>
              <a:t>Điểm quan trọng về mặt sư phạm: không câu nào chỉ nói "đúng" hay "sai". Câu nào</a:t>
            </a:r>
          </a:p>
          <a:p>
            <a:r>
              <a:t>cũng có phần giải thích nối về một sự kiện lịch sử hoặc một giá trị cụ thể.</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[11:20 – 12:00 | TRÍCH DẪN]</a:t>
            </a:r>
          </a:p>
          <a:p/>
          <a:p>
            <a:r>
              <a:t>Phần cuối cùng của website là bốn thẻ trích dẫn, thiết kế theo kiểu thẻ lật ba</a:t>
            </a:r>
          </a:p>
          <a:p>
            <a:r>
              <a:t>chiều. Mặt trước là câu nói, ví dụ: "Không có việc gì khó, chỉ sợ lòng không bền",</a:t>
            </a:r>
          </a:p>
          <a:p>
            <a:r>
              <a:t>hoặc "Học hỏi là một việc phải tiếp tục suốt đời", hay câu về đại đoàn kết.</a:t>
            </a:r>
          </a:p>
          <a:p/>
          <a:p>
            <a:r>
              <a:t>Khi lật ra mặt sau, người xem thấy hai thứ: nguồn của câu nói — ví dụ thơ tặng</a:t>
            </a:r>
          </a:p>
          <a:p>
            <a:r>
              <a:t>thanh niên xung phong năm 1950, hay thư gửi học viên trường Nguyễn Ái Quốc năm</a:t>
            </a:r>
          </a:p>
          <a:p>
            <a:r>
              <a:t>1949 — và một đoạn bài học ứng dụng.</a:t>
            </a:r>
          </a:p>
          <a:p/>
          <a:p>
            <a:r>
              <a:t>Có cả nút "Chia sẻ / Lưu câu nói": trên điện thoại thì mở hộp chia sẻ của hệ điều</a:t>
            </a:r>
          </a:p>
          <a:p>
            <a:r>
              <a:t>hành, trên máy tính thì copy vào clipboard. Mục đích rất thực dụng: để một câu</a:t>
            </a:r>
          </a:p>
          <a:p>
            <a:r>
              <a:t>nói hay có thể đi tiếp ra khỏi trang web, vào story hoặc vào nhóm lớp.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[12:00 – 13:00 | CÔNG NGHỆ]</a:t>
            </a:r>
          </a:p>
          <a:p/>
          <a:p>
            <a:r>
              <a:t>Về phần kỹ thuật, em xin trình bày rất nhanh vì trọng tâm của môn học là tư tưởng.</a:t>
            </a:r>
          </a:p>
          <a:p/>
          <a:p>
            <a:r>
              <a:t>Website dựng bằng Next.js phiên bản mười bốn với App Router, React mười tám và</a:t>
            </a:r>
          </a:p>
          <a:p>
            <a:r>
              <a:t>TypeScript. Đồ hoạ ba chiều dùng three.js kết hợp React Three Fiber. Chuyển động</a:t>
            </a:r>
          </a:p>
          <a:p>
            <a:r>
              <a:t>dùng Framer Motion. Giao diện dùng Tailwind CSS với một bảng màu riêng: đỏ đô,</a:t>
            </a:r>
          </a:p>
          <a:p>
            <a:r>
              <a:t>kem, vàng gold và than — gợi cảm giác trang trọng, không giống một trang giải trí.</a:t>
            </a:r>
          </a:p>
          <a:p/>
          <a:p>
            <a:r>
              <a:t>Điểm em muốn nhấn mạnh là toàn bộ đều là mã nguồn mở, miễn phí, nên bất kỳ trường</a:t>
            </a:r>
          </a:p>
          <a:p>
            <a:r>
              <a:t>nào cũng có thể nhân bản mô hình này.</a:t>
            </a:r>
          </a:p>
          <a:p/>
          <a:p>
            <a:r>
              <a:t>Còn khung bên phải trả lời một câu hỏi kỹ thuật: vì sao không dùng Spline — một</a:t>
            </a:r>
          </a:p>
          <a:p>
            <a:r>
              <a:t>công cụ làm 3D kéo thả rất phổ biến? Vì em dựng quả địa cầu và biểu tượng bằng</a:t>
            </a:r>
          </a:p>
          <a:p>
            <a:r>
              <a:t>hình học thủ tục ngay trong code. Lợi thế là không phụ thuộc asset bên ngoài,</a:t>
            </a:r>
          </a:p>
          <a:p>
            <a:r>
              <a:t>không cần API key, không lo link hết hạn sau hai năm, và tải nhẹ hơn.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[13:00 – 13:50 | KIẾN TRÚC]</a:t>
            </a:r>
          </a:p>
          <a:p/>
          <a:p>
            <a:r>
              <a:t>Về cách tổ chức mã nguồn, em tách nội dung ra khỏi giao diện.</a:t>
            </a:r>
          </a:p>
          <a:p/>
          <a:p>
            <a:r>
              <a:t>Bên trái là cây thư mục. Toàn bộ chữ nghĩa, mốc lịch sử, câu hỏi, trích dẫn đều</a:t>
            </a:r>
          </a:p>
          <a:p>
            <a:r>
              <a:t>nằm trong bốn file JSON ở thư mục data. Các file component chỉ lo hiển thị.</a:t>
            </a:r>
          </a:p>
          <a:p/>
          <a:p>
            <a:r>
              <a:t>Điều đó có nghĩa là: muốn thêm một mốc lịch sử mới, em chỉ cần thêm một khối JSON,</a:t>
            </a:r>
          </a:p>
          <a:p>
            <a:r>
              <a:t>không phải đụng vào giao diện. Mỗi mốc là một cấu trúc mười bốn trường — năm, giai</a:t>
            </a:r>
          </a:p>
          <a:p>
            <a:r>
              <a:t>đoạn, địa danh, toạ độ, bài học, bối cảnh, ý nghĩa, gợi ý hôm nay, ghi chú nguồn,</a:t>
            </a:r>
          </a:p>
          <a:p>
            <a:r>
              <a:t>và ảnh kèm chú thích.</a:t>
            </a:r>
          </a:p>
          <a:p/>
          <a:p>
            <a:r>
              <a:t>Em muốn nhấn mạnh ý nghĩa sư phạm của việc này: đây là một dự án có thể tiếp quản.</a:t>
            </a:r>
          </a:p>
          <a:p>
            <a:r>
              <a:t>Một nhóm sinh viên khoá sau hoàn toàn có thể bổ sung mốc, chỉnh lại lời khuyên cho</a:t>
            </a:r>
          </a:p>
          <a:p>
            <a:r>
              <a:t>hợp với bối cảnh mới, mà không cần biết lập trình ba chiều.</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[13:50 – 14:40 | TRẢI NGHIỆM VÀ TIẾP CẬN]</a:t>
            </a:r>
          </a:p>
          <a:p/>
          <a:p>
            <a:r>
              <a:t>Phần này em nói ngắn, nhưng em coi đây là tiêu chí đánh giá một sản phẩm học liệu</a:t>
            </a:r>
          </a:p>
          <a:p>
            <a:r>
              <a:t>có trách nhiệm.</a:t>
            </a:r>
          </a:p>
          <a:p/>
          <a:p>
            <a:r>
              <a:t>Thứ nhất, tôn trọng người nhạy cảm với chuyển động: nếu hệ điều hành đang bật chế</a:t>
            </a:r>
          </a:p>
          <a:p>
            <a:r>
              <a:t>độ giảm chuyển động, toàn bộ animation tự tắt, quả địa cầu ngừng tự xoay.</a:t>
            </a:r>
          </a:p>
          <a:p/>
          <a:p>
            <a:r>
              <a:t>Thứ hai, hiệu năng: em giới hạn độ phân giải render, thu nhỏ Canvas trên điện</a:t>
            </a:r>
          </a:p>
          <a:p>
            <a:r>
              <a:t>thoại, và tải ảnh theo kiểu lazy để máy yếu vẫn chạy được — vì em biết không phải</a:t>
            </a:r>
          </a:p>
          <a:p>
            <a:r>
              <a:t>bạn nào trong lớp cũng có laptop mạnh.</a:t>
            </a:r>
          </a:p>
          <a:p/>
          <a:p>
            <a:r>
              <a:t>Thứ ba, hai cảnh ba chiều nặng được nạp động và chỉ render ở trình duyệt, nên</a:t>
            </a:r>
          </a:p>
          <a:p>
            <a:r>
              <a:t>trang vẫn hiện chữ ngay lập tức.</a:t>
            </a:r>
          </a:p>
          <a:p/>
          <a:p>
            <a:r>
              <a:t>Thứ tư, mọi nút đều có khung focus và nhãn aria, nghĩa là người dùng bàn phím hoặc</a:t>
            </a:r>
          </a:p>
          <a:p>
            <a:r>
              <a:t>công cụ đọc màn hình vẫn thao tác được.</a:t>
            </a:r>
          </a:p>
          <a:p/>
          <a:p>
            <a:r>
              <a:t>Và thứ năm, nếu ảnh tư liệu không tải được, website tự thay bằng một khung thông</a:t>
            </a:r>
          </a:p>
          <a:p>
            <a:r>
              <a:t>báo chứ không hiện biểu tượng ảnh vỡ.</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[14:40 – 15:40 | TÍNH HỌC THUẬT]</a:t>
            </a:r>
          </a:p>
          <a:p/>
          <a:p>
            <a:r>
              <a:t>Phần này em xin phép nói chậm hơn một chút, vì em nghĩ đây là chỗ một sản phẩm về</a:t>
            </a:r>
          </a:p>
          <a:p>
            <a:r>
              <a:t>tư tưởng Hồ Chí Minh dễ mắc lỗi nhất: gán cho Bác những câu nói không có thật,</a:t>
            </a:r>
          </a:p>
          <a:p>
            <a:r>
              <a:t>hoặc trích dẫn sai nguồn.</a:t>
            </a:r>
          </a:p>
          <a:p/>
          <a:p>
            <a:r>
              <a:t>Ngay trên trang chủ, em đặt một khung "Ghi chú lịch sử", nói rõ rằng một số câu nói</a:t>
            </a:r>
          </a:p>
          <a:p>
            <a:r>
              <a:t>và bài học ở đây được rút ra từ tư tưởng, lời nói và hành động của Người, và không</a:t>
            </a:r>
          </a:p>
          <a:p>
            <a:r>
              <a:t>phải lúc nào cũng là trích dẫn nguyên văn.</a:t>
            </a:r>
          </a:p>
          <a:p/>
          <a:p>
            <a:r>
              <a:t>Cụ thể hơn: mỗi mốc đều có dòng "Ghi chú tư liệu" ghi rõ mốc thời gian và địa điểm</a:t>
            </a:r>
          </a:p>
          <a:p>
            <a:r>
              <a:t>được ghi nhận. Bốn câu trích dẫn đều có nguồn cụ thể — thơ tặng thanh niên xung</a:t>
            </a:r>
          </a:p>
          <a:p>
            <a:r>
              <a:t>phong năm 1950, thư gửi học viên trường Nguyễn Ái Quốc năm 1949, diễn văn năm 1961.</a:t>
            </a:r>
          </a:p>
          <a:p>
            <a:r>
              <a:t>Ảnh tư liệu đều lấy từ Wikimedia Commons và có chú thích.</a:t>
            </a:r>
          </a:p>
          <a:p/>
          <a:p>
            <a:r>
              <a:t>Và cuối cùng, em xin tự nhận giới hạn: đây là sản phẩm học liệu của một sinh viên.</a:t>
            </a:r>
          </a:p>
          <a:p>
            <a:r>
              <a:t>Phần "gợi ý hôm nay" là cách diễn giải của em. Em rất mong nhận được góp ý của</a:t>
            </a:r>
          </a:p>
          <a:p>
            <a:r>
              <a:t>thầy cô để phần đó bám sát giáo trình hơn.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[15:40 – 16:30 | HẠN CHẾ VÀ HƯỚNG PHÁT TRIỂN]</a:t>
            </a:r>
          </a:p>
          <a:p/>
          <a:p>
            <a:r>
              <a:t>Em xin trình bày thẳng thắn phần hạn chế, vì em nghĩ một báo cáo học thuật cần</a:t>
            </a:r>
          </a:p>
          <a:p>
            <a:r>
              <a:t>phần này.</a:t>
            </a:r>
          </a:p>
          <a:p/>
          <a:p>
            <a:r>
              <a:t>Thứ nhất, em chưa đối chiếu một cách tường minh mốc nào ứng với chương nào trong</a:t>
            </a:r>
          </a:p>
          <a:p>
            <a:r>
              <a:t>giáo trình. Thứ hai, phần "gợi ý hôm nay" là diễn giải của cá nhân em, chưa qua</a:t>
            </a:r>
          </a:p>
          <a:p>
            <a:r>
              <a:t>phản biện. Thứ ba, cảnh 3D và ảnh tư liệu vẫn phụ thuộc nguồn ngoài — texture Trái</a:t>
            </a:r>
          </a:p>
          <a:p>
            <a:r>
              <a:t>Đất tải từ threejs.org, ảnh từ Wikimedia — nên mạng yếu thì quả địa cầu có thể</a:t>
            </a:r>
          </a:p>
          <a:p>
            <a:r>
              <a:t>không hiện. Thứ tư, chưa có bản tiếng Anh. Và thứ năm — quan trọng nhất — em chưa</a:t>
            </a:r>
          </a:p>
          <a:p>
            <a:r>
              <a:t>có số liệu về hiệu quả, vì chưa khảo sát người học trước và sau khi dùng.</a:t>
            </a:r>
          </a:p>
          <a:p/>
          <a:p>
            <a:r>
              <a:t>Về hướng phát triển: em muốn thêm trang chi tiết theo từng chương để bám sát sáu</a:t>
            </a:r>
          </a:p>
          <a:p>
            <a:r>
              <a:t>chương giáo trình; cho phép xuất ảnh wallpaper từ thẻ trích dẫn; bổ sung một chế</a:t>
            </a:r>
          </a:p>
          <a:p>
            <a:r>
              <a:t>độ dành riêng cho giảng viên để chiếu theo giáo án; và quan trọng là khảo sát thử</a:t>
            </a:r>
          </a:p>
          <a:p>
            <a:r>
              <a:t>ở một hai lớp để có số liệu thật.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[16:30 – 18:00 | DEMO]</a:t>
            </a:r>
          </a:p>
          <a:p/>
          <a:p>
            <a:r>
              <a:t>Bây giờ em xin phép chuyển sang demo trực tiếp.</a:t>
            </a:r>
          </a:p>
          <a:p/>
          <a:p>
            <a:r>
              <a:t>Trang chủ: em di chuột để mọi người thấy biểu tượng búa – liềm xoay theo con trỏ.</a:t>
            </a:r>
          </a:p>
          <a:p>
            <a:r>
              <a:t>Đây là biểu tượng của giai cấp công nhân và nông dân, cũng là hình ảnh mở đầu cho</a:t>
            </a:r>
          </a:p>
          <a:p>
            <a:r>
              <a:t>toàn bộ hành trình.</a:t>
            </a:r>
          </a:p>
          <a:p/>
          <a:p>
            <a:r>
              <a:t>Quả địa cầu: em để nó tự chạy hai, ba mốc. Mọi người thấy nó tự chuyển và phần</a:t>
            </a:r>
          </a:p>
          <a:p>
            <a:r>
              <a:t>thông tin bên phải tự cập nhật. Bây giờ em lọc theo giai đoạn "Tổ chức" và phóng</a:t>
            </a:r>
          </a:p>
          <a:p>
            <a:r>
              <a:t>to mốc 1930 ở Hồng Kông.</a:t>
            </a:r>
          </a:p>
          <a:p/>
          <a:p>
            <a:r>
              <a:t>Góc Gen Z: em nghiêng thẻ theo chuột, và bấm "Đọc thêm".</a:t>
            </a:r>
          </a:p>
          <a:p/>
          <a:p>
            <a:r>
              <a:t>Quiz: ở đây em xin mời một bạn trả lời giúp câu hỏi về AI… (chờ bạn trả lời)</a:t>
            </a:r>
          </a:p>
          <a:p>
            <a:r>
              <a:t>Đúng rồi, và đây là phần giải thích.</a:t>
            </a:r>
          </a:p>
          <a:p/>
          <a:p>
            <a:r>
              <a:t>Cuối cùng là thẻ trích dẫn: em lật thẻ, chỉ vào nguồn, và bấm nút chia sẻ.</a:t>
            </a:r>
          </a:p>
          <a:p/>
          <a:p>
            <a:r>
              <a:t>Đó là toàn bộ website. Em xin quay lại phần kết luận.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[18:00 – 19:00 | KẾT LUẬN]</a:t>
            </a:r>
          </a:p>
          <a:p/>
          <a:p>
            <a:r>
              <a:t>Em xin kết lại bằng ba điều.</a:t>
            </a:r>
          </a:p>
          <a:p/>
          <a:p>
            <a:r>
              <a:t>Thứ nhất, website này thử nghiệm một cách học: đi từ lịch sử, đến bài học, rồi đến</a:t>
            </a:r>
          </a:p>
          <a:p>
            <a:r>
              <a:t>việc của hôm nay. Cùng một nội dung tư tưởng, nhưng đầu ra không phải một khái</a:t>
            </a:r>
          </a:p>
          <a:p>
            <a:r>
              <a:t>niệm để thuộc, mà là một hành vi để làm.</a:t>
            </a:r>
          </a:p>
          <a:p/>
          <a:p>
            <a:r>
              <a:t>Thứ hai, đây là một sản phẩm mở: toàn bộ nội dung nằm trong file JSON, nên một</a:t>
            </a:r>
          </a:p>
          <a:p>
            <a:r>
              <a:t>nhóm sinh viên khác hoàn toàn có thể tiếp quản và phát triển tiếp.</a:t>
            </a:r>
          </a:p>
          <a:p/>
          <a:p>
            <a:r>
              <a:t>Thứ ba, và cũng là điều em tự nhắc mình: kim chỉ nam chỉ thực sự có ý nghĩa khi nó</a:t>
            </a:r>
          </a:p>
          <a:p>
            <a:r>
              <a:t>đổi được một quyết định thật của ngày mai — một cách mình dùng thời gian, một cách</a:t>
            </a:r>
          </a:p>
          <a:p>
            <a:r>
              <a:t>mình tiêu tiền, một cách mình ghi nguồn bài của người khác, một cách mình dùng AI.</a:t>
            </a:r>
          </a:p>
          <a:p/>
          <a:p>
            <a:r>
              <a:t>Em xin trân trọng cảm ơn thầy/cô và các bạn đã lắng nghe. Em rất mong nhận được</a:t>
            </a:r>
          </a:p>
          <a:p>
            <a:r>
              <a:t>góp ý để hoàn thiện sản phẩm này.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146304"/>
          </a:xfrm>
          <a:prstGeom prst="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711696"/>
            <a:ext cx="12191695" cy="146304"/>
          </a:xfrm>
          <a:prstGeom prst="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5-Point Star 5"/>
          <p:cNvSpPr/>
          <p:nvPr/>
        </p:nvSpPr>
        <p:spPr>
          <a:xfrm>
            <a:off x="822960" y="960120"/>
            <a:ext cx="566928" cy="566928"/>
          </a:xfrm>
          <a:prstGeom prst="star5">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00200" y="1042415"/>
            <a:ext cx="7315200" cy="457200"/>
          </a:xfrm>
          <a:prstGeom prst="rect">
            <a:avLst/>
          </a:prstGeom>
          <a:noFill/>
        </p:spPr>
        <p:txBody>
          <a:bodyPr wrap="square" lIns="0" rIns="0" tIns="0" bIns="0" anchor="t">
            <a:spAutoFit/>
          </a:bodyPr>
          <a:lstStyle/>
          <a:p>
            <a:pPr algn="l">
              <a:lnSpc>
                <a:spcPct val="112000"/>
              </a:lnSpc>
              <a:spcAft>
                <a:spcPts val="0"/>
              </a:spcAft>
            </a:pPr>
            <a:r>
              <a:rPr sz="1200" b="1" i="0">
                <a:solidFill>
                  <a:srgbClr val="E7CD7A"/>
                </a:solidFill>
                <a:latin typeface="Segoe UI"/>
              </a:rPr>
              <a:t>MÔN HỌC TƯ TƯỞNG HỒ CHÍ MINH — BÁO CÁO SẢN PHẨM HỌC LIỆU SỐ</a:t>
            </a:r>
          </a:p>
        </p:txBody>
      </p:sp>
      <p:sp>
        <p:nvSpPr>
          <p:cNvPr id="8" name="TextBox 7"/>
          <p:cNvSpPr txBox="1"/>
          <p:nvPr/>
        </p:nvSpPr>
        <p:spPr>
          <a:xfrm>
            <a:off x="822960" y="1874519"/>
            <a:ext cx="10515600" cy="1188720"/>
          </a:xfrm>
          <a:prstGeom prst="rect">
            <a:avLst/>
          </a:prstGeom>
          <a:noFill/>
        </p:spPr>
        <p:txBody>
          <a:bodyPr wrap="square" lIns="0" rIns="0" tIns="0" bIns="0" anchor="t">
            <a:spAutoFit/>
          </a:bodyPr>
          <a:lstStyle/>
          <a:p>
            <a:pPr algn="l">
              <a:lnSpc>
                <a:spcPct val="112000"/>
              </a:lnSpc>
              <a:spcAft>
                <a:spcPts val="0"/>
              </a:spcAft>
            </a:pPr>
            <a:r>
              <a:rPr sz="6800" b="1" i="0">
                <a:solidFill>
                  <a:srgbClr val="FDFBF7"/>
                </a:solidFill>
                <a:latin typeface="Georgia"/>
              </a:rPr>
              <a:t>SOI ĐƯỜNG</a:t>
            </a:r>
          </a:p>
        </p:txBody>
      </p:sp>
      <p:sp>
        <p:nvSpPr>
          <p:cNvPr id="9" name="TextBox 8"/>
          <p:cNvSpPr txBox="1"/>
          <p:nvPr/>
        </p:nvSpPr>
        <p:spPr>
          <a:xfrm>
            <a:off x="822960" y="3063240"/>
            <a:ext cx="9601200" cy="731520"/>
          </a:xfrm>
          <a:prstGeom prst="rect">
            <a:avLst/>
          </a:prstGeom>
          <a:noFill/>
        </p:spPr>
        <p:txBody>
          <a:bodyPr wrap="square" lIns="0" rIns="0" tIns="0" bIns="0" anchor="t">
            <a:spAutoFit/>
          </a:bodyPr>
          <a:lstStyle/>
          <a:p>
            <a:pPr algn="l">
              <a:lnSpc>
                <a:spcPct val="112000"/>
              </a:lnSpc>
              <a:spcAft>
                <a:spcPts val="0"/>
              </a:spcAft>
            </a:pPr>
            <a:r>
              <a:rPr sz="2400" b="0" i="0">
                <a:solidFill>
                  <a:srgbClr val="E7CD7A"/>
                </a:solidFill>
                <a:latin typeface="Georgia"/>
              </a:rPr>
              <a:t>Tư tưởng Hồ Chí Minh trong một trải nghiệm web tương tác 3D cho thế hệ trẻ</a:t>
            </a:r>
          </a:p>
        </p:txBody>
      </p:sp>
      <p:sp>
        <p:nvSpPr>
          <p:cNvPr id="10" name="Rectangle 9"/>
          <p:cNvSpPr/>
          <p:nvPr/>
        </p:nvSpPr>
        <p:spPr>
          <a:xfrm>
            <a:off x="822960" y="3977639"/>
            <a:ext cx="2011680" cy="32004"/>
          </a:xfrm>
          <a:prstGeom prst="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4297680"/>
            <a:ext cx="5943600" cy="1463040"/>
          </a:xfrm>
          <a:prstGeom prst="rect">
            <a:avLst/>
          </a:prstGeom>
          <a:noFill/>
        </p:spPr>
        <p:txBody>
          <a:bodyPr wrap="square" lIns="0" rIns="0" tIns="0" bIns="0" anchor="t">
            <a:spAutoFit/>
          </a:bodyPr>
          <a:lstStyle/>
          <a:p>
            <a:pPr algn="l">
              <a:lnSpc>
                <a:spcPct val="112000"/>
              </a:lnSpc>
              <a:spcAft>
                <a:spcPts val="700"/>
              </a:spcAft>
            </a:pPr>
            <a:r>
              <a:rPr sz="1400" b="1" i="0">
                <a:solidFill>
                  <a:srgbClr val="E7CD7A"/>
                </a:solidFill>
                <a:latin typeface="Segoe UI"/>
              </a:rPr>
              <a:t>Người trình bày: </a:t>
            </a:r>
            <a:r>
              <a:rPr sz="1400" b="0" i="0">
                <a:solidFill>
                  <a:srgbClr val="FDFBF7"/>
                </a:solidFill>
                <a:latin typeface="Segoe UI"/>
              </a:rPr>
              <a:t>[Họ và tên / Nhóm …]</a:t>
            </a:r>
          </a:p>
          <a:p>
            <a:pPr algn="l">
              <a:lnSpc>
                <a:spcPct val="112000"/>
              </a:lnSpc>
              <a:spcAft>
                <a:spcPts val="700"/>
              </a:spcAft>
            </a:pPr>
            <a:r>
              <a:rPr sz="1400" b="1" i="0">
                <a:solidFill>
                  <a:srgbClr val="E7CD7A"/>
                </a:solidFill>
                <a:latin typeface="Segoe UI"/>
              </a:rPr>
              <a:t>Lớp / MSSV: </a:t>
            </a:r>
            <a:r>
              <a:rPr sz="1400" b="0" i="0">
                <a:solidFill>
                  <a:srgbClr val="FDFBF7"/>
                </a:solidFill>
                <a:latin typeface="Segoe UI"/>
              </a:rPr>
              <a:t>[Lớp …]  ·  [MSSV …]</a:t>
            </a:r>
          </a:p>
          <a:p>
            <a:pPr algn="l">
              <a:lnSpc>
                <a:spcPct val="112000"/>
              </a:lnSpc>
              <a:spcAft>
                <a:spcPts val="700"/>
              </a:spcAft>
            </a:pPr>
            <a:r>
              <a:rPr sz="1400" b="1" i="0">
                <a:solidFill>
                  <a:srgbClr val="E7CD7A"/>
                </a:solidFill>
                <a:latin typeface="Segoe UI"/>
              </a:rPr>
              <a:t>Giảng viên: </a:t>
            </a:r>
            <a:r>
              <a:rPr sz="1400" b="0" i="0">
                <a:solidFill>
                  <a:srgbClr val="FDFBF7"/>
                </a:solidFill>
                <a:latin typeface="Segoe UI"/>
              </a:rPr>
              <a:t>[Giảng viên hướng dẫn …]</a:t>
            </a:r>
          </a:p>
        </p:txBody>
      </p:sp>
      <p:sp>
        <p:nvSpPr>
          <p:cNvPr id="12" name="TextBox 11"/>
          <p:cNvSpPr txBox="1"/>
          <p:nvPr/>
        </p:nvSpPr>
        <p:spPr>
          <a:xfrm>
            <a:off x="7315200" y="4297680"/>
            <a:ext cx="4023360" cy="1463040"/>
          </a:xfrm>
          <a:prstGeom prst="rect">
            <a:avLst/>
          </a:prstGeom>
          <a:noFill/>
        </p:spPr>
        <p:txBody>
          <a:bodyPr wrap="square" lIns="0" rIns="0" tIns="0" bIns="0" anchor="t">
            <a:spAutoFit/>
          </a:bodyPr>
          <a:lstStyle/>
          <a:p>
            <a:pPr algn="l">
              <a:lnSpc>
                <a:spcPct val="112000"/>
              </a:lnSpc>
              <a:spcAft>
                <a:spcPts val="600"/>
              </a:spcAft>
            </a:pPr>
            <a:r>
              <a:rPr sz="1200" b="0" i="0">
                <a:solidFill>
                  <a:srgbClr val="E7CD7A"/>
                </a:solidFill>
                <a:latin typeface="Segoe UI"/>
              </a:rPr>
              <a:t>Next.js 14 · React Three Fiber</a:t>
            </a:r>
          </a:p>
          <a:p>
            <a:pPr algn="l">
              <a:lnSpc>
                <a:spcPct val="112000"/>
              </a:lnSpc>
              <a:spcAft>
                <a:spcPts val="600"/>
              </a:spcAft>
            </a:pPr>
            <a:r>
              <a:rPr sz="1200" b="0" i="0">
                <a:solidFill>
                  <a:srgbClr val="E7CD7A"/>
                </a:solidFill>
                <a:latin typeface="Segoe UI"/>
              </a:rPr>
              <a:t>Framer Motion · Tailwind CSS</a:t>
            </a:r>
          </a:p>
          <a:p>
            <a:pPr algn="l">
              <a:lnSpc>
                <a:spcPct val="112000"/>
              </a:lnSpc>
              <a:spcAft>
                <a:spcPts val="600"/>
              </a:spcAft>
            </a:pPr>
            <a:r>
              <a:rPr sz="1200" b="0" i="0">
                <a:solidFill>
                  <a:srgbClr val="E7CD7A"/>
                </a:solidFill>
                <a:latin typeface="Segoe UI"/>
              </a:rPr>
              <a:t>13 mốc lịch sử · 3 bài học Gen Z</a:t>
            </a:r>
          </a:p>
          <a:p>
            <a:pPr algn="l">
              <a:lnSpc>
                <a:spcPct val="112000"/>
              </a:lnSpc>
              <a:spcAft>
                <a:spcPts val="600"/>
              </a:spcAft>
            </a:pPr>
            <a:r>
              <a:rPr sz="1200" b="0" i="0">
                <a:solidFill>
                  <a:srgbClr val="E7CD7A"/>
                </a:solidFill>
                <a:latin typeface="Segoe UI"/>
              </a:rPr>
              <a:t>5 tình huống · 4 trích dẫn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9144000" cy="274320"/>
          </a:xfrm>
          <a:prstGeom prst="rect">
            <a:avLst/>
          </a:prstGeom>
          <a:noFill/>
        </p:spPr>
        <p:txBody>
          <a:bodyPr wrap="square" lIns="0" rIns="0" tIns="0" bIns="0" anchor="t">
            <a:spAutoFit/>
          </a:bodyPr>
          <a:lstStyle/>
          <a:p>
            <a:pPr algn="l">
              <a:lnSpc>
                <a:spcPct val="112000"/>
              </a:lnSpc>
              <a:spcAft>
                <a:spcPts val="0"/>
              </a:spcAft>
            </a:pPr>
            <a:r>
              <a:rPr sz="1250" b="1" i="0">
                <a:solidFill>
                  <a:srgbClr val="A8232A"/>
                </a:solidFill>
                <a:latin typeface="Segoe UI"/>
              </a:rPr>
              <a:t>1 · VẤN ĐỀ ĐẶT RA</a:t>
            </a:r>
          </a:p>
        </p:txBody>
      </p:sp>
      <p:sp>
        <p:nvSpPr>
          <p:cNvPr id="4" name="TextBox 3"/>
          <p:cNvSpPr txBox="1"/>
          <p:nvPr/>
        </p:nvSpPr>
        <p:spPr>
          <a:xfrm>
            <a:off x="822960" y="868680"/>
            <a:ext cx="10424160" cy="822960"/>
          </a:xfrm>
          <a:prstGeom prst="rect">
            <a:avLst/>
          </a:prstGeom>
          <a:noFill/>
        </p:spPr>
        <p:txBody>
          <a:bodyPr wrap="square" lIns="0" rIns="0" tIns="0" bIns="0" anchor="t">
            <a:spAutoFit/>
          </a:bodyPr>
          <a:lstStyle/>
          <a:p>
            <a:pPr algn="l">
              <a:lnSpc>
                <a:spcPct val="112000"/>
              </a:lnSpc>
              <a:spcAft>
                <a:spcPts val="0"/>
              </a:spcAft>
            </a:pPr>
            <a:r>
              <a:rPr sz="3400" b="1" i="0">
                <a:solidFill>
                  <a:srgbClr val="1C1A17"/>
                </a:solidFill>
                <a:latin typeface="Georgia"/>
              </a:rPr>
              <a:t>Học để thi, hay học để dùng?</a:t>
            </a:r>
          </a:p>
        </p:txBody>
      </p:sp>
      <p:sp>
        <p:nvSpPr>
          <p:cNvPr id="5" name="Rectangle 4"/>
          <p:cNvSpPr/>
          <p:nvPr/>
        </p:nvSpPr>
        <p:spPr>
          <a:xfrm>
            <a:off x="822960" y="1481328"/>
            <a:ext cx="1005840" cy="41148"/>
          </a:xfrm>
          <a:prstGeom prst="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83080"/>
            <a:ext cx="6035040" cy="457200"/>
          </a:xfrm>
          <a:prstGeom prst="rect">
            <a:avLst/>
          </a:prstGeom>
          <a:noFill/>
        </p:spPr>
        <p:txBody>
          <a:bodyPr wrap="square" lIns="0" rIns="0" tIns="0" bIns="0" anchor="t">
            <a:spAutoFit/>
          </a:bodyPr>
          <a:lstStyle/>
          <a:p>
            <a:pPr algn="l">
              <a:lnSpc>
                <a:spcPct val="112000"/>
              </a:lnSpc>
              <a:spcAft>
                <a:spcPts val="0"/>
              </a:spcAft>
            </a:pPr>
            <a:r>
              <a:rPr sz="1400" b="0" i="0">
                <a:solidFill>
                  <a:srgbClr val="6B655E"/>
                </a:solidFill>
                <a:latin typeface="Segoe UI"/>
              </a:rPr>
              <a:t>Ba quan sát khiến em bắt tay làm sản phẩm này:</a:t>
            </a:r>
          </a:p>
        </p:txBody>
      </p:sp>
      <p:sp>
        <p:nvSpPr>
          <p:cNvPr id="7" name="Oval 6"/>
          <p:cNvSpPr/>
          <p:nvPr/>
        </p:nvSpPr>
        <p:spPr>
          <a:xfrm>
            <a:off x="822960" y="2391156"/>
            <a:ext cx="82296" cy="82296"/>
          </a:xfrm>
          <a:prstGeom prst="ellipse">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2286000"/>
            <a:ext cx="5596128" cy="548640"/>
          </a:xfrm>
          <a:prstGeom prst="rect">
            <a:avLst/>
          </a:prstGeom>
          <a:noFill/>
        </p:spPr>
        <p:txBody>
          <a:bodyPr wrap="square" lIns="0" rIns="0" tIns="0" bIns="0" anchor="t">
            <a:spAutoFit/>
          </a:bodyPr>
          <a:lstStyle/>
          <a:p>
            <a:pPr algn="l">
              <a:lnSpc>
                <a:spcPct val="112000"/>
              </a:lnSpc>
              <a:spcAft>
                <a:spcPts val="0"/>
              </a:spcAft>
            </a:pPr>
            <a:r>
              <a:rPr sz="1400" b="1" i="0">
                <a:solidFill>
                  <a:srgbClr val="1C1A17"/>
                </a:solidFill>
                <a:latin typeface="Segoe UI"/>
              </a:rPr>
              <a:t>Giáo trình 6 chương </a:t>
            </a:r>
            <a:r>
              <a:rPr sz="1400" b="0" i="0">
                <a:solidFill>
                  <a:srgbClr val="1C1A17"/>
                </a:solidFill>
                <a:latin typeface="Segoe UI"/>
              </a:rPr>
              <a:t>dày về khái niệm, hệ thống, lịch sử — cần thiết nhưng khó "chạm" vào đời sống hằng ngày của sinh viên.</a:t>
            </a:r>
          </a:p>
        </p:txBody>
      </p:sp>
      <p:sp>
        <p:nvSpPr>
          <p:cNvPr id="9" name="Oval 8"/>
          <p:cNvSpPr/>
          <p:nvPr/>
        </p:nvSpPr>
        <p:spPr>
          <a:xfrm>
            <a:off x="822960" y="3193145"/>
            <a:ext cx="82296" cy="82296"/>
          </a:xfrm>
          <a:prstGeom prst="ellipse">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8992" y="3087989"/>
            <a:ext cx="5596128" cy="548640"/>
          </a:xfrm>
          <a:prstGeom prst="rect">
            <a:avLst/>
          </a:prstGeom>
          <a:noFill/>
        </p:spPr>
        <p:txBody>
          <a:bodyPr wrap="square" lIns="0" rIns="0" tIns="0" bIns="0" anchor="t">
            <a:spAutoFit/>
          </a:bodyPr>
          <a:lstStyle/>
          <a:p>
            <a:pPr algn="l">
              <a:lnSpc>
                <a:spcPct val="112000"/>
              </a:lnSpc>
              <a:spcAft>
                <a:spcPts val="0"/>
              </a:spcAft>
            </a:pPr>
            <a:r>
              <a:rPr sz="1400" b="1" i="0">
                <a:solidFill>
                  <a:srgbClr val="1C1A17"/>
                </a:solidFill>
                <a:latin typeface="Segoe UI"/>
              </a:rPr>
              <a:t>Cách học phổ biến </a:t>
            </a:r>
            <a:r>
              <a:rPr sz="1400" b="0" i="0">
                <a:solidFill>
                  <a:srgbClr val="1C1A17"/>
                </a:solidFill>
                <a:latin typeface="Segoe UI"/>
              </a:rPr>
              <a:t>là học thuộc để làm bài kiểm tra, ít khi đặt câu hỏi "mình dùng tư tưởng này vào việc gì ngày mai?"</a:t>
            </a:r>
          </a:p>
        </p:txBody>
      </p:sp>
      <p:sp>
        <p:nvSpPr>
          <p:cNvPr id="11" name="Oval 10"/>
          <p:cNvSpPr/>
          <p:nvPr/>
        </p:nvSpPr>
        <p:spPr>
          <a:xfrm>
            <a:off x="822960" y="3995135"/>
            <a:ext cx="82296" cy="82296"/>
          </a:xfrm>
          <a:prstGeom prst="ellipse">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78992" y="3889979"/>
            <a:ext cx="5596128" cy="548640"/>
          </a:xfrm>
          <a:prstGeom prst="rect">
            <a:avLst/>
          </a:prstGeom>
          <a:noFill/>
        </p:spPr>
        <p:txBody>
          <a:bodyPr wrap="square" lIns="0" rIns="0" tIns="0" bIns="0" anchor="t">
            <a:spAutoFit/>
          </a:bodyPr>
          <a:lstStyle/>
          <a:p>
            <a:pPr algn="l">
              <a:lnSpc>
                <a:spcPct val="112000"/>
              </a:lnSpc>
              <a:spcAft>
                <a:spcPts val="0"/>
              </a:spcAft>
            </a:pPr>
            <a:r>
              <a:rPr sz="1400" b="1" i="0">
                <a:solidFill>
                  <a:srgbClr val="1C1A17"/>
                </a:solidFill>
                <a:latin typeface="Segoe UI"/>
              </a:rPr>
              <a:t>Thói quen tiếp nhận của Gen Z </a:t>
            </a:r>
            <a:r>
              <a:rPr sz="1400" b="0" i="0">
                <a:solidFill>
                  <a:srgbClr val="1C1A17"/>
                </a:solidFill>
                <a:latin typeface="Segoe UI"/>
              </a:rPr>
              <a:t>là trực quan, tương tác, có phản hồi ngay — không phải văn bản dài một chiều.</a:t>
            </a:r>
          </a:p>
        </p:txBody>
      </p:sp>
      <p:sp>
        <p:nvSpPr>
          <p:cNvPr id="13" name="Rounded Rectangle 12"/>
          <p:cNvSpPr/>
          <p:nvPr/>
        </p:nvSpPr>
        <p:spPr>
          <a:xfrm>
            <a:off x="7178040" y="1783080"/>
            <a:ext cx="4160520" cy="3977639"/>
          </a:xfrm>
          <a:prstGeom prst="roundRect">
            <a:avLst>
              <a:gd name="adj" fmla="val 4000"/>
            </a:avLst>
          </a:prstGeom>
          <a:solidFill>
            <a:srgbClr val="F4E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178040" y="1783080"/>
            <a:ext cx="4160520" cy="82296"/>
          </a:xfrm>
          <a:prstGeom prst="rect">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79" y="2057400"/>
            <a:ext cx="3566160" cy="365760"/>
          </a:xfrm>
          <a:prstGeom prst="rect">
            <a:avLst/>
          </a:prstGeom>
          <a:noFill/>
        </p:spPr>
        <p:txBody>
          <a:bodyPr wrap="square" lIns="0" rIns="0" tIns="0" bIns="0" anchor="t">
            <a:spAutoFit/>
          </a:bodyPr>
          <a:lstStyle/>
          <a:p>
            <a:pPr algn="l">
              <a:lnSpc>
                <a:spcPct val="112000"/>
              </a:lnSpc>
              <a:spcAft>
                <a:spcPts val="0"/>
              </a:spcAft>
            </a:pPr>
            <a:r>
              <a:rPr sz="1100" b="1" i="0">
                <a:solidFill>
                  <a:srgbClr val="8B0000"/>
                </a:solidFill>
                <a:latin typeface="Segoe UI"/>
              </a:rPr>
              <a:t>CÂU HỎI NGHIÊN CỨU</a:t>
            </a:r>
          </a:p>
        </p:txBody>
      </p:sp>
      <p:sp>
        <p:nvSpPr>
          <p:cNvPr id="16" name="TextBox 15"/>
          <p:cNvSpPr txBox="1"/>
          <p:nvPr/>
        </p:nvSpPr>
        <p:spPr>
          <a:xfrm>
            <a:off x="7498079" y="2468880"/>
            <a:ext cx="3566160" cy="2011680"/>
          </a:xfrm>
          <a:prstGeom prst="rect">
            <a:avLst/>
          </a:prstGeom>
          <a:noFill/>
        </p:spPr>
        <p:txBody>
          <a:bodyPr wrap="square" lIns="0" rIns="0" tIns="0" bIns="0" anchor="t">
            <a:spAutoFit/>
          </a:bodyPr>
          <a:lstStyle/>
          <a:p>
            <a:pPr algn="l">
              <a:lnSpc>
                <a:spcPct val="112000"/>
              </a:lnSpc>
              <a:spcAft>
                <a:spcPts val="0"/>
              </a:spcAft>
            </a:pPr>
            <a:r>
              <a:rPr sz="1500" b="0" i="0">
                <a:solidFill>
                  <a:srgbClr val="1C1A17"/>
                </a:solidFill>
                <a:latin typeface="Georgia"/>
              </a:rPr>
              <a:t>Làm thế nào để chuyển giá trị cốt lõi của tư tưởng Hồ Chí Minh thành một trải nghiệm mà người trẻ </a:t>
            </a:r>
            <a:r>
              <a:rPr sz="1500" b="1" i="0">
                <a:solidFill>
                  <a:srgbClr val="8B0000"/>
                </a:solidFill>
                <a:latin typeface="Georgia"/>
              </a:rPr>
              <a:t>chủ động khám phá</a:t>
            </a:r>
            <a:r>
              <a:rPr sz="1500" b="0" i="0">
                <a:solidFill>
                  <a:srgbClr val="1C1A17"/>
                </a:solidFill>
                <a:latin typeface="Georgia"/>
              </a:rPr>
              <a:t> thay vì bị động tiếp nhận?</a:t>
            </a:r>
          </a:p>
        </p:txBody>
      </p:sp>
      <p:sp>
        <p:nvSpPr>
          <p:cNvPr id="17" name="TextBox 16"/>
          <p:cNvSpPr txBox="1"/>
          <p:nvPr/>
        </p:nvSpPr>
        <p:spPr>
          <a:xfrm>
            <a:off x="7498079" y="4617720"/>
            <a:ext cx="3566160" cy="914400"/>
          </a:xfrm>
          <a:prstGeom prst="rect">
            <a:avLst/>
          </a:prstGeom>
          <a:noFill/>
        </p:spPr>
        <p:txBody>
          <a:bodyPr wrap="square" lIns="0" rIns="0" tIns="0" bIns="0" anchor="t">
            <a:spAutoFit/>
          </a:bodyPr>
          <a:lstStyle/>
          <a:p>
            <a:pPr algn="l">
              <a:lnSpc>
                <a:spcPct val="112000"/>
              </a:lnSpc>
              <a:spcAft>
                <a:spcPts val="0"/>
              </a:spcAft>
            </a:pPr>
            <a:r>
              <a:rPr sz="1250" b="0" i="1">
                <a:solidFill>
                  <a:srgbClr val="6B655E"/>
                </a:solidFill>
                <a:latin typeface="Segoe UI"/>
              </a:rPr>
              <a:t>Không thay giáo trình — mà làm một "lối vào" khác, dẫn người học quay lại giáo trình với câu hỏi rõ hơn.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9144000" cy="274320"/>
          </a:xfrm>
          <a:prstGeom prst="rect">
            <a:avLst/>
          </a:prstGeom>
          <a:noFill/>
        </p:spPr>
        <p:txBody>
          <a:bodyPr wrap="square" lIns="0" rIns="0" tIns="0" bIns="0" anchor="t">
            <a:spAutoFit/>
          </a:bodyPr>
          <a:lstStyle/>
          <a:p>
            <a:pPr algn="l">
              <a:lnSpc>
                <a:spcPct val="112000"/>
              </a:lnSpc>
              <a:spcAft>
                <a:spcPts val="0"/>
              </a:spcAft>
            </a:pPr>
            <a:r>
              <a:rPr sz="1250" b="1" i="0">
                <a:solidFill>
                  <a:srgbClr val="A8232A"/>
                </a:solidFill>
                <a:latin typeface="Segoe UI"/>
              </a:rPr>
              <a:t>2 · Ý TƯỞNG CHỦ ĐẠO</a:t>
            </a:r>
          </a:p>
        </p:txBody>
      </p:sp>
      <p:sp>
        <p:nvSpPr>
          <p:cNvPr id="4" name="TextBox 3"/>
          <p:cNvSpPr txBox="1"/>
          <p:nvPr/>
        </p:nvSpPr>
        <p:spPr>
          <a:xfrm>
            <a:off x="822960" y="868680"/>
            <a:ext cx="10424160" cy="822960"/>
          </a:xfrm>
          <a:prstGeom prst="rect">
            <a:avLst/>
          </a:prstGeom>
          <a:noFill/>
        </p:spPr>
        <p:txBody>
          <a:bodyPr wrap="square" lIns="0" rIns="0" tIns="0" bIns="0" anchor="t">
            <a:spAutoFit/>
          </a:bodyPr>
          <a:lstStyle/>
          <a:p>
            <a:pPr algn="l">
              <a:lnSpc>
                <a:spcPct val="112000"/>
              </a:lnSpc>
              <a:spcAft>
                <a:spcPts val="0"/>
              </a:spcAft>
            </a:pPr>
            <a:r>
              <a:rPr sz="3400" b="1" i="0">
                <a:solidFill>
                  <a:srgbClr val="1C1A17"/>
                </a:solidFill>
                <a:latin typeface="Georgia"/>
              </a:rPr>
              <a:t>"Kim chỉ nam cho thế hệ trẻ"</a:t>
            </a:r>
          </a:p>
        </p:txBody>
      </p:sp>
      <p:sp>
        <p:nvSpPr>
          <p:cNvPr id="5" name="Rectangle 4"/>
          <p:cNvSpPr/>
          <p:nvPr/>
        </p:nvSpPr>
        <p:spPr>
          <a:xfrm>
            <a:off x="822960" y="1481328"/>
            <a:ext cx="1005840" cy="41148"/>
          </a:xfrm>
          <a:prstGeom prst="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83080"/>
            <a:ext cx="10424160" cy="457200"/>
          </a:xfrm>
          <a:prstGeom prst="rect">
            <a:avLst/>
          </a:prstGeom>
          <a:noFill/>
        </p:spPr>
        <p:txBody>
          <a:bodyPr wrap="square" lIns="0" rIns="0" tIns="0" bIns="0" anchor="t">
            <a:spAutoFit/>
          </a:bodyPr>
          <a:lstStyle/>
          <a:p>
            <a:pPr algn="l">
              <a:lnSpc>
                <a:spcPct val="112000"/>
              </a:lnSpc>
              <a:spcAft>
                <a:spcPts val="0"/>
              </a:spcAft>
            </a:pPr>
            <a:r>
              <a:rPr sz="1300" b="0" i="0">
                <a:solidFill>
                  <a:srgbClr val="6B655E"/>
                </a:solidFill>
                <a:latin typeface="Segoe UI"/>
              </a:rPr>
              <a:t>Nguyên văn câu định vị trên trang chủ của website:</a:t>
            </a:r>
          </a:p>
        </p:txBody>
      </p:sp>
      <p:sp>
        <p:nvSpPr>
          <p:cNvPr id="7" name="Rounded Rectangle 6"/>
          <p:cNvSpPr/>
          <p:nvPr/>
        </p:nvSpPr>
        <p:spPr>
          <a:xfrm>
            <a:off x="822960" y="2240280"/>
            <a:ext cx="10543032" cy="1143000"/>
          </a:xfrm>
          <a:prstGeom prst="roundRect">
            <a:avLst>
              <a:gd name="adj" fmla="val 6000"/>
            </a:avLst>
          </a:prstGeom>
          <a:solidFill>
            <a:srgbClr val="F4E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2240280"/>
            <a:ext cx="82296" cy="1143000"/>
          </a:xfrm>
          <a:prstGeom prst="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487168"/>
            <a:ext cx="9966960" cy="822960"/>
          </a:xfrm>
          <a:prstGeom prst="rect">
            <a:avLst/>
          </a:prstGeom>
          <a:noFill/>
        </p:spPr>
        <p:txBody>
          <a:bodyPr wrap="square" lIns="0" rIns="0" tIns="0" bIns="0" anchor="t">
            <a:spAutoFit/>
          </a:bodyPr>
          <a:lstStyle/>
          <a:p>
            <a:pPr algn="l">
              <a:lnSpc>
                <a:spcPct val="112000"/>
              </a:lnSpc>
              <a:spcAft>
                <a:spcPts val="0"/>
              </a:spcAft>
            </a:pPr>
            <a:r>
              <a:rPr sz="1600" b="0" i="1">
                <a:solidFill>
                  <a:srgbClr val="1C1A17"/>
                </a:solidFill>
                <a:latin typeface="Georgia"/>
              </a:rPr>
              <a:t>"Không phải sáu chương giáo trình dàn trải — mà là những giá trị cốt lõi, được kể lại theo cách một người trẻ hôm nay có thể mang vào đời sống của mình."</a:t>
            </a:r>
          </a:p>
        </p:txBody>
      </p:sp>
      <p:sp>
        <p:nvSpPr>
          <p:cNvPr id="10" name="Rounded Rectangle 9"/>
          <p:cNvSpPr/>
          <p:nvPr/>
        </p:nvSpPr>
        <p:spPr>
          <a:xfrm>
            <a:off x="822960" y="3703320"/>
            <a:ext cx="3364992" cy="2286000"/>
          </a:xfrm>
          <a:prstGeom prst="roundRect">
            <a:avLst>
              <a:gd name="adj" fmla="val 5000"/>
            </a:avLst>
          </a:prstGeom>
          <a:solidFill>
            <a:srgbClr val="FDFBF7"/>
          </a:solidFill>
          <a:ln w="12700">
            <a:solidFill>
              <a:srgbClr val="E0D9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2960" y="3703320"/>
            <a:ext cx="3364992" cy="68580"/>
          </a:xfrm>
          <a:prstGeom prst="rect">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15568" y="3977639"/>
            <a:ext cx="2779776" cy="457200"/>
          </a:xfrm>
          <a:prstGeom prst="rect">
            <a:avLst/>
          </a:prstGeom>
          <a:noFill/>
        </p:spPr>
        <p:txBody>
          <a:bodyPr wrap="square" lIns="0" rIns="0" tIns="0" bIns="0" anchor="t">
            <a:spAutoFit/>
          </a:bodyPr>
          <a:lstStyle/>
          <a:p>
            <a:pPr algn="l">
              <a:lnSpc>
                <a:spcPct val="112000"/>
              </a:lnSpc>
              <a:spcAft>
                <a:spcPts val="0"/>
              </a:spcAft>
            </a:pPr>
            <a:r>
              <a:rPr sz="1300" b="1" i="0">
                <a:solidFill>
                  <a:srgbClr val="D4AF37"/>
                </a:solidFill>
                <a:latin typeface="Segoe UI"/>
              </a:rPr>
              <a:t>01</a:t>
            </a:r>
          </a:p>
        </p:txBody>
      </p:sp>
      <p:sp>
        <p:nvSpPr>
          <p:cNvPr id="13" name="TextBox 12"/>
          <p:cNvSpPr txBox="1"/>
          <p:nvPr/>
        </p:nvSpPr>
        <p:spPr>
          <a:xfrm>
            <a:off x="1115568" y="4315968"/>
            <a:ext cx="2779776" cy="640080"/>
          </a:xfrm>
          <a:prstGeom prst="rect">
            <a:avLst/>
          </a:prstGeom>
          <a:noFill/>
        </p:spPr>
        <p:txBody>
          <a:bodyPr wrap="square" lIns="0" rIns="0" tIns="0" bIns="0" anchor="t">
            <a:spAutoFit/>
          </a:bodyPr>
          <a:lstStyle/>
          <a:p>
            <a:pPr algn="l">
              <a:lnSpc>
                <a:spcPct val="112000"/>
              </a:lnSpc>
              <a:spcAft>
                <a:spcPts val="0"/>
              </a:spcAft>
            </a:pPr>
            <a:r>
              <a:rPr sz="1600" b="1" i="0">
                <a:solidFill>
                  <a:srgbClr val="1C1A17"/>
                </a:solidFill>
                <a:latin typeface="Georgia"/>
              </a:rPr>
              <a:t>Chọn lọc, không dàn trải</a:t>
            </a:r>
          </a:p>
        </p:txBody>
      </p:sp>
      <p:sp>
        <p:nvSpPr>
          <p:cNvPr id="14" name="TextBox 13"/>
          <p:cNvSpPr txBox="1"/>
          <p:nvPr/>
        </p:nvSpPr>
        <p:spPr>
          <a:xfrm>
            <a:off x="1115568" y="5029200"/>
            <a:ext cx="2779776" cy="914400"/>
          </a:xfrm>
          <a:prstGeom prst="rect">
            <a:avLst/>
          </a:prstGeom>
          <a:noFill/>
        </p:spPr>
        <p:txBody>
          <a:bodyPr wrap="square" lIns="0" rIns="0" tIns="0" bIns="0" anchor="t">
            <a:spAutoFit/>
          </a:bodyPr>
          <a:lstStyle/>
          <a:p>
            <a:pPr algn="l">
              <a:lnSpc>
                <a:spcPct val="112000"/>
              </a:lnSpc>
              <a:spcAft>
                <a:spcPts val="0"/>
              </a:spcAft>
            </a:pPr>
            <a:r>
              <a:rPr sz="1100" b="0" i="0">
                <a:solidFill>
                  <a:srgbClr val="6B655E"/>
                </a:solidFill>
                <a:latin typeface="Segoe UI"/>
              </a:rPr>
              <a:t>Không kể lại toàn bộ tiểu sử. Website chọn 13 mốc tiêu biểu, mỗi mốc rút thành một bài học có thể hành động.</a:t>
            </a:r>
          </a:p>
        </p:txBody>
      </p:sp>
      <p:sp>
        <p:nvSpPr>
          <p:cNvPr id="15" name="Rounded Rectangle 14"/>
          <p:cNvSpPr/>
          <p:nvPr/>
        </p:nvSpPr>
        <p:spPr>
          <a:xfrm>
            <a:off x="4407408" y="3703320"/>
            <a:ext cx="3364992" cy="2286000"/>
          </a:xfrm>
          <a:prstGeom prst="roundRect">
            <a:avLst>
              <a:gd name="adj" fmla="val 5000"/>
            </a:avLst>
          </a:prstGeom>
          <a:solidFill>
            <a:srgbClr val="FDFBF7"/>
          </a:solidFill>
          <a:ln w="12700">
            <a:solidFill>
              <a:srgbClr val="E0D9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07408" y="3703320"/>
            <a:ext cx="3364992" cy="68580"/>
          </a:xfrm>
          <a:prstGeom prst="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00016" y="3977639"/>
            <a:ext cx="2779776" cy="457200"/>
          </a:xfrm>
          <a:prstGeom prst="rect">
            <a:avLst/>
          </a:prstGeom>
          <a:noFill/>
        </p:spPr>
        <p:txBody>
          <a:bodyPr wrap="square" lIns="0" rIns="0" tIns="0" bIns="0" anchor="t">
            <a:spAutoFit/>
          </a:bodyPr>
          <a:lstStyle/>
          <a:p>
            <a:pPr algn="l">
              <a:lnSpc>
                <a:spcPct val="112000"/>
              </a:lnSpc>
              <a:spcAft>
                <a:spcPts val="0"/>
              </a:spcAft>
            </a:pPr>
            <a:r>
              <a:rPr sz="1300" b="1" i="0">
                <a:solidFill>
                  <a:srgbClr val="D4AF37"/>
                </a:solidFill>
                <a:latin typeface="Segoe UI"/>
              </a:rPr>
              <a:t>02</a:t>
            </a:r>
          </a:p>
        </p:txBody>
      </p:sp>
      <p:sp>
        <p:nvSpPr>
          <p:cNvPr id="18" name="TextBox 17"/>
          <p:cNvSpPr txBox="1"/>
          <p:nvPr/>
        </p:nvSpPr>
        <p:spPr>
          <a:xfrm>
            <a:off x="4700016" y="4315968"/>
            <a:ext cx="2779776" cy="640080"/>
          </a:xfrm>
          <a:prstGeom prst="rect">
            <a:avLst/>
          </a:prstGeom>
          <a:noFill/>
        </p:spPr>
        <p:txBody>
          <a:bodyPr wrap="square" lIns="0" rIns="0" tIns="0" bIns="0" anchor="t">
            <a:spAutoFit/>
          </a:bodyPr>
          <a:lstStyle/>
          <a:p>
            <a:pPr algn="l">
              <a:lnSpc>
                <a:spcPct val="112000"/>
              </a:lnSpc>
              <a:spcAft>
                <a:spcPts val="0"/>
              </a:spcAft>
            </a:pPr>
            <a:r>
              <a:rPr sz="1600" b="1" i="0">
                <a:solidFill>
                  <a:srgbClr val="1C1A17"/>
                </a:solidFill>
                <a:latin typeface="Georgia"/>
              </a:rPr>
              <a:t>Lịch sử → Bài học → Việc hôm nay</a:t>
            </a:r>
          </a:p>
        </p:txBody>
      </p:sp>
      <p:sp>
        <p:nvSpPr>
          <p:cNvPr id="19" name="TextBox 18"/>
          <p:cNvSpPr txBox="1"/>
          <p:nvPr/>
        </p:nvSpPr>
        <p:spPr>
          <a:xfrm>
            <a:off x="4700016" y="5029200"/>
            <a:ext cx="2779776" cy="914400"/>
          </a:xfrm>
          <a:prstGeom prst="rect">
            <a:avLst/>
          </a:prstGeom>
          <a:noFill/>
        </p:spPr>
        <p:txBody>
          <a:bodyPr wrap="square" lIns="0" rIns="0" tIns="0" bIns="0" anchor="t">
            <a:spAutoFit/>
          </a:bodyPr>
          <a:lstStyle/>
          <a:p>
            <a:pPr algn="l">
              <a:lnSpc>
                <a:spcPct val="112000"/>
              </a:lnSpc>
              <a:spcAft>
                <a:spcPts val="0"/>
              </a:spcAft>
            </a:pPr>
            <a:r>
              <a:rPr sz="1100" b="0" i="0">
                <a:solidFill>
                  <a:srgbClr val="6B655E"/>
                </a:solidFill>
                <a:latin typeface="Segoe UI"/>
              </a:rPr>
              <a:t>Mỗi mốc đều đi theo cùng một khung: Sự kiện → Vì sao quan trọng → Gợi ý hôm nay → Ghi chú tư liệu.</a:t>
            </a:r>
          </a:p>
        </p:txBody>
      </p:sp>
      <p:sp>
        <p:nvSpPr>
          <p:cNvPr id="20" name="Rounded Rectangle 19"/>
          <p:cNvSpPr/>
          <p:nvPr/>
        </p:nvSpPr>
        <p:spPr>
          <a:xfrm>
            <a:off x="7991856" y="3703320"/>
            <a:ext cx="3364992" cy="2286000"/>
          </a:xfrm>
          <a:prstGeom prst="roundRect">
            <a:avLst>
              <a:gd name="adj" fmla="val 5000"/>
            </a:avLst>
          </a:prstGeom>
          <a:solidFill>
            <a:srgbClr val="FDFBF7"/>
          </a:solidFill>
          <a:ln w="12700">
            <a:solidFill>
              <a:srgbClr val="E0D9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91856" y="3703320"/>
            <a:ext cx="3364992" cy="68580"/>
          </a:xfrm>
          <a:prstGeom prst="rect">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84464" y="3977639"/>
            <a:ext cx="2779776" cy="457200"/>
          </a:xfrm>
          <a:prstGeom prst="rect">
            <a:avLst/>
          </a:prstGeom>
          <a:noFill/>
        </p:spPr>
        <p:txBody>
          <a:bodyPr wrap="square" lIns="0" rIns="0" tIns="0" bIns="0" anchor="t">
            <a:spAutoFit/>
          </a:bodyPr>
          <a:lstStyle/>
          <a:p>
            <a:pPr algn="l">
              <a:lnSpc>
                <a:spcPct val="112000"/>
              </a:lnSpc>
              <a:spcAft>
                <a:spcPts val="0"/>
              </a:spcAft>
            </a:pPr>
            <a:r>
              <a:rPr sz="1300" b="1" i="0">
                <a:solidFill>
                  <a:srgbClr val="D4AF37"/>
                </a:solidFill>
                <a:latin typeface="Segoe UI"/>
              </a:rPr>
              <a:t>03</a:t>
            </a:r>
          </a:p>
        </p:txBody>
      </p:sp>
      <p:sp>
        <p:nvSpPr>
          <p:cNvPr id="23" name="TextBox 22"/>
          <p:cNvSpPr txBox="1"/>
          <p:nvPr/>
        </p:nvSpPr>
        <p:spPr>
          <a:xfrm>
            <a:off x="8284464" y="4315968"/>
            <a:ext cx="2779776" cy="640080"/>
          </a:xfrm>
          <a:prstGeom prst="rect">
            <a:avLst/>
          </a:prstGeom>
          <a:noFill/>
        </p:spPr>
        <p:txBody>
          <a:bodyPr wrap="square" lIns="0" rIns="0" tIns="0" bIns="0" anchor="t">
            <a:spAutoFit/>
          </a:bodyPr>
          <a:lstStyle/>
          <a:p>
            <a:pPr algn="l">
              <a:lnSpc>
                <a:spcPct val="112000"/>
              </a:lnSpc>
              <a:spcAft>
                <a:spcPts val="0"/>
              </a:spcAft>
            </a:pPr>
            <a:r>
              <a:rPr sz="1600" b="1" i="0">
                <a:solidFill>
                  <a:srgbClr val="1C1A17"/>
                </a:solidFill>
                <a:latin typeface="Georgia"/>
              </a:rPr>
              <a:t>Tư tưởng là để thực hành</a:t>
            </a:r>
          </a:p>
        </p:txBody>
      </p:sp>
      <p:sp>
        <p:nvSpPr>
          <p:cNvPr id="24" name="TextBox 23"/>
          <p:cNvSpPr txBox="1"/>
          <p:nvPr/>
        </p:nvSpPr>
        <p:spPr>
          <a:xfrm>
            <a:off x="8284464" y="5029200"/>
            <a:ext cx="2779776" cy="914400"/>
          </a:xfrm>
          <a:prstGeom prst="rect">
            <a:avLst/>
          </a:prstGeom>
          <a:noFill/>
        </p:spPr>
        <p:txBody>
          <a:bodyPr wrap="square" lIns="0" rIns="0" tIns="0" bIns="0" anchor="t">
            <a:spAutoFit/>
          </a:bodyPr>
          <a:lstStyle/>
          <a:p>
            <a:pPr algn="l">
              <a:lnSpc>
                <a:spcPct val="112000"/>
              </a:lnSpc>
              <a:spcAft>
                <a:spcPts val="0"/>
              </a:spcAft>
            </a:pPr>
            <a:r>
              <a:rPr sz="1100" b="0" i="0">
                <a:solidFill>
                  <a:srgbClr val="6B655E"/>
                </a:solidFill>
                <a:latin typeface="Segoe UI"/>
              </a:rPr>
              <a:t>Phần kết không phải danh ngôn để ngắm, mà là câu hỏi tình huống buộc người học phải chọn và chịu trách nhiệm với lựa chọn.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9144000" cy="274320"/>
          </a:xfrm>
          <a:prstGeom prst="rect">
            <a:avLst/>
          </a:prstGeom>
          <a:noFill/>
        </p:spPr>
        <p:txBody>
          <a:bodyPr wrap="square" lIns="0" rIns="0" tIns="0" bIns="0" anchor="t">
            <a:spAutoFit/>
          </a:bodyPr>
          <a:lstStyle/>
          <a:p>
            <a:pPr algn="l">
              <a:lnSpc>
                <a:spcPct val="112000"/>
              </a:lnSpc>
              <a:spcAft>
                <a:spcPts val="0"/>
              </a:spcAft>
            </a:pPr>
            <a:r>
              <a:rPr sz="1250" b="1" i="0">
                <a:solidFill>
                  <a:srgbClr val="D4AF37"/>
                </a:solidFill>
                <a:latin typeface="Segoe UI"/>
              </a:rPr>
              <a:t>3 · KIẾN TRÚC NỘI DUNG</a:t>
            </a:r>
          </a:p>
        </p:txBody>
      </p:sp>
      <p:sp>
        <p:nvSpPr>
          <p:cNvPr id="4" name="TextBox 3"/>
          <p:cNvSpPr txBox="1"/>
          <p:nvPr/>
        </p:nvSpPr>
        <p:spPr>
          <a:xfrm>
            <a:off x="822960" y="868680"/>
            <a:ext cx="10424160" cy="822960"/>
          </a:xfrm>
          <a:prstGeom prst="rect">
            <a:avLst/>
          </a:prstGeom>
          <a:noFill/>
        </p:spPr>
        <p:txBody>
          <a:bodyPr wrap="square" lIns="0" rIns="0" tIns="0" bIns="0" anchor="t">
            <a:spAutoFit/>
          </a:bodyPr>
          <a:lstStyle/>
          <a:p>
            <a:pPr algn="l">
              <a:lnSpc>
                <a:spcPct val="112000"/>
              </a:lnSpc>
              <a:spcAft>
                <a:spcPts val="0"/>
              </a:spcAft>
            </a:pPr>
            <a:r>
              <a:rPr sz="3200" b="1" i="0">
                <a:solidFill>
                  <a:srgbClr val="FDFBF7"/>
                </a:solidFill>
                <a:latin typeface="Georgia"/>
              </a:rPr>
              <a:t>Một trang duy nhất, bốn "trạm" trải nghiệm</a:t>
            </a:r>
          </a:p>
        </p:txBody>
      </p:sp>
      <p:sp>
        <p:nvSpPr>
          <p:cNvPr id="5" name="Rectangle 4"/>
          <p:cNvSpPr/>
          <p:nvPr/>
        </p:nvSpPr>
        <p:spPr>
          <a:xfrm>
            <a:off x="822960" y="1481328"/>
            <a:ext cx="1005840" cy="41148"/>
          </a:xfrm>
          <a:prstGeom prst="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83080"/>
            <a:ext cx="10424160" cy="365760"/>
          </a:xfrm>
          <a:prstGeom prst="rect">
            <a:avLst/>
          </a:prstGeom>
          <a:noFill/>
        </p:spPr>
        <p:txBody>
          <a:bodyPr wrap="square" lIns="0" rIns="0" tIns="0" bIns="0" anchor="t">
            <a:spAutoFit/>
          </a:bodyPr>
          <a:lstStyle/>
          <a:p>
            <a:pPr algn="l">
              <a:lnSpc>
                <a:spcPct val="112000"/>
              </a:lnSpc>
              <a:spcAft>
                <a:spcPts val="0"/>
              </a:spcAft>
            </a:pPr>
            <a:r>
              <a:rPr sz="1350" b="0" i="0">
                <a:solidFill>
                  <a:srgbClr val="BFB8AE"/>
                </a:solidFill>
                <a:latin typeface="Segoe UI"/>
              </a:rPr>
              <a:t>Single-page: người học đi một mạch từ cảm xúc → tri thức → vận dụng → chiêm nghiệm.</a:t>
            </a:r>
          </a:p>
        </p:txBody>
      </p:sp>
      <p:sp>
        <p:nvSpPr>
          <p:cNvPr id="7" name="Rounded Rectangle 6"/>
          <p:cNvSpPr/>
          <p:nvPr/>
        </p:nvSpPr>
        <p:spPr>
          <a:xfrm>
            <a:off x="822960" y="2423160"/>
            <a:ext cx="2578608" cy="2651760"/>
          </a:xfrm>
          <a:prstGeom prst="roundRect">
            <a:avLst>
              <a:gd name="adj" fmla="val 6000"/>
            </a:avLst>
          </a:prstGeom>
          <a:solidFill>
            <a:srgbClr val="2B27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2423160"/>
            <a:ext cx="2578608" cy="73152"/>
          </a:xfrm>
          <a:prstGeom prst="rect">
            <a:avLst/>
          </a:prstGeom>
          <a:solidFill>
            <a:srgbClr val="A823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15568" y="2743200"/>
            <a:ext cx="457200" cy="457200"/>
          </a:xfrm>
          <a:prstGeom prst="ellipse">
            <a:avLst/>
          </a:prstGeom>
          <a:solidFill>
            <a:srgbClr val="A823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15568" y="2816352"/>
            <a:ext cx="457200" cy="310896"/>
          </a:xfrm>
          <a:prstGeom prst="rect">
            <a:avLst/>
          </a:prstGeom>
          <a:noFill/>
        </p:spPr>
        <p:txBody>
          <a:bodyPr wrap="square" lIns="0" rIns="0" tIns="0" bIns="0" anchor="t">
            <a:spAutoFit/>
          </a:bodyPr>
          <a:lstStyle/>
          <a:p>
            <a:pPr algn="ctr">
              <a:lnSpc>
                <a:spcPct val="112000"/>
              </a:lnSpc>
              <a:spcAft>
                <a:spcPts val="0"/>
              </a:spcAft>
            </a:pPr>
            <a:r>
              <a:rPr sz="1400" b="1" i="0">
                <a:solidFill>
                  <a:srgbClr val="FDFBF7"/>
                </a:solidFill>
                <a:latin typeface="Segoe UI"/>
              </a:rPr>
              <a:t>1</a:t>
            </a:r>
          </a:p>
        </p:txBody>
      </p:sp>
      <p:sp>
        <p:nvSpPr>
          <p:cNvPr id="11" name="TextBox 10"/>
          <p:cNvSpPr txBox="1"/>
          <p:nvPr/>
        </p:nvSpPr>
        <p:spPr>
          <a:xfrm>
            <a:off x="1115568" y="3401568"/>
            <a:ext cx="1993391" cy="320040"/>
          </a:xfrm>
          <a:prstGeom prst="rect">
            <a:avLst/>
          </a:prstGeom>
          <a:noFill/>
        </p:spPr>
        <p:txBody>
          <a:bodyPr wrap="square" lIns="0" rIns="0" tIns="0" bIns="0" anchor="t">
            <a:spAutoFit/>
          </a:bodyPr>
          <a:lstStyle/>
          <a:p>
            <a:pPr algn="l">
              <a:lnSpc>
                <a:spcPct val="112000"/>
              </a:lnSpc>
              <a:spcAft>
                <a:spcPts val="0"/>
              </a:spcAft>
            </a:pPr>
            <a:r>
              <a:rPr sz="1100" b="1" i="0">
                <a:solidFill>
                  <a:srgbClr val="D4AF37"/>
                </a:solidFill>
                <a:latin typeface="Segoe UI"/>
              </a:rPr>
              <a:t>HÀNH TRÌNH</a:t>
            </a:r>
          </a:p>
        </p:txBody>
      </p:sp>
      <p:sp>
        <p:nvSpPr>
          <p:cNvPr id="12" name="TextBox 11"/>
          <p:cNvSpPr txBox="1"/>
          <p:nvPr/>
        </p:nvSpPr>
        <p:spPr>
          <a:xfrm>
            <a:off x="1115568" y="3749039"/>
            <a:ext cx="1993391" cy="914400"/>
          </a:xfrm>
          <a:prstGeom prst="rect">
            <a:avLst/>
          </a:prstGeom>
          <a:noFill/>
        </p:spPr>
        <p:txBody>
          <a:bodyPr wrap="square" lIns="0" rIns="0" tIns="0" bIns="0" anchor="t">
            <a:spAutoFit/>
          </a:bodyPr>
          <a:lstStyle/>
          <a:p>
            <a:pPr algn="l">
              <a:lnSpc>
                <a:spcPct val="112000"/>
              </a:lnSpc>
              <a:spcAft>
                <a:spcPts val="0"/>
              </a:spcAft>
            </a:pPr>
            <a:r>
              <a:rPr sz="1550" b="1" i="0">
                <a:solidFill>
                  <a:srgbClr val="FDFBF7"/>
                </a:solidFill>
                <a:latin typeface="Georgia"/>
              </a:rPr>
              <a:t>Quả địa cầu 3D + 13 mốc lịch sử 1890–1990</a:t>
            </a:r>
          </a:p>
        </p:txBody>
      </p:sp>
      <p:sp>
        <p:nvSpPr>
          <p:cNvPr id="13" name="TextBox 12"/>
          <p:cNvSpPr txBox="1"/>
          <p:nvPr/>
        </p:nvSpPr>
        <p:spPr>
          <a:xfrm>
            <a:off x="1115568" y="4663440"/>
            <a:ext cx="1993391" cy="365760"/>
          </a:xfrm>
          <a:prstGeom prst="rect">
            <a:avLst/>
          </a:prstGeom>
          <a:noFill/>
        </p:spPr>
        <p:txBody>
          <a:bodyPr wrap="square" lIns="0" rIns="0" tIns="0" bIns="0" anchor="t">
            <a:spAutoFit/>
          </a:bodyPr>
          <a:lstStyle/>
          <a:p>
            <a:pPr algn="l">
              <a:lnSpc>
                <a:spcPct val="112000"/>
              </a:lnSpc>
              <a:spcAft>
                <a:spcPts val="0"/>
              </a:spcAft>
            </a:pPr>
            <a:r>
              <a:rPr sz="1150" b="0" i="1">
                <a:solidFill>
                  <a:srgbClr val="A9A298"/>
                </a:solidFill>
                <a:latin typeface="Segoe UI"/>
              </a:rPr>
              <a:t>Cảm xúc &amp; bối cảnh</a:t>
            </a:r>
          </a:p>
        </p:txBody>
      </p:sp>
      <p:sp>
        <p:nvSpPr>
          <p:cNvPr id="14" name="Right Arrow 13"/>
          <p:cNvSpPr/>
          <p:nvPr/>
        </p:nvSpPr>
        <p:spPr>
          <a:xfrm>
            <a:off x="3415284" y="3520440"/>
            <a:ext cx="192024" cy="219456"/>
          </a:xfrm>
          <a:prstGeom prst="rightArrow">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21023" y="2423160"/>
            <a:ext cx="2578608" cy="2651760"/>
          </a:xfrm>
          <a:prstGeom prst="roundRect">
            <a:avLst>
              <a:gd name="adj" fmla="val 6000"/>
            </a:avLst>
          </a:prstGeom>
          <a:solidFill>
            <a:srgbClr val="2B27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21023" y="2423160"/>
            <a:ext cx="2578608" cy="73152"/>
          </a:xfrm>
          <a:prstGeom prst="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913631" y="2743200"/>
            <a:ext cx="457200" cy="457200"/>
          </a:xfrm>
          <a:prstGeom prst="ellipse">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13631" y="2816352"/>
            <a:ext cx="457200" cy="310896"/>
          </a:xfrm>
          <a:prstGeom prst="rect">
            <a:avLst/>
          </a:prstGeom>
          <a:noFill/>
        </p:spPr>
        <p:txBody>
          <a:bodyPr wrap="square" lIns="0" rIns="0" tIns="0" bIns="0" anchor="t">
            <a:spAutoFit/>
          </a:bodyPr>
          <a:lstStyle/>
          <a:p>
            <a:pPr algn="ctr">
              <a:lnSpc>
                <a:spcPct val="112000"/>
              </a:lnSpc>
              <a:spcAft>
                <a:spcPts val="0"/>
              </a:spcAft>
            </a:pPr>
            <a:r>
              <a:rPr sz="1400" b="1" i="0">
                <a:solidFill>
                  <a:srgbClr val="1C1A17"/>
                </a:solidFill>
                <a:latin typeface="Segoe UI"/>
              </a:rPr>
              <a:t>2</a:t>
            </a:r>
          </a:p>
        </p:txBody>
      </p:sp>
      <p:sp>
        <p:nvSpPr>
          <p:cNvPr id="19" name="TextBox 18"/>
          <p:cNvSpPr txBox="1"/>
          <p:nvPr/>
        </p:nvSpPr>
        <p:spPr>
          <a:xfrm>
            <a:off x="3913631" y="3401568"/>
            <a:ext cx="1993391" cy="320040"/>
          </a:xfrm>
          <a:prstGeom prst="rect">
            <a:avLst/>
          </a:prstGeom>
          <a:noFill/>
        </p:spPr>
        <p:txBody>
          <a:bodyPr wrap="square" lIns="0" rIns="0" tIns="0" bIns="0" anchor="t">
            <a:spAutoFit/>
          </a:bodyPr>
          <a:lstStyle/>
          <a:p>
            <a:pPr algn="l">
              <a:lnSpc>
                <a:spcPct val="112000"/>
              </a:lnSpc>
              <a:spcAft>
                <a:spcPts val="0"/>
              </a:spcAft>
            </a:pPr>
            <a:r>
              <a:rPr sz="1100" b="1" i="0">
                <a:solidFill>
                  <a:srgbClr val="D4AF37"/>
                </a:solidFill>
                <a:latin typeface="Segoe UI"/>
              </a:rPr>
              <a:t>GÓC GEN Z</a:t>
            </a:r>
          </a:p>
        </p:txBody>
      </p:sp>
      <p:sp>
        <p:nvSpPr>
          <p:cNvPr id="20" name="TextBox 19"/>
          <p:cNvSpPr txBox="1"/>
          <p:nvPr/>
        </p:nvSpPr>
        <p:spPr>
          <a:xfrm>
            <a:off x="3913631" y="3749039"/>
            <a:ext cx="1993391" cy="914400"/>
          </a:xfrm>
          <a:prstGeom prst="rect">
            <a:avLst/>
          </a:prstGeom>
          <a:noFill/>
        </p:spPr>
        <p:txBody>
          <a:bodyPr wrap="square" lIns="0" rIns="0" tIns="0" bIns="0" anchor="t">
            <a:spAutoFit/>
          </a:bodyPr>
          <a:lstStyle/>
          <a:p>
            <a:pPr algn="l">
              <a:lnSpc>
                <a:spcPct val="112000"/>
              </a:lnSpc>
              <a:spcAft>
                <a:spcPts val="0"/>
              </a:spcAft>
            </a:pPr>
            <a:r>
              <a:rPr sz="1550" b="1" i="0">
                <a:solidFill>
                  <a:srgbClr val="FDFBF7"/>
                </a:solidFill>
                <a:latin typeface="Georgia"/>
              </a:rPr>
              <a:t>3 thẻ bài học: tư tưởng → thói quen</a:t>
            </a:r>
          </a:p>
        </p:txBody>
      </p:sp>
      <p:sp>
        <p:nvSpPr>
          <p:cNvPr id="21" name="TextBox 20"/>
          <p:cNvSpPr txBox="1"/>
          <p:nvPr/>
        </p:nvSpPr>
        <p:spPr>
          <a:xfrm>
            <a:off x="3913631" y="4663440"/>
            <a:ext cx="1993391" cy="365760"/>
          </a:xfrm>
          <a:prstGeom prst="rect">
            <a:avLst/>
          </a:prstGeom>
          <a:noFill/>
        </p:spPr>
        <p:txBody>
          <a:bodyPr wrap="square" lIns="0" rIns="0" tIns="0" bIns="0" anchor="t">
            <a:spAutoFit/>
          </a:bodyPr>
          <a:lstStyle/>
          <a:p>
            <a:pPr algn="l">
              <a:lnSpc>
                <a:spcPct val="112000"/>
              </a:lnSpc>
              <a:spcAft>
                <a:spcPts val="0"/>
              </a:spcAft>
            </a:pPr>
            <a:r>
              <a:rPr sz="1150" b="0" i="1">
                <a:solidFill>
                  <a:srgbClr val="A9A298"/>
                </a:solidFill>
                <a:latin typeface="Segoe UI"/>
              </a:rPr>
              <a:t>Tri thức vận dụng</a:t>
            </a:r>
          </a:p>
        </p:txBody>
      </p:sp>
      <p:sp>
        <p:nvSpPr>
          <p:cNvPr id="22" name="Right Arrow 21"/>
          <p:cNvSpPr/>
          <p:nvPr/>
        </p:nvSpPr>
        <p:spPr>
          <a:xfrm>
            <a:off x="6213347" y="3520440"/>
            <a:ext cx="192024" cy="219456"/>
          </a:xfrm>
          <a:prstGeom prst="rightArrow">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419088" y="2423160"/>
            <a:ext cx="2578608" cy="2651760"/>
          </a:xfrm>
          <a:prstGeom prst="roundRect">
            <a:avLst>
              <a:gd name="adj" fmla="val 6000"/>
            </a:avLst>
          </a:prstGeom>
          <a:solidFill>
            <a:srgbClr val="2B27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19088" y="2423160"/>
            <a:ext cx="2578608" cy="73152"/>
          </a:xfrm>
          <a:prstGeom prst="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711696" y="2743200"/>
            <a:ext cx="457200" cy="457200"/>
          </a:xfrm>
          <a:prstGeom prst="ellipse">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11696" y="2816352"/>
            <a:ext cx="457200" cy="310896"/>
          </a:xfrm>
          <a:prstGeom prst="rect">
            <a:avLst/>
          </a:prstGeom>
          <a:noFill/>
        </p:spPr>
        <p:txBody>
          <a:bodyPr wrap="square" lIns="0" rIns="0" tIns="0" bIns="0" anchor="t">
            <a:spAutoFit/>
          </a:bodyPr>
          <a:lstStyle/>
          <a:p>
            <a:pPr algn="ctr">
              <a:lnSpc>
                <a:spcPct val="112000"/>
              </a:lnSpc>
              <a:spcAft>
                <a:spcPts val="0"/>
              </a:spcAft>
            </a:pPr>
            <a:r>
              <a:rPr sz="1400" b="1" i="0">
                <a:solidFill>
                  <a:srgbClr val="1C1A17"/>
                </a:solidFill>
                <a:latin typeface="Segoe UI"/>
              </a:rPr>
              <a:t>3</a:t>
            </a:r>
          </a:p>
        </p:txBody>
      </p:sp>
      <p:sp>
        <p:nvSpPr>
          <p:cNvPr id="27" name="TextBox 26"/>
          <p:cNvSpPr txBox="1"/>
          <p:nvPr/>
        </p:nvSpPr>
        <p:spPr>
          <a:xfrm>
            <a:off x="6711696" y="3401568"/>
            <a:ext cx="1993391" cy="320040"/>
          </a:xfrm>
          <a:prstGeom prst="rect">
            <a:avLst/>
          </a:prstGeom>
          <a:noFill/>
        </p:spPr>
        <p:txBody>
          <a:bodyPr wrap="square" lIns="0" rIns="0" tIns="0" bIns="0" anchor="t">
            <a:spAutoFit/>
          </a:bodyPr>
          <a:lstStyle/>
          <a:p>
            <a:pPr algn="l">
              <a:lnSpc>
                <a:spcPct val="112000"/>
              </a:lnSpc>
              <a:spcAft>
                <a:spcPts val="0"/>
              </a:spcAft>
            </a:pPr>
            <a:r>
              <a:rPr sz="1100" b="1" i="0">
                <a:solidFill>
                  <a:srgbClr val="D4AF37"/>
                </a:solidFill>
                <a:latin typeface="Segoe UI"/>
              </a:rPr>
              <a:t>TRẠM THÁCH THỨC</a:t>
            </a:r>
          </a:p>
        </p:txBody>
      </p:sp>
      <p:sp>
        <p:nvSpPr>
          <p:cNvPr id="28" name="TextBox 27"/>
          <p:cNvSpPr txBox="1"/>
          <p:nvPr/>
        </p:nvSpPr>
        <p:spPr>
          <a:xfrm>
            <a:off x="6711696" y="3749039"/>
            <a:ext cx="1993391" cy="914400"/>
          </a:xfrm>
          <a:prstGeom prst="rect">
            <a:avLst/>
          </a:prstGeom>
          <a:noFill/>
        </p:spPr>
        <p:txBody>
          <a:bodyPr wrap="square" lIns="0" rIns="0" tIns="0" bIns="0" anchor="t">
            <a:spAutoFit/>
          </a:bodyPr>
          <a:lstStyle/>
          <a:p>
            <a:pPr algn="l">
              <a:lnSpc>
                <a:spcPct val="112000"/>
              </a:lnSpc>
              <a:spcAft>
                <a:spcPts val="0"/>
              </a:spcAft>
            </a:pPr>
            <a:r>
              <a:rPr sz="1550" b="1" i="0">
                <a:solidFill>
                  <a:srgbClr val="FDFBF7"/>
                </a:solidFill>
                <a:latin typeface="Georgia"/>
              </a:rPr>
              <a:t>Quiz 5 tình huống có giải thích</a:t>
            </a:r>
          </a:p>
        </p:txBody>
      </p:sp>
      <p:sp>
        <p:nvSpPr>
          <p:cNvPr id="29" name="TextBox 28"/>
          <p:cNvSpPr txBox="1"/>
          <p:nvPr/>
        </p:nvSpPr>
        <p:spPr>
          <a:xfrm>
            <a:off x="6711696" y="4663440"/>
            <a:ext cx="1993391" cy="365760"/>
          </a:xfrm>
          <a:prstGeom prst="rect">
            <a:avLst/>
          </a:prstGeom>
          <a:noFill/>
        </p:spPr>
        <p:txBody>
          <a:bodyPr wrap="square" lIns="0" rIns="0" tIns="0" bIns="0" anchor="t">
            <a:spAutoFit/>
          </a:bodyPr>
          <a:lstStyle/>
          <a:p>
            <a:pPr algn="l">
              <a:lnSpc>
                <a:spcPct val="112000"/>
              </a:lnSpc>
              <a:spcAft>
                <a:spcPts val="0"/>
              </a:spcAft>
            </a:pPr>
            <a:r>
              <a:rPr sz="1150" b="0" i="1">
                <a:solidFill>
                  <a:srgbClr val="A9A298"/>
                </a:solidFill>
                <a:latin typeface="Segoe UI"/>
              </a:rPr>
              <a:t>Ra quyết định</a:t>
            </a:r>
          </a:p>
        </p:txBody>
      </p:sp>
      <p:sp>
        <p:nvSpPr>
          <p:cNvPr id="30" name="Right Arrow 29"/>
          <p:cNvSpPr/>
          <p:nvPr/>
        </p:nvSpPr>
        <p:spPr>
          <a:xfrm>
            <a:off x="9011412" y="3520440"/>
            <a:ext cx="192024" cy="219456"/>
          </a:xfrm>
          <a:prstGeom prst="rightArrow">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217152" y="2423160"/>
            <a:ext cx="2578608" cy="2651760"/>
          </a:xfrm>
          <a:prstGeom prst="roundRect">
            <a:avLst>
              <a:gd name="adj" fmla="val 6000"/>
            </a:avLst>
          </a:prstGeom>
          <a:solidFill>
            <a:srgbClr val="2B27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217152" y="2423160"/>
            <a:ext cx="2578608" cy="73152"/>
          </a:xfrm>
          <a:prstGeom prst="rect">
            <a:avLst/>
          </a:prstGeom>
          <a:solidFill>
            <a:srgbClr val="A823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509760" y="2743200"/>
            <a:ext cx="457200" cy="457200"/>
          </a:xfrm>
          <a:prstGeom prst="ellipse">
            <a:avLst/>
          </a:prstGeom>
          <a:solidFill>
            <a:srgbClr val="A823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509760" y="2816352"/>
            <a:ext cx="457200" cy="310896"/>
          </a:xfrm>
          <a:prstGeom prst="rect">
            <a:avLst/>
          </a:prstGeom>
          <a:noFill/>
        </p:spPr>
        <p:txBody>
          <a:bodyPr wrap="square" lIns="0" rIns="0" tIns="0" bIns="0" anchor="t">
            <a:spAutoFit/>
          </a:bodyPr>
          <a:lstStyle/>
          <a:p>
            <a:pPr algn="ctr">
              <a:lnSpc>
                <a:spcPct val="112000"/>
              </a:lnSpc>
              <a:spcAft>
                <a:spcPts val="0"/>
              </a:spcAft>
            </a:pPr>
            <a:r>
              <a:rPr sz="1400" b="1" i="0">
                <a:solidFill>
                  <a:srgbClr val="FDFBF7"/>
                </a:solidFill>
                <a:latin typeface="Segoe UI"/>
              </a:rPr>
              <a:t>4</a:t>
            </a:r>
          </a:p>
        </p:txBody>
      </p:sp>
      <p:sp>
        <p:nvSpPr>
          <p:cNvPr id="35" name="TextBox 34"/>
          <p:cNvSpPr txBox="1"/>
          <p:nvPr/>
        </p:nvSpPr>
        <p:spPr>
          <a:xfrm>
            <a:off x="9509760" y="3401568"/>
            <a:ext cx="1993391" cy="320040"/>
          </a:xfrm>
          <a:prstGeom prst="rect">
            <a:avLst/>
          </a:prstGeom>
          <a:noFill/>
        </p:spPr>
        <p:txBody>
          <a:bodyPr wrap="square" lIns="0" rIns="0" tIns="0" bIns="0" anchor="t">
            <a:spAutoFit/>
          </a:bodyPr>
          <a:lstStyle/>
          <a:p>
            <a:pPr algn="l">
              <a:lnSpc>
                <a:spcPct val="112000"/>
              </a:lnSpc>
              <a:spcAft>
                <a:spcPts val="0"/>
              </a:spcAft>
            </a:pPr>
            <a:r>
              <a:rPr sz="1100" b="1" i="0">
                <a:solidFill>
                  <a:srgbClr val="D4AF37"/>
                </a:solidFill>
                <a:latin typeface="Segoe UI"/>
              </a:rPr>
              <a:t>TRÍCH DẪN</a:t>
            </a:r>
          </a:p>
        </p:txBody>
      </p:sp>
      <p:sp>
        <p:nvSpPr>
          <p:cNvPr id="36" name="TextBox 35"/>
          <p:cNvSpPr txBox="1"/>
          <p:nvPr/>
        </p:nvSpPr>
        <p:spPr>
          <a:xfrm>
            <a:off x="9509760" y="3749039"/>
            <a:ext cx="1993391" cy="914400"/>
          </a:xfrm>
          <a:prstGeom prst="rect">
            <a:avLst/>
          </a:prstGeom>
          <a:noFill/>
        </p:spPr>
        <p:txBody>
          <a:bodyPr wrap="square" lIns="0" rIns="0" tIns="0" bIns="0" anchor="t">
            <a:spAutoFit/>
          </a:bodyPr>
          <a:lstStyle/>
          <a:p>
            <a:pPr algn="l">
              <a:lnSpc>
                <a:spcPct val="112000"/>
              </a:lnSpc>
              <a:spcAft>
                <a:spcPts val="0"/>
              </a:spcAft>
            </a:pPr>
            <a:r>
              <a:rPr sz="1550" b="1" i="0">
                <a:solidFill>
                  <a:srgbClr val="FDFBF7"/>
                </a:solidFill>
                <a:latin typeface="Georgia"/>
              </a:rPr>
              <a:t>4 thẻ lật 3D, kèm nguồn &amp; bài học</a:t>
            </a:r>
          </a:p>
        </p:txBody>
      </p:sp>
      <p:sp>
        <p:nvSpPr>
          <p:cNvPr id="37" name="TextBox 36"/>
          <p:cNvSpPr txBox="1"/>
          <p:nvPr/>
        </p:nvSpPr>
        <p:spPr>
          <a:xfrm>
            <a:off x="9509760" y="4663440"/>
            <a:ext cx="1993391" cy="365760"/>
          </a:xfrm>
          <a:prstGeom prst="rect">
            <a:avLst/>
          </a:prstGeom>
          <a:noFill/>
        </p:spPr>
        <p:txBody>
          <a:bodyPr wrap="square" lIns="0" rIns="0" tIns="0" bIns="0" anchor="t">
            <a:spAutoFit/>
          </a:bodyPr>
          <a:lstStyle/>
          <a:p>
            <a:pPr algn="l">
              <a:lnSpc>
                <a:spcPct val="112000"/>
              </a:lnSpc>
              <a:spcAft>
                <a:spcPts val="0"/>
              </a:spcAft>
            </a:pPr>
            <a:r>
              <a:rPr sz="1150" b="0" i="1">
                <a:solidFill>
                  <a:srgbClr val="A9A298"/>
                </a:solidFill>
                <a:latin typeface="Segoe UI"/>
              </a:rPr>
              <a:t>Chiêm nghiệm</a:t>
            </a:r>
          </a:p>
        </p:txBody>
      </p:sp>
      <p:sp>
        <p:nvSpPr>
          <p:cNvPr id="38" name="TextBox 37"/>
          <p:cNvSpPr txBox="1"/>
          <p:nvPr/>
        </p:nvSpPr>
        <p:spPr>
          <a:xfrm>
            <a:off x="822960" y="5440680"/>
            <a:ext cx="10515600" cy="457200"/>
          </a:xfrm>
          <a:prstGeom prst="rect">
            <a:avLst/>
          </a:prstGeom>
          <a:noFill/>
        </p:spPr>
        <p:txBody>
          <a:bodyPr wrap="square" lIns="0" rIns="0" tIns="0" bIns="0" anchor="t">
            <a:spAutoFit/>
          </a:bodyPr>
          <a:lstStyle/>
          <a:p>
            <a:pPr algn="l">
              <a:lnSpc>
                <a:spcPct val="112000"/>
              </a:lnSpc>
              <a:spcAft>
                <a:spcPts val="0"/>
              </a:spcAft>
            </a:pPr>
            <a:r>
              <a:rPr sz="1250" b="0" i="0">
                <a:solidFill>
                  <a:srgbClr val="A9A298"/>
                </a:solidFill>
                <a:latin typeface="Segoe UI"/>
              </a:rPr>
              <a:t>Điều hướng cố định ở đầu trang: </a:t>
            </a:r>
            <a:r>
              <a:rPr sz="1250" b="1" i="0">
                <a:solidFill>
                  <a:srgbClr val="D4AF37"/>
                </a:solidFill>
                <a:latin typeface="Segoe UI"/>
              </a:rPr>
              <a:t>Hành trình  ·  Góc Gen Z  ·  Thách thức</a:t>
            </a:r>
            <a:r>
              <a:rPr sz="1250" b="0" i="0">
                <a:solidFill>
                  <a:srgbClr val="A9A298"/>
                </a:solidFill>
                <a:latin typeface="Segoe UI"/>
              </a:rPr>
              <a:t>   —  toàn bộ cuộn mượt, không tải lại trang.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9144000" cy="274320"/>
          </a:xfrm>
          <a:prstGeom prst="rect">
            <a:avLst/>
          </a:prstGeom>
          <a:noFill/>
        </p:spPr>
        <p:txBody>
          <a:bodyPr wrap="square" lIns="0" rIns="0" tIns="0" bIns="0" anchor="t">
            <a:spAutoFit/>
          </a:bodyPr>
          <a:lstStyle/>
          <a:p>
            <a:pPr algn="l">
              <a:lnSpc>
                <a:spcPct val="112000"/>
              </a:lnSpc>
              <a:spcAft>
                <a:spcPts val="0"/>
              </a:spcAft>
            </a:pPr>
            <a:r>
              <a:rPr sz="1250" b="1" i="0">
                <a:solidFill>
                  <a:srgbClr val="D4AF37"/>
                </a:solidFill>
                <a:latin typeface="Segoe UI"/>
              </a:rPr>
              <a:t>4 · TRẠM HÀNH TRÌNH</a:t>
            </a:r>
          </a:p>
        </p:txBody>
      </p:sp>
      <p:sp>
        <p:nvSpPr>
          <p:cNvPr id="4" name="TextBox 3"/>
          <p:cNvSpPr txBox="1"/>
          <p:nvPr/>
        </p:nvSpPr>
        <p:spPr>
          <a:xfrm>
            <a:off x="822960" y="868680"/>
            <a:ext cx="10424160" cy="822960"/>
          </a:xfrm>
          <a:prstGeom prst="rect">
            <a:avLst/>
          </a:prstGeom>
          <a:noFill/>
        </p:spPr>
        <p:txBody>
          <a:bodyPr wrap="square" lIns="0" rIns="0" tIns="0" bIns="0" anchor="t">
            <a:spAutoFit/>
          </a:bodyPr>
          <a:lstStyle/>
          <a:p>
            <a:pPr algn="l">
              <a:lnSpc>
                <a:spcPct val="112000"/>
              </a:lnSpc>
              <a:spcAft>
                <a:spcPts val="0"/>
              </a:spcAft>
            </a:pPr>
            <a:r>
              <a:rPr sz="3200" b="1" i="0">
                <a:solidFill>
                  <a:srgbClr val="FDFBF7"/>
                </a:solidFill>
                <a:latin typeface="Georgia"/>
              </a:rPr>
              <a:t>Quả địa cầu 3D: hành trình 30 năm tìm đường</a:t>
            </a:r>
          </a:p>
        </p:txBody>
      </p:sp>
      <p:sp>
        <p:nvSpPr>
          <p:cNvPr id="5" name="Rectangle 4"/>
          <p:cNvSpPr/>
          <p:nvPr/>
        </p:nvSpPr>
        <p:spPr>
          <a:xfrm>
            <a:off x="822960" y="1481328"/>
            <a:ext cx="1005840" cy="41148"/>
          </a:xfrm>
          <a:prstGeom prst="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22960" y="1828800"/>
            <a:ext cx="5120640" cy="3977639"/>
          </a:xfrm>
          <a:prstGeom prst="roundRect">
            <a:avLst>
              <a:gd name="adj" fmla="val 5000"/>
            </a:avLst>
          </a:prstGeom>
          <a:solidFill>
            <a:srgbClr val="100F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965960" y="2377440"/>
            <a:ext cx="2834640" cy="2834640"/>
          </a:xfrm>
          <a:prstGeom prst="ellipse">
            <a:avLst/>
          </a:prstGeom>
          <a:solidFill>
            <a:srgbClr val="142A3A"/>
          </a:solidFill>
          <a:ln w="15240">
            <a:solidFill>
              <a:srgbClr val="2C4A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2221991" y="2377440"/>
            <a:ext cx="2322576" cy="2834640"/>
          </a:xfrm>
          <a:prstGeom prst="ellipse">
            <a:avLst/>
          </a:prstGeom>
          <a:noFill/>
          <a:ln w="9525">
            <a:solidFill>
              <a:srgbClr val="3355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478024" y="2377440"/>
            <a:ext cx="1810512" cy="2834640"/>
          </a:xfrm>
          <a:prstGeom prst="ellipse">
            <a:avLst/>
          </a:prstGeom>
          <a:noFill/>
          <a:ln w="9525">
            <a:solidFill>
              <a:srgbClr val="3355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734056" y="2377440"/>
            <a:ext cx="1298448" cy="2834640"/>
          </a:xfrm>
          <a:prstGeom prst="ellipse">
            <a:avLst/>
          </a:prstGeom>
          <a:noFill/>
          <a:ln w="9525">
            <a:solidFill>
              <a:srgbClr val="3355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011680" y="2880360"/>
            <a:ext cx="2743200" cy="10972"/>
          </a:xfrm>
          <a:prstGeom prst="rect">
            <a:avLst/>
          </a:prstGeom>
          <a:solidFill>
            <a:srgbClr val="33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011680" y="3383280"/>
            <a:ext cx="2743200" cy="10972"/>
          </a:xfrm>
          <a:prstGeom prst="rect">
            <a:avLst/>
          </a:prstGeom>
          <a:solidFill>
            <a:srgbClr val="33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011680" y="3886200"/>
            <a:ext cx="2743200" cy="10972"/>
          </a:xfrm>
          <a:prstGeom prst="rect">
            <a:avLst/>
          </a:prstGeom>
          <a:solidFill>
            <a:srgbClr val="33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011680" y="4389120"/>
            <a:ext cx="2743200" cy="10972"/>
          </a:xfrm>
          <a:prstGeom prst="rect">
            <a:avLst/>
          </a:prstGeom>
          <a:solidFill>
            <a:srgbClr val="33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743200" y="2971800"/>
            <a:ext cx="118872" cy="118872"/>
          </a:xfrm>
          <a:prstGeom prst="ellipse">
            <a:avLst/>
          </a:prstGeom>
          <a:solidFill>
            <a:srgbClr val="A8232A"/>
          </a:solidFill>
          <a:ln w="12700">
            <a:solidFill>
              <a:srgbClr val="D4A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429000" y="3611880"/>
            <a:ext cx="118872" cy="118872"/>
          </a:xfrm>
          <a:prstGeom prst="ellipse">
            <a:avLst/>
          </a:prstGeom>
          <a:solidFill>
            <a:srgbClr val="A8232A"/>
          </a:solidFill>
          <a:ln w="12700">
            <a:solidFill>
              <a:srgbClr val="D4A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977639" y="3063240"/>
            <a:ext cx="118872" cy="118872"/>
          </a:xfrm>
          <a:prstGeom prst="ellipse">
            <a:avLst/>
          </a:prstGeom>
          <a:solidFill>
            <a:srgbClr val="A8232A"/>
          </a:solidFill>
          <a:ln w="12700">
            <a:solidFill>
              <a:srgbClr val="D4A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514600" y="3977639"/>
            <a:ext cx="118872" cy="118872"/>
          </a:xfrm>
          <a:prstGeom prst="ellipse">
            <a:avLst/>
          </a:prstGeom>
          <a:solidFill>
            <a:srgbClr val="A8232A"/>
          </a:solidFill>
          <a:ln w="12700">
            <a:solidFill>
              <a:srgbClr val="D4A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657600" y="4434840"/>
            <a:ext cx="118872" cy="118872"/>
          </a:xfrm>
          <a:prstGeom prst="ellipse">
            <a:avLst/>
          </a:prstGeom>
          <a:solidFill>
            <a:srgbClr val="A8232A"/>
          </a:solidFill>
          <a:ln w="12700">
            <a:solidFill>
              <a:srgbClr val="D4A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246120" y="5074920"/>
            <a:ext cx="822960" cy="274320"/>
          </a:xfrm>
          <a:prstGeom prst="roundRect">
            <a:avLst>
              <a:gd name="adj" fmla="val 50000"/>
            </a:avLst>
          </a:prstGeom>
          <a:solidFill>
            <a:srgbClr val="2B27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6120" y="5120640"/>
            <a:ext cx="822960" cy="201168"/>
          </a:xfrm>
          <a:prstGeom prst="rect">
            <a:avLst/>
          </a:prstGeom>
          <a:noFill/>
        </p:spPr>
        <p:txBody>
          <a:bodyPr wrap="square" lIns="0" rIns="0" tIns="0" bIns="0" anchor="t">
            <a:spAutoFit/>
          </a:bodyPr>
          <a:lstStyle/>
          <a:p>
            <a:pPr algn="ctr">
              <a:lnSpc>
                <a:spcPct val="112000"/>
              </a:lnSpc>
              <a:spcAft>
                <a:spcPts val="0"/>
              </a:spcAft>
            </a:pPr>
            <a:r>
              <a:rPr sz="950" b="1" i="0">
                <a:solidFill>
                  <a:srgbClr val="D4AF37"/>
                </a:solidFill>
                <a:latin typeface="Segoe UI"/>
              </a:rPr>
              <a:t>⏸ Tự động</a:t>
            </a:r>
          </a:p>
        </p:txBody>
      </p:sp>
      <p:sp>
        <p:nvSpPr>
          <p:cNvPr id="22" name="TextBox 21"/>
          <p:cNvSpPr txBox="1"/>
          <p:nvPr/>
        </p:nvSpPr>
        <p:spPr>
          <a:xfrm>
            <a:off x="960120" y="5532120"/>
            <a:ext cx="4846320" cy="274320"/>
          </a:xfrm>
          <a:prstGeom prst="rect">
            <a:avLst/>
          </a:prstGeom>
          <a:noFill/>
        </p:spPr>
        <p:txBody>
          <a:bodyPr wrap="square" lIns="0" rIns="0" tIns="0" bIns="0" anchor="t">
            <a:spAutoFit/>
          </a:bodyPr>
          <a:lstStyle/>
          <a:p>
            <a:pPr algn="l">
              <a:lnSpc>
                <a:spcPct val="112000"/>
              </a:lnSpc>
              <a:spcAft>
                <a:spcPts val="0"/>
              </a:spcAft>
            </a:pPr>
            <a:r>
              <a:rPr sz="950" b="0" i="1">
                <a:solidFill>
                  <a:srgbClr val="7E776E"/>
                </a:solidFill>
                <a:latin typeface="Segoe UI"/>
              </a:rPr>
              <a:t>Sơ đồ minh hoạ giao diện — không phải ảnh chụp màn hình.</a:t>
            </a:r>
          </a:p>
        </p:txBody>
      </p:sp>
      <p:sp>
        <p:nvSpPr>
          <p:cNvPr id="23" name="Oval 22"/>
          <p:cNvSpPr/>
          <p:nvPr/>
        </p:nvSpPr>
        <p:spPr>
          <a:xfrm>
            <a:off x="6263640" y="1975103"/>
            <a:ext cx="91440" cy="91440"/>
          </a:xfrm>
          <a:prstGeom prst="ellipse">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0" y="1874519"/>
            <a:ext cx="4846320" cy="822960"/>
          </a:xfrm>
          <a:prstGeom prst="rect">
            <a:avLst/>
          </a:prstGeom>
          <a:noFill/>
        </p:spPr>
        <p:txBody>
          <a:bodyPr wrap="square" lIns="0" rIns="0" tIns="0" bIns="0" anchor="t">
            <a:spAutoFit/>
          </a:bodyPr>
          <a:lstStyle/>
          <a:p>
            <a:pPr algn="l">
              <a:lnSpc>
                <a:spcPct val="112000"/>
              </a:lnSpc>
              <a:spcAft>
                <a:spcPts val="0"/>
              </a:spcAft>
            </a:pPr>
            <a:r>
              <a:rPr sz="1350" b="1" i="0">
                <a:solidFill>
                  <a:srgbClr val="FDFBF7"/>
                </a:solidFill>
                <a:latin typeface="Segoe UI"/>
              </a:rPr>
              <a:t>Tự xoay &amp; tự chuyển mốc mỗi 4 giây</a:t>
            </a:r>
            <a:r>
              <a:rPr sz="1300" b="0" i="0">
                <a:solidFill>
                  <a:srgbClr val="C9C2B8"/>
                </a:solidFill>
                <a:latin typeface="Segoe UI"/>
              </a:rPr>
              <a:t>— không cần thao tác, lớp vẫn theo được khi trình chiếu.</a:t>
            </a:r>
          </a:p>
        </p:txBody>
      </p:sp>
      <p:sp>
        <p:nvSpPr>
          <p:cNvPr id="25" name="Oval 24"/>
          <p:cNvSpPr/>
          <p:nvPr/>
        </p:nvSpPr>
        <p:spPr>
          <a:xfrm>
            <a:off x="6263640" y="2571658"/>
            <a:ext cx="91440" cy="91440"/>
          </a:xfrm>
          <a:prstGeom prst="ellipse">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0" y="2471074"/>
            <a:ext cx="4846320" cy="822960"/>
          </a:xfrm>
          <a:prstGeom prst="rect">
            <a:avLst/>
          </a:prstGeom>
          <a:noFill/>
        </p:spPr>
        <p:txBody>
          <a:bodyPr wrap="square" lIns="0" rIns="0" tIns="0" bIns="0" anchor="t">
            <a:spAutoFit/>
          </a:bodyPr>
          <a:lstStyle/>
          <a:p>
            <a:pPr algn="l">
              <a:lnSpc>
                <a:spcPct val="112000"/>
              </a:lnSpc>
              <a:spcAft>
                <a:spcPts val="0"/>
              </a:spcAft>
            </a:pPr>
            <a:r>
              <a:rPr sz="1350" b="1" i="0">
                <a:solidFill>
                  <a:srgbClr val="FDFBF7"/>
                </a:solidFill>
                <a:latin typeface="Segoe UI"/>
              </a:rPr>
              <a:t>13 cột cờ đỏ sao vàng</a:t>
            </a:r>
            <a:r>
              <a:rPr sz="1300" b="0" i="0">
                <a:solidFill>
                  <a:srgbClr val="C9C2B8"/>
                </a:solidFill>
                <a:latin typeface="Segoe UI"/>
              </a:rPr>
              <a:t>gắn đúng toạ độ địa lý thật của từng địa danh.</a:t>
            </a:r>
          </a:p>
        </p:txBody>
      </p:sp>
      <p:sp>
        <p:nvSpPr>
          <p:cNvPr id="27" name="Oval 26"/>
          <p:cNvSpPr/>
          <p:nvPr/>
        </p:nvSpPr>
        <p:spPr>
          <a:xfrm>
            <a:off x="6263640" y="3168213"/>
            <a:ext cx="91440" cy="91440"/>
          </a:xfrm>
          <a:prstGeom prst="ellipse">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92240" y="3067629"/>
            <a:ext cx="4846320" cy="822960"/>
          </a:xfrm>
          <a:prstGeom prst="rect">
            <a:avLst/>
          </a:prstGeom>
          <a:noFill/>
        </p:spPr>
        <p:txBody>
          <a:bodyPr wrap="square" lIns="0" rIns="0" tIns="0" bIns="0" anchor="t">
            <a:spAutoFit/>
          </a:bodyPr>
          <a:lstStyle/>
          <a:p>
            <a:pPr algn="l">
              <a:lnSpc>
                <a:spcPct val="112000"/>
              </a:lnSpc>
              <a:spcAft>
                <a:spcPts val="0"/>
              </a:spcAft>
            </a:pPr>
            <a:r>
              <a:rPr sz="1350" b="1" i="0">
                <a:solidFill>
                  <a:srgbClr val="FDFBF7"/>
                </a:solidFill>
                <a:latin typeface="Segoe UI"/>
              </a:rPr>
              <a:t>Lọc theo 8 giai đoạn</a:t>
            </a:r>
            <a:r>
              <a:rPr sz="1300" b="0" i="0">
                <a:solidFill>
                  <a:srgbClr val="C9C2B8"/>
                </a:solidFill>
                <a:latin typeface="Segoe UI"/>
              </a:rPr>
              <a:t>Khởi nguồn · Khởi đầu · Tìm đường · Tổ chức · Độc lập · Xây dựng · Di sản · Kỷ niệm.</a:t>
            </a:r>
          </a:p>
        </p:txBody>
      </p:sp>
      <p:sp>
        <p:nvSpPr>
          <p:cNvPr id="29" name="Oval 28"/>
          <p:cNvSpPr/>
          <p:nvPr/>
        </p:nvSpPr>
        <p:spPr>
          <a:xfrm>
            <a:off x="6263640" y="3999036"/>
            <a:ext cx="91440" cy="91440"/>
          </a:xfrm>
          <a:prstGeom prst="ellipse">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92240" y="3898452"/>
            <a:ext cx="4846320" cy="822960"/>
          </a:xfrm>
          <a:prstGeom prst="rect">
            <a:avLst/>
          </a:prstGeom>
          <a:noFill/>
        </p:spPr>
        <p:txBody>
          <a:bodyPr wrap="square" lIns="0" rIns="0" tIns="0" bIns="0" anchor="t">
            <a:spAutoFit/>
          </a:bodyPr>
          <a:lstStyle/>
          <a:p>
            <a:pPr algn="l">
              <a:lnSpc>
                <a:spcPct val="112000"/>
              </a:lnSpc>
              <a:spcAft>
                <a:spcPts val="0"/>
              </a:spcAft>
            </a:pPr>
            <a:r>
              <a:rPr sz="1350" b="1" i="0">
                <a:solidFill>
                  <a:srgbClr val="FDFBF7"/>
                </a:solidFill>
                <a:latin typeface="Segoe UI"/>
              </a:rPr>
              <a:t>Tương tác chủ động</a:t>
            </a:r>
            <a:r>
              <a:rPr sz="1300" b="0" i="0">
                <a:solidFill>
                  <a:srgbClr val="C9C2B8"/>
                </a:solidFill>
                <a:latin typeface="Segoe UI"/>
              </a:rPr>
              <a:t>kéo xoay, phóng to, "Tập trung mốc", "Toàn cảnh" — chạm vào mốc là tự tạm dừng 3,5 giây.</a:t>
            </a:r>
          </a:p>
        </p:txBody>
      </p:sp>
      <p:sp>
        <p:nvSpPr>
          <p:cNvPr id="31" name="Oval 30"/>
          <p:cNvSpPr/>
          <p:nvPr/>
        </p:nvSpPr>
        <p:spPr>
          <a:xfrm>
            <a:off x="6263640" y="4829860"/>
            <a:ext cx="91440" cy="91440"/>
          </a:xfrm>
          <a:prstGeom prst="ellipse">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92240" y="4729276"/>
            <a:ext cx="4846320" cy="822960"/>
          </a:xfrm>
          <a:prstGeom prst="rect">
            <a:avLst/>
          </a:prstGeom>
          <a:noFill/>
        </p:spPr>
        <p:txBody>
          <a:bodyPr wrap="square" lIns="0" rIns="0" tIns="0" bIns="0" anchor="t">
            <a:spAutoFit/>
          </a:bodyPr>
          <a:lstStyle/>
          <a:p>
            <a:pPr algn="l">
              <a:lnSpc>
                <a:spcPct val="112000"/>
              </a:lnSpc>
              <a:spcAft>
                <a:spcPts val="0"/>
              </a:spcAft>
            </a:pPr>
            <a:r>
              <a:rPr sz="1350" b="1" i="0">
                <a:solidFill>
                  <a:srgbClr val="FDFBF7"/>
                </a:solidFill>
                <a:latin typeface="Segoe UI"/>
              </a:rPr>
              <a:t>Ảnh tư liệu Wikimedia</a:t>
            </a:r>
            <a:r>
              <a:rPr sz="1300" b="0" i="0">
                <a:solidFill>
                  <a:srgbClr val="C9C2B8"/>
                </a:solidFill>
                <a:latin typeface="Segoe UI"/>
              </a:rPr>
              <a:t>kèm chú thích và ghi chú nguồn cho từng mốc; ảnh lỗi có khung dự phòng.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9144000" cy="274320"/>
          </a:xfrm>
          <a:prstGeom prst="rect">
            <a:avLst/>
          </a:prstGeom>
          <a:noFill/>
        </p:spPr>
        <p:txBody>
          <a:bodyPr wrap="square" lIns="0" rIns="0" tIns="0" bIns="0" anchor="t">
            <a:spAutoFit/>
          </a:bodyPr>
          <a:lstStyle/>
          <a:p>
            <a:pPr algn="l">
              <a:lnSpc>
                <a:spcPct val="112000"/>
              </a:lnSpc>
              <a:spcAft>
                <a:spcPts val="0"/>
              </a:spcAft>
            </a:pPr>
            <a:r>
              <a:rPr sz="1250" b="1" i="0">
                <a:solidFill>
                  <a:srgbClr val="A8232A"/>
                </a:solidFill>
                <a:latin typeface="Segoe UI"/>
              </a:rPr>
              <a:t>4 · TRẠM HÀNH TRÌNH (TIẾP)</a:t>
            </a:r>
          </a:p>
        </p:txBody>
      </p:sp>
      <p:sp>
        <p:nvSpPr>
          <p:cNvPr id="4" name="TextBox 3"/>
          <p:cNvSpPr txBox="1"/>
          <p:nvPr/>
        </p:nvSpPr>
        <p:spPr>
          <a:xfrm>
            <a:off x="822960" y="868680"/>
            <a:ext cx="10424160" cy="822960"/>
          </a:xfrm>
          <a:prstGeom prst="rect">
            <a:avLst/>
          </a:prstGeom>
          <a:noFill/>
        </p:spPr>
        <p:txBody>
          <a:bodyPr wrap="square" lIns="0" rIns="0" tIns="0" bIns="0" anchor="t">
            <a:spAutoFit/>
          </a:bodyPr>
          <a:lstStyle/>
          <a:p>
            <a:pPr algn="l">
              <a:lnSpc>
                <a:spcPct val="112000"/>
              </a:lnSpc>
              <a:spcAft>
                <a:spcPts val="0"/>
              </a:spcAft>
            </a:pPr>
            <a:r>
              <a:rPr sz="3000" b="1" i="0">
                <a:solidFill>
                  <a:srgbClr val="1C1A17"/>
                </a:solidFill>
                <a:latin typeface="Georgia"/>
              </a:rPr>
              <a:t>13 mốc, mỗi mốc một bài học có thể dùng ngay</a:t>
            </a:r>
          </a:p>
        </p:txBody>
      </p:sp>
      <p:sp>
        <p:nvSpPr>
          <p:cNvPr id="5" name="Rectangle 4"/>
          <p:cNvSpPr/>
          <p:nvPr/>
        </p:nvSpPr>
        <p:spPr>
          <a:xfrm>
            <a:off x="822960" y="1481328"/>
            <a:ext cx="1005840" cy="41148"/>
          </a:xfrm>
          <a:prstGeom prst="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822960" y="1691640"/>
          <a:ext cx="10543032" cy="4480560"/>
        </p:xfrm>
        <a:graphic>
          <a:graphicData uri="http://schemas.openxmlformats.org/drawingml/2006/table">
            <a:tbl>
              <a:tblPr firstRow="1" bandRow="1">
                <a:tableStyleId>{5C22544A-7EE6-4342-B048-85BDC9FD1C3A}</a:tableStyleId>
              </a:tblPr>
              <a:tblGrid>
                <a:gridCol w="960120"/>
                <a:gridCol w="3520440"/>
                <a:gridCol w="1600200"/>
                <a:gridCol w="4462272"/>
              </a:tblGrid>
              <a:tr h="320040">
                <a:tc>
                  <a:txBody>
                    <a:bodyPr/>
                    <a:lstStyle/>
                    <a:p>
                      <a:r>
                        <a:rPr sz="1150" b="1">
                          <a:solidFill>
                            <a:srgbClr val="FDFBF7"/>
                          </a:solidFill>
                          <a:latin typeface="Segoe UI"/>
                        </a:rPr>
                        <a:t>Năm</a:t>
                      </a:r>
                    </a:p>
                  </a:txBody>
                  <a:tcPr marL="82296" marR="45720" marT="27432" marB="27432">
                    <a:solidFill>
                      <a:srgbClr val="8B0000"/>
                    </a:solidFill>
                  </a:tcPr>
                </a:tc>
                <a:tc>
                  <a:txBody>
                    <a:bodyPr/>
                    <a:lstStyle/>
                    <a:p>
                      <a:r>
                        <a:rPr sz="1150" b="1">
                          <a:solidFill>
                            <a:srgbClr val="FDFBF7"/>
                          </a:solidFill>
                          <a:latin typeface="Segoe UI"/>
                        </a:rPr>
                        <a:t>Địa danh</a:t>
                      </a:r>
                    </a:p>
                  </a:txBody>
                  <a:tcPr marL="82296" marR="45720" marT="27432" marB="27432">
                    <a:solidFill>
                      <a:srgbClr val="8B0000"/>
                    </a:solidFill>
                  </a:tcPr>
                </a:tc>
                <a:tc>
                  <a:txBody>
                    <a:bodyPr/>
                    <a:lstStyle/>
                    <a:p>
                      <a:r>
                        <a:rPr sz="1150" b="1">
                          <a:solidFill>
                            <a:srgbClr val="FDFBF7"/>
                          </a:solidFill>
                          <a:latin typeface="Segoe UI"/>
                        </a:rPr>
                        <a:t>Giai đoạn</a:t>
                      </a:r>
                    </a:p>
                  </a:txBody>
                  <a:tcPr marL="82296" marR="45720" marT="27432" marB="27432">
                    <a:solidFill>
                      <a:srgbClr val="8B0000"/>
                    </a:solidFill>
                  </a:tcPr>
                </a:tc>
                <a:tc>
                  <a:txBody>
                    <a:bodyPr/>
                    <a:lstStyle/>
                    <a:p>
                      <a:r>
                        <a:rPr sz="1150" b="1">
                          <a:solidFill>
                            <a:srgbClr val="FDFBF7"/>
                          </a:solidFill>
                          <a:latin typeface="Segoe UI"/>
                        </a:rPr>
                        <a:t>Bài học rút ra (nguyên văn trên website)</a:t>
                      </a:r>
                    </a:p>
                  </a:txBody>
                  <a:tcPr marL="82296" marR="45720" marT="27432" marB="27432">
                    <a:solidFill>
                      <a:srgbClr val="8B0000"/>
                    </a:solidFill>
                  </a:tcPr>
                </a:tc>
              </a:tr>
              <a:tr h="320040">
                <a:tc>
                  <a:txBody>
                    <a:bodyPr/>
                    <a:lstStyle/>
                    <a:p>
                      <a:r>
                        <a:rPr sz="1050" b="1">
                          <a:solidFill>
                            <a:srgbClr val="8B0000"/>
                          </a:solidFill>
                          <a:latin typeface="Segoe UI"/>
                        </a:rPr>
                        <a:t>1890</a:t>
                      </a:r>
                    </a:p>
                  </a:txBody>
                  <a:tcPr marL="82296" marR="45720" marT="9144" marB="9144">
                    <a:solidFill>
                      <a:srgbClr val="FDFBF7"/>
                    </a:solidFill>
                  </a:tcPr>
                </a:tc>
                <a:tc>
                  <a:txBody>
                    <a:bodyPr/>
                    <a:lstStyle/>
                    <a:p>
                      <a:r>
                        <a:rPr sz="1050" b="0">
                          <a:solidFill>
                            <a:srgbClr val="1C1A17"/>
                          </a:solidFill>
                          <a:latin typeface="Segoe UI"/>
                        </a:rPr>
                        <a:t>Kim Liên, Nghệ An</a:t>
                      </a:r>
                    </a:p>
                  </a:txBody>
                  <a:tcPr marL="82296" marR="45720" marT="9144" marB="9144">
                    <a:solidFill>
                      <a:srgbClr val="FDFBF7"/>
                    </a:solidFill>
                  </a:tcPr>
                </a:tc>
                <a:tc>
                  <a:txBody>
                    <a:bodyPr/>
                    <a:lstStyle/>
                    <a:p>
                      <a:r>
                        <a:rPr sz="1050" b="0">
                          <a:solidFill>
                            <a:srgbClr val="6B655E"/>
                          </a:solidFill>
                          <a:latin typeface="Segoe UI"/>
                        </a:rPr>
                        <a:t>Khởi nguồn</a:t>
                      </a:r>
                    </a:p>
                  </a:txBody>
                  <a:tcPr marL="82296" marR="45720" marT="9144" marB="9144">
                    <a:solidFill>
                      <a:srgbClr val="FDFBF7"/>
                    </a:solidFill>
                  </a:tcPr>
                </a:tc>
                <a:tc>
                  <a:txBody>
                    <a:bodyPr/>
                    <a:lstStyle/>
                    <a:p>
                      <a:r>
                        <a:rPr sz="1050" b="0">
                          <a:solidFill>
                            <a:srgbClr val="1C1A17"/>
                          </a:solidFill>
                          <a:latin typeface="Segoe UI"/>
                        </a:rPr>
                        <a:t>Gốc rễ và khát vọng học hỏi</a:t>
                      </a:r>
                    </a:p>
                  </a:txBody>
                  <a:tcPr marL="82296" marR="45720" marT="9144" marB="9144">
                    <a:solidFill>
                      <a:srgbClr val="FDFBF7"/>
                    </a:solidFill>
                  </a:tcPr>
                </a:tc>
              </a:tr>
              <a:tr h="320040">
                <a:tc>
                  <a:txBody>
                    <a:bodyPr/>
                    <a:lstStyle/>
                    <a:p>
                      <a:r>
                        <a:rPr sz="1050" b="1">
                          <a:solidFill>
                            <a:srgbClr val="8B0000"/>
                          </a:solidFill>
                          <a:latin typeface="Segoe UI"/>
                        </a:rPr>
                        <a:t>1911</a:t>
                      </a:r>
                    </a:p>
                  </a:txBody>
                  <a:tcPr marL="82296" marR="45720" marT="9144" marB="9144">
                    <a:solidFill>
                      <a:srgbClr val="F4EFE4"/>
                    </a:solidFill>
                  </a:tcPr>
                </a:tc>
                <a:tc>
                  <a:txBody>
                    <a:bodyPr/>
                    <a:lstStyle/>
                    <a:p>
                      <a:r>
                        <a:rPr sz="1050" b="0">
                          <a:solidFill>
                            <a:srgbClr val="1C1A17"/>
                          </a:solidFill>
                          <a:latin typeface="Segoe UI"/>
                        </a:rPr>
                        <a:t>Bến cảng Nhà Rồng, Sài Gòn</a:t>
                      </a:r>
                    </a:p>
                  </a:txBody>
                  <a:tcPr marL="82296" marR="45720" marT="9144" marB="9144">
                    <a:solidFill>
                      <a:srgbClr val="F4EFE4"/>
                    </a:solidFill>
                  </a:tcPr>
                </a:tc>
                <a:tc>
                  <a:txBody>
                    <a:bodyPr/>
                    <a:lstStyle/>
                    <a:p>
                      <a:r>
                        <a:rPr sz="1050" b="0">
                          <a:solidFill>
                            <a:srgbClr val="6B655E"/>
                          </a:solidFill>
                          <a:latin typeface="Segoe UI"/>
                        </a:rPr>
                        <a:t>Khởi đầu</a:t>
                      </a:r>
                    </a:p>
                  </a:txBody>
                  <a:tcPr marL="82296" marR="45720" marT="9144" marB="9144">
                    <a:solidFill>
                      <a:srgbClr val="F4EFE4"/>
                    </a:solidFill>
                  </a:tcPr>
                </a:tc>
                <a:tc>
                  <a:txBody>
                    <a:bodyPr/>
                    <a:lstStyle/>
                    <a:p>
                      <a:r>
                        <a:rPr sz="1050" b="0">
                          <a:solidFill>
                            <a:srgbClr val="1C1A17"/>
                          </a:solidFill>
                          <a:latin typeface="Segoe UI"/>
                        </a:rPr>
                        <a:t>Dấn thân và bước ra vùng an toàn</a:t>
                      </a:r>
                    </a:p>
                  </a:txBody>
                  <a:tcPr marL="82296" marR="45720" marT="9144" marB="9144">
                    <a:solidFill>
                      <a:srgbClr val="F4EFE4"/>
                    </a:solidFill>
                  </a:tcPr>
                </a:tc>
              </a:tr>
              <a:tr h="320040">
                <a:tc>
                  <a:txBody>
                    <a:bodyPr/>
                    <a:lstStyle/>
                    <a:p>
                      <a:r>
                        <a:rPr sz="1050" b="1">
                          <a:solidFill>
                            <a:srgbClr val="8B0000"/>
                          </a:solidFill>
                          <a:latin typeface="Segoe UI"/>
                        </a:rPr>
                        <a:t>1919</a:t>
                      </a:r>
                    </a:p>
                  </a:txBody>
                  <a:tcPr marL="82296" marR="45720" marT="9144" marB="9144">
                    <a:solidFill>
                      <a:srgbClr val="FDFBF7"/>
                    </a:solidFill>
                  </a:tcPr>
                </a:tc>
                <a:tc>
                  <a:txBody>
                    <a:bodyPr/>
                    <a:lstStyle/>
                    <a:p>
                      <a:r>
                        <a:rPr sz="1050" b="0">
                          <a:solidFill>
                            <a:srgbClr val="1C1A17"/>
                          </a:solidFill>
                          <a:latin typeface="Segoe UI"/>
                        </a:rPr>
                        <a:t>Versailles, Pháp</a:t>
                      </a:r>
                    </a:p>
                  </a:txBody>
                  <a:tcPr marL="82296" marR="45720" marT="9144" marB="9144">
                    <a:solidFill>
                      <a:srgbClr val="FDFBF7"/>
                    </a:solidFill>
                  </a:tcPr>
                </a:tc>
                <a:tc>
                  <a:txBody>
                    <a:bodyPr/>
                    <a:lstStyle/>
                    <a:p>
                      <a:r>
                        <a:rPr sz="1050" b="0">
                          <a:solidFill>
                            <a:srgbClr val="6B655E"/>
                          </a:solidFill>
                          <a:latin typeface="Segoe UI"/>
                        </a:rPr>
                        <a:t>Tìm đường</a:t>
                      </a:r>
                    </a:p>
                  </a:txBody>
                  <a:tcPr marL="82296" marR="45720" marT="9144" marB="9144">
                    <a:solidFill>
                      <a:srgbClr val="FDFBF7"/>
                    </a:solidFill>
                  </a:tcPr>
                </a:tc>
                <a:tc>
                  <a:txBody>
                    <a:bodyPr/>
                    <a:lstStyle/>
                    <a:p>
                      <a:r>
                        <a:rPr sz="1050" b="0">
                          <a:solidFill>
                            <a:srgbClr val="1C1A17"/>
                          </a:solidFill>
                          <a:latin typeface="Segoe UI"/>
                        </a:rPr>
                        <a:t>Lên tiếng cho quyền của dân tộc</a:t>
                      </a:r>
                    </a:p>
                  </a:txBody>
                  <a:tcPr marL="82296" marR="45720" marT="9144" marB="9144">
                    <a:solidFill>
                      <a:srgbClr val="FDFBF7"/>
                    </a:solidFill>
                  </a:tcPr>
                </a:tc>
              </a:tr>
              <a:tr h="320040">
                <a:tc>
                  <a:txBody>
                    <a:bodyPr/>
                    <a:lstStyle/>
                    <a:p>
                      <a:r>
                        <a:rPr sz="1050" b="1">
                          <a:solidFill>
                            <a:srgbClr val="8B0000"/>
                          </a:solidFill>
                          <a:latin typeface="Segoe UI"/>
                        </a:rPr>
                        <a:t>1920</a:t>
                      </a:r>
                    </a:p>
                  </a:txBody>
                  <a:tcPr marL="82296" marR="45720" marT="9144" marB="9144">
                    <a:solidFill>
                      <a:srgbClr val="F4EFE4"/>
                    </a:solidFill>
                  </a:tcPr>
                </a:tc>
                <a:tc>
                  <a:txBody>
                    <a:bodyPr/>
                    <a:lstStyle/>
                    <a:p>
                      <a:r>
                        <a:rPr sz="1050" b="0">
                          <a:solidFill>
                            <a:srgbClr val="1C1A17"/>
                          </a:solidFill>
                          <a:latin typeface="Segoe UI"/>
                        </a:rPr>
                        <a:t>Tours, Pháp</a:t>
                      </a:r>
                    </a:p>
                  </a:txBody>
                  <a:tcPr marL="82296" marR="45720" marT="9144" marB="9144">
                    <a:solidFill>
                      <a:srgbClr val="F4EFE4"/>
                    </a:solidFill>
                  </a:tcPr>
                </a:tc>
                <a:tc>
                  <a:txBody>
                    <a:bodyPr/>
                    <a:lstStyle/>
                    <a:p>
                      <a:r>
                        <a:rPr sz="1050" b="0">
                          <a:solidFill>
                            <a:srgbClr val="6B655E"/>
                          </a:solidFill>
                          <a:latin typeface="Segoe UI"/>
                        </a:rPr>
                        <a:t>Tìm đường</a:t>
                      </a:r>
                    </a:p>
                  </a:txBody>
                  <a:tcPr marL="82296" marR="45720" marT="9144" marB="9144">
                    <a:solidFill>
                      <a:srgbClr val="F4EFE4"/>
                    </a:solidFill>
                  </a:tcPr>
                </a:tc>
                <a:tc>
                  <a:txBody>
                    <a:bodyPr/>
                    <a:lstStyle/>
                    <a:p>
                      <a:r>
                        <a:rPr sz="1050" b="0">
                          <a:solidFill>
                            <a:srgbClr val="1C1A17"/>
                          </a:solidFill>
                          <a:latin typeface="Segoe UI"/>
                        </a:rPr>
                        <a:t>Tự học và chọn lọc tri thức</a:t>
                      </a:r>
                    </a:p>
                  </a:txBody>
                  <a:tcPr marL="82296" marR="45720" marT="9144" marB="9144">
                    <a:solidFill>
                      <a:srgbClr val="F4EFE4"/>
                    </a:solidFill>
                  </a:tcPr>
                </a:tc>
              </a:tr>
              <a:tr h="320040">
                <a:tc>
                  <a:txBody>
                    <a:bodyPr/>
                    <a:lstStyle/>
                    <a:p>
                      <a:r>
                        <a:rPr sz="1050" b="1">
                          <a:solidFill>
                            <a:srgbClr val="8B0000"/>
                          </a:solidFill>
                          <a:latin typeface="Segoe UI"/>
                        </a:rPr>
                        <a:t>1925</a:t>
                      </a:r>
                    </a:p>
                  </a:txBody>
                  <a:tcPr marL="82296" marR="45720" marT="9144" marB="9144">
                    <a:solidFill>
                      <a:srgbClr val="FDFBF7"/>
                    </a:solidFill>
                  </a:tcPr>
                </a:tc>
                <a:tc>
                  <a:txBody>
                    <a:bodyPr/>
                    <a:lstStyle/>
                    <a:p>
                      <a:r>
                        <a:rPr sz="1050" b="0">
                          <a:solidFill>
                            <a:srgbClr val="1C1A17"/>
                          </a:solidFill>
                          <a:latin typeface="Segoe UI"/>
                        </a:rPr>
                        <a:t>Quảng Châu, Trung Quốc</a:t>
                      </a:r>
                    </a:p>
                  </a:txBody>
                  <a:tcPr marL="82296" marR="45720" marT="9144" marB="9144">
                    <a:solidFill>
                      <a:srgbClr val="FDFBF7"/>
                    </a:solidFill>
                  </a:tcPr>
                </a:tc>
                <a:tc>
                  <a:txBody>
                    <a:bodyPr/>
                    <a:lstStyle/>
                    <a:p>
                      <a:r>
                        <a:rPr sz="1050" b="0">
                          <a:solidFill>
                            <a:srgbClr val="6B655E"/>
                          </a:solidFill>
                          <a:latin typeface="Segoe UI"/>
                        </a:rPr>
                        <a:t>Tổ chức</a:t>
                      </a:r>
                    </a:p>
                  </a:txBody>
                  <a:tcPr marL="82296" marR="45720" marT="9144" marB="9144">
                    <a:solidFill>
                      <a:srgbClr val="FDFBF7"/>
                    </a:solidFill>
                  </a:tcPr>
                </a:tc>
                <a:tc>
                  <a:txBody>
                    <a:bodyPr/>
                    <a:lstStyle/>
                    <a:p>
                      <a:r>
                        <a:rPr sz="1050" b="0">
                          <a:solidFill>
                            <a:srgbClr val="1C1A17"/>
                          </a:solidFill>
                          <a:latin typeface="Segoe UI"/>
                        </a:rPr>
                        <a:t>Truyền bá tri thức và đào tạo lực lượng</a:t>
                      </a:r>
                    </a:p>
                  </a:txBody>
                  <a:tcPr marL="82296" marR="45720" marT="9144" marB="9144">
                    <a:solidFill>
                      <a:srgbClr val="FDFBF7"/>
                    </a:solidFill>
                  </a:tcPr>
                </a:tc>
              </a:tr>
              <a:tr h="320040">
                <a:tc>
                  <a:txBody>
                    <a:bodyPr/>
                    <a:lstStyle/>
                    <a:p>
                      <a:r>
                        <a:rPr sz="1050" b="1">
                          <a:solidFill>
                            <a:srgbClr val="8B0000"/>
                          </a:solidFill>
                          <a:latin typeface="Segoe UI"/>
                        </a:rPr>
                        <a:t>1930</a:t>
                      </a:r>
                    </a:p>
                  </a:txBody>
                  <a:tcPr marL="82296" marR="45720" marT="9144" marB="9144">
                    <a:solidFill>
                      <a:srgbClr val="F4EFE4"/>
                    </a:solidFill>
                  </a:tcPr>
                </a:tc>
                <a:tc>
                  <a:txBody>
                    <a:bodyPr/>
                    <a:lstStyle/>
                    <a:p>
                      <a:r>
                        <a:rPr sz="1050" b="0">
                          <a:solidFill>
                            <a:srgbClr val="1C1A17"/>
                          </a:solidFill>
                          <a:latin typeface="Segoe UI"/>
                        </a:rPr>
                        <a:t>Hồng Kông, Trung Quốc</a:t>
                      </a:r>
                    </a:p>
                  </a:txBody>
                  <a:tcPr marL="82296" marR="45720" marT="9144" marB="9144">
                    <a:solidFill>
                      <a:srgbClr val="F4EFE4"/>
                    </a:solidFill>
                  </a:tcPr>
                </a:tc>
                <a:tc>
                  <a:txBody>
                    <a:bodyPr/>
                    <a:lstStyle/>
                    <a:p>
                      <a:r>
                        <a:rPr sz="1050" b="0">
                          <a:solidFill>
                            <a:srgbClr val="6B655E"/>
                          </a:solidFill>
                          <a:latin typeface="Segoe UI"/>
                        </a:rPr>
                        <a:t>Tổ chức</a:t>
                      </a:r>
                    </a:p>
                  </a:txBody>
                  <a:tcPr marL="82296" marR="45720" marT="9144" marB="9144">
                    <a:solidFill>
                      <a:srgbClr val="F4EFE4"/>
                    </a:solidFill>
                  </a:tcPr>
                </a:tc>
                <a:tc>
                  <a:txBody>
                    <a:bodyPr/>
                    <a:lstStyle/>
                    <a:p>
                      <a:r>
                        <a:rPr sz="1050" b="0">
                          <a:solidFill>
                            <a:srgbClr val="1C1A17"/>
                          </a:solidFill>
                          <a:latin typeface="Segoe UI"/>
                        </a:rPr>
                        <a:t>Tổ chức và tìm điểm chung</a:t>
                      </a:r>
                    </a:p>
                  </a:txBody>
                  <a:tcPr marL="82296" marR="45720" marT="9144" marB="9144">
                    <a:solidFill>
                      <a:srgbClr val="F4EFE4"/>
                    </a:solidFill>
                  </a:tcPr>
                </a:tc>
              </a:tr>
              <a:tr h="320040">
                <a:tc>
                  <a:txBody>
                    <a:bodyPr/>
                    <a:lstStyle/>
                    <a:p>
                      <a:r>
                        <a:rPr sz="1050" b="1">
                          <a:solidFill>
                            <a:srgbClr val="8B0000"/>
                          </a:solidFill>
                          <a:latin typeface="Segoe UI"/>
                        </a:rPr>
                        <a:t>1941</a:t>
                      </a:r>
                    </a:p>
                  </a:txBody>
                  <a:tcPr marL="82296" marR="45720" marT="9144" marB="9144">
                    <a:solidFill>
                      <a:srgbClr val="FDFBF7"/>
                    </a:solidFill>
                  </a:tcPr>
                </a:tc>
                <a:tc>
                  <a:txBody>
                    <a:bodyPr/>
                    <a:lstStyle/>
                    <a:p>
                      <a:r>
                        <a:rPr sz="1050" b="0">
                          <a:solidFill>
                            <a:srgbClr val="1C1A17"/>
                          </a:solidFill>
                          <a:latin typeface="Segoe UI"/>
                        </a:rPr>
                        <a:t>Pác Bó, Cao Bằng</a:t>
                      </a:r>
                    </a:p>
                  </a:txBody>
                  <a:tcPr marL="82296" marR="45720" marT="9144" marB="9144">
                    <a:solidFill>
                      <a:srgbClr val="FDFBF7"/>
                    </a:solidFill>
                  </a:tcPr>
                </a:tc>
                <a:tc>
                  <a:txBody>
                    <a:bodyPr/>
                    <a:lstStyle/>
                    <a:p>
                      <a:r>
                        <a:rPr sz="1050" b="0">
                          <a:solidFill>
                            <a:srgbClr val="6B655E"/>
                          </a:solidFill>
                          <a:latin typeface="Segoe UI"/>
                        </a:rPr>
                        <a:t>Độc lập</a:t>
                      </a:r>
                    </a:p>
                  </a:txBody>
                  <a:tcPr marL="82296" marR="45720" marT="9144" marB="9144">
                    <a:solidFill>
                      <a:srgbClr val="FDFBF7"/>
                    </a:solidFill>
                  </a:tcPr>
                </a:tc>
                <a:tc>
                  <a:txBody>
                    <a:bodyPr/>
                    <a:lstStyle/>
                    <a:p>
                      <a:r>
                        <a:rPr sz="1050" b="0">
                          <a:solidFill>
                            <a:srgbClr val="1C1A17"/>
                          </a:solidFill>
                          <a:latin typeface="Segoe UI"/>
                        </a:rPr>
                        <a:t>Trở về và gắn tư tưởng với thực tiễn</a:t>
                      </a:r>
                    </a:p>
                  </a:txBody>
                  <a:tcPr marL="82296" marR="45720" marT="9144" marB="9144">
                    <a:solidFill>
                      <a:srgbClr val="FDFBF7"/>
                    </a:solidFill>
                  </a:tcPr>
                </a:tc>
              </a:tr>
              <a:tr h="320040">
                <a:tc>
                  <a:txBody>
                    <a:bodyPr/>
                    <a:lstStyle/>
                    <a:p>
                      <a:r>
                        <a:rPr sz="1050" b="1">
                          <a:solidFill>
                            <a:srgbClr val="8B0000"/>
                          </a:solidFill>
                          <a:latin typeface="Segoe UI"/>
                        </a:rPr>
                        <a:t>1945</a:t>
                      </a:r>
                    </a:p>
                  </a:txBody>
                  <a:tcPr marL="82296" marR="45720" marT="9144" marB="9144">
                    <a:solidFill>
                      <a:srgbClr val="F4EFE4"/>
                    </a:solidFill>
                  </a:tcPr>
                </a:tc>
                <a:tc>
                  <a:txBody>
                    <a:bodyPr/>
                    <a:lstStyle/>
                    <a:p>
                      <a:r>
                        <a:rPr sz="1050" b="0">
                          <a:solidFill>
                            <a:srgbClr val="1C1A17"/>
                          </a:solidFill>
                          <a:latin typeface="Segoe UI"/>
                        </a:rPr>
                        <a:t>Quảng trường Ba Đình, Hà Nội</a:t>
                      </a:r>
                    </a:p>
                  </a:txBody>
                  <a:tcPr marL="82296" marR="45720" marT="9144" marB="9144">
                    <a:solidFill>
                      <a:srgbClr val="F4EFE4"/>
                    </a:solidFill>
                  </a:tcPr>
                </a:tc>
                <a:tc>
                  <a:txBody>
                    <a:bodyPr/>
                    <a:lstStyle/>
                    <a:p>
                      <a:r>
                        <a:rPr sz="1050" b="0">
                          <a:solidFill>
                            <a:srgbClr val="6B655E"/>
                          </a:solidFill>
                          <a:latin typeface="Segoe UI"/>
                        </a:rPr>
                        <a:t>Độc lập</a:t>
                      </a:r>
                    </a:p>
                  </a:txBody>
                  <a:tcPr marL="82296" marR="45720" marT="9144" marB="9144">
                    <a:solidFill>
                      <a:srgbClr val="F4EFE4"/>
                    </a:solidFill>
                  </a:tcPr>
                </a:tc>
                <a:tc>
                  <a:txBody>
                    <a:bodyPr/>
                    <a:lstStyle/>
                    <a:p>
                      <a:r>
                        <a:rPr sz="1050" b="0">
                          <a:solidFill>
                            <a:srgbClr val="1C1A17"/>
                          </a:solidFill>
                          <a:latin typeface="Segoe UI"/>
                        </a:rPr>
                        <a:t>Đọc bối cảnh và hành động đúng lúc</a:t>
                      </a:r>
                    </a:p>
                  </a:txBody>
                  <a:tcPr marL="82296" marR="45720" marT="9144" marB="9144">
                    <a:solidFill>
                      <a:srgbClr val="F4EFE4"/>
                    </a:solidFill>
                  </a:tcPr>
                </a:tc>
              </a:tr>
              <a:tr h="320040">
                <a:tc>
                  <a:txBody>
                    <a:bodyPr/>
                    <a:lstStyle/>
                    <a:p>
                      <a:r>
                        <a:rPr sz="1050" b="1">
                          <a:solidFill>
                            <a:srgbClr val="8B0000"/>
                          </a:solidFill>
                          <a:latin typeface="Segoe UI"/>
                        </a:rPr>
                        <a:t>1954</a:t>
                      </a:r>
                    </a:p>
                  </a:txBody>
                  <a:tcPr marL="82296" marR="45720" marT="9144" marB="9144">
                    <a:solidFill>
                      <a:srgbClr val="FDFBF7"/>
                    </a:solidFill>
                  </a:tcPr>
                </a:tc>
                <a:tc>
                  <a:txBody>
                    <a:bodyPr/>
                    <a:lstStyle/>
                    <a:p>
                      <a:r>
                        <a:rPr sz="1050" b="0">
                          <a:solidFill>
                            <a:srgbClr val="1C1A17"/>
                          </a:solidFill>
                          <a:latin typeface="Segoe UI"/>
                        </a:rPr>
                        <a:t>Điện Biên Phủ, Điện Biên</a:t>
                      </a:r>
                    </a:p>
                  </a:txBody>
                  <a:tcPr marL="82296" marR="45720" marT="9144" marB="9144">
                    <a:solidFill>
                      <a:srgbClr val="FDFBF7"/>
                    </a:solidFill>
                  </a:tcPr>
                </a:tc>
                <a:tc>
                  <a:txBody>
                    <a:bodyPr/>
                    <a:lstStyle/>
                    <a:p>
                      <a:r>
                        <a:rPr sz="1050" b="0">
                          <a:solidFill>
                            <a:srgbClr val="6B655E"/>
                          </a:solidFill>
                          <a:latin typeface="Segoe UI"/>
                        </a:rPr>
                        <a:t>Xây dựng</a:t>
                      </a:r>
                    </a:p>
                  </a:txBody>
                  <a:tcPr marL="82296" marR="45720" marT="9144" marB="9144">
                    <a:solidFill>
                      <a:srgbClr val="FDFBF7"/>
                    </a:solidFill>
                  </a:tcPr>
                </a:tc>
                <a:tc>
                  <a:txBody>
                    <a:bodyPr/>
                    <a:lstStyle/>
                    <a:p>
                      <a:r>
                        <a:rPr sz="1050" b="0">
                          <a:solidFill>
                            <a:srgbClr val="1C1A17"/>
                          </a:solidFill>
                          <a:latin typeface="Segoe UI"/>
                        </a:rPr>
                        <a:t>Kiên định mục tiêu và phát huy sức dân</a:t>
                      </a:r>
                    </a:p>
                  </a:txBody>
                  <a:tcPr marL="82296" marR="45720" marT="9144" marB="9144">
                    <a:solidFill>
                      <a:srgbClr val="FDFBF7"/>
                    </a:solidFill>
                  </a:tcPr>
                </a:tc>
              </a:tr>
              <a:tr h="320040">
                <a:tc>
                  <a:txBody>
                    <a:bodyPr/>
                    <a:lstStyle/>
                    <a:p>
                      <a:r>
                        <a:rPr sz="1050" b="1">
                          <a:solidFill>
                            <a:srgbClr val="8B0000"/>
                          </a:solidFill>
                          <a:latin typeface="Segoe UI"/>
                        </a:rPr>
                        <a:t>1960</a:t>
                      </a:r>
                    </a:p>
                  </a:txBody>
                  <a:tcPr marL="82296" marR="45720" marT="9144" marB="9144">
                    <a:solidFill>
                      <a:srgbClr val="F4EFE4"/>
                    </a:solidFill>
                  </a:tcPr>
                </a:tc>
                <a:tc>
                  <a:txBody>
                    <a:bodyPr/>
                    <a:lstStyle/>
                    <a:p>
                      <a:r>
                        <a:rPr sz="1050" b="0">
                          <a:solidFill>
                            <a:srgbClr val="1C1A17"/>
                          </a:solidFill>
                          <a:latin typeface="Segoe UI"/>
                        </a:rPr>
                        <a:t>Hà Nội</a:t>
                      </a:r>
                    </a:p>
                  </a:txBody>
                  <a:tcPr marL="82296" marR="45720" marT="9144" marB="9144">
                    <a:solidFill>
                      <a:srgbClr val="F4EFE4"/>
                    </a:solidFill>
                  </a:tcPr>
                </a:tc>
                <a:tc>
                  <a:txBody>
                    <a:bodyPr/>
                    <a:lstStyle/>
                    <a:p>
                      <a:r>
                        <a:rPr sz="1050" b="0">
                          <a:solidFill>
                            <a:srgbClr val="6B655E"/>
                          </a:solidFill>
                          <a:latin typeface="Segoe UI"/>
                        </a:rPr>
                        <a:t>Xây dựng</a:t>
                      </a:r>
                    </a:p>
                  </a:txBody>
                  <a:tcPr marL="82296" marR="45720" marT="9144" marB="9144">
                    <a:solidFill>
                      <a:srgbClr val="F4EFE4"/>
                    </a:solidFill>
                  </a:tcPr>
                </a:tc>
                <a:tc>
                  <a:txBody>
                    <a:bodyPr/>
                    <a:lstStyle/>
                    <a:p>
                      <a:r>
                        <a:rPr sz="1050" b="0">
                          <a:solidFill>
                            <a:srgbClr val="1C1A17"/>
                          </a:solidFill>
                          <a:latin typeface="Segoe UI"/>
                        </a:rPr>
                        <a:t>Tầm nhìn và sức mạnh đoàn kết</a:t>
                      </a:r>
                    </a:p>
                  </a:txBody>
                  <a:tcPr marL="82296" marR="45720" marT="9144" marB="9144">
                    <a:solidFill>
                      <a:srgbClr val="F4EFE4"/>
                    </a:solidFill>
                  </a:tcPr>
                </a:tc>
              </a:tr>
              <a:tr h="320040">
                <a:tc>
                  <a:txBody>
                    <a:bodyPr/>
                    <a:lstStyle/>
                    <a:p>
                      <a:r>
                        <a:rPr sz="1050" b="1">
                          <a:solidFill>
                            <a:srgbClr val="8B0000"/>
                          </a:solidFill>
                          <a:latin typeface="Segoe UI"/>
                        </a:rPr>
                        <a:t>1969</a:t>
                      </a:r>
                    </a:p>
                  </a:txBody>
                  <a:tcPr marL="82296" marR="45720" marT="9144" marB="9144">
                    <a:solidFill>
                      <a:srgbClr val="FDFBF7"/>
                    </a:solidFill>
                  </a:tcPr>
                </a:tc>
                <a:tc>
                  <a:txBody>
                    <a:bodyPr/>
                    <a:lstStyle/>
                    <a:p>
                      <a:r>
                        <a:rPr sz="1050" b="0">
                          <a:solidFill>
                            <a:srgbClr val="1C1A17"/>
                          </a:solidFill>
                          <a:latin typeface="Segoe UI"/>
                        </a:rPr>
                        <a:t>Hà Nội</a:t>
                      </a:r>
                    </a:p>
                  </a:txBody>
                  <a:tcPr marL="82296" marR="45720" marT="9144" marB="9144">
                    <a:solidFill>
                      <a:srgbClr val="FDFBF7"/>
                    </a:solidFill>
                  </a:tcPr>
                </a:tc>
                <a:tc>
                  <a:txBody>
                    <a:bodyPr/>
                    <a:lstStyle/>
                    <a:p>
                      <a:r>
                        <a:rPr sz="1050" b="0">
                          <a:solidFill>
                            <a:srgbClr val="6B655E"/>
                          </a:solidFill>
                          <a:latin typeface="Segoe UI"/>
                        </a:rPr>
                        <a:t>Di sản</a:t>
                      </a:r>
                    </a:p>
                  </a:txBody>
                  <a:tcPr marL="82296" marR="45720" marT="9144" marB="9144">
                    <a:solidFill>
                      <a:srgbClr val="FDFBF7"/>
                    </a:solidFill>
                  </a:tcPr>
                </a:tc>
                <a:tc>
                  <a:txBody>
                    <a:bodyPr/>
                    <a:lstStyle/>
                    <a:p>
                      <a:r>
                        <a:rPr sz="1050" b="0">
                          <a:solidFill>
                            <a:srgbClr val="1C1A17"/>
                          </a:solidFill>
                          <a:latin typeface="Segoe UI"/>
                        </a:rPr>
                        <a:t>Tầm nhìn dài hạn và trách nhiệm với cộng đồng</a:t>
                      </a:r>
                    </a:p>
                  </a:txBody>
                  <a:tcPr marL="82296" marR="45720" marT="9144" marB="9144">
                    <a:solidFill>
                      <a:srgbClr val="FDFBF7"/>
                    </a:solidFill>
                  </a:tcPr>
                </a:tc>
              </a:tr>
              <a:tr h="320040">
                <a:tc>
                  <a:txBody>
                    <a:bodyPr/>
                    <a:lstStyle/>
                    <a:p>
                      <a:r>
                        <a:rPr sz="1050" b="1">
                          <a:solidFill>
                            <a:srgbClr val="8B0000"/>
                          </a:solidFill>
                          <a:latin typeface="Segoe UI"/>
                        </a:rPr>
                        <a:t>1975</a:t>
                      </a:r>
                    </a:p>
                  </a:txBody>
                  <a:tcPr marL="82296" marR="45720" marT="9144" marB="9144">
                    <a:solidFill>
                      <a:srgbClr val="F4EFE4"/>
                    </a:solidFill>
                  </a:tcPr>
                </a:tc>
                <a:tc>
                  <a:txBody>
                    <a:bodyPr/>
                    <a:lstStyle/>
                    <a:p>
                      <a:r>
                        <a:rPr sz="1050" b="0">
                          <a:solidFill>
                            <a:srgbClr val="1C1A17"/>
                          </a:solidFill>
                          <a:latin typeface="Segoe UI"/>
                        </a:rPr>
                        <a:t>Thành phố Hồ Chí Minh</a:t>
                      </a:r>
                    </a:p>
                  </a:txBody>
                  <a:tcPr marL="82296" marR="45720" marT="9144" marB="9144">
                    <a:solidFill>
                      <a:srgbClr val="F4EFE4"/>
                    </a:solidFill>
                  </a:tcPr>
                </a:tc>
                <a:tc>
                  <a:txBody>
                    <a:bodyPr/>
                    <a:lstStyle/>
                    <a:p>
                      <a:r>
                        <a:rPr sz="1050" b="0">
                          <a:solidFill>
                            <a:srgbClr val="6B655E"/>
                          </a:solidFill>
                          <a:latin typeface="Segoe UI"/>
                        </a:rPr>
                        <a:t>Di sản</a:t>
                      </a:r>
                    </a:p>
                  </a:txBody>
                  <a:tcPr marL="82296" marR="45720" marT="9144" marB="9144">
                    <a:solidFill>
                      <a:srgbClr val="F4EFE4"/>
                    </a:solidFill>
                  </a:tcPr>
                </a:tc>
                <a:tc>
                  <a:txBody>
                    <a:bodyPr/>
                    <a:lstStyle/>
                    <a:p>
                      <a:r>
                        <a:rPr sz="1050" b="0">
                          <a:solidFill>
                            <a:srgbClr val="1C1A17"/>
                          </a:solidFill>
                          <a:latin typeface="Segoe UI"/>
                        </a:rPr>
                        <a:t>Khát vọng thống nhất và giá trị của hòa bình</a:t>
                      </a:r>
                    </a:p>
                  </a:txBody>
                  <a:tcPr marL="82296" marR="45720" marT="9144" marB="9144">
                    <a:solidFill>
                      <a:srgbClr val="F4EFE4"/>
                    </a:solidFill>
                  </a:tcPr>
                </a:tc>
              </a:tr>
              <a:tr h="320040">
                <a:tc>
                  <a:txBody>
                    <a:bodyPr/>
                    <a:lstStyle/>
                    <a:p>
                      <a:r>
                        <a:rPr sz="1050" b="1">
                          <a:solidFill>
                            <a:srgbClr val="8B0000"/>
                          </a:solidFill>
                          <a:latin typeface="Segoe UI"/>
                        </a:rPr>
                        <a:t>1990</a:t>
                      </a:r>
                    </a:p>
                  </a:txBody>
                  <a:tcPr marL="82296" marR="45720" marT="9144" marB="9144">
                    <a:solidFill>
                      <a:srgbClr val="FDFBF7"/>
                    </a:solidFill>
                  </a:tcPr>
                </a:tc>
                <a:tc>
                  <a:txBody>
                    <a:bodyPr/>
                    <a:lstStyle/>
                    <a:p>
                      <a:r>
                        <a:rPr sz="1050" b="0">
                          <a:solidFill>
                            <a:srgbClr val="1C1A17"/>
                          </a:solidFill>
                          <a:latin typeface="Segoe UI"/>
                        </a:rPr>
                        <a:t>Kim Liên, Nghệ An</a:t>
                      </a:r>
                    </a:p>
                  </a:txBody>
                  <a:tcPr marL="82296" marR="45720" marT="9144" marB="9144">
                    <a:solidFill>
                      <a:srgbClr val="FDFBF7"/>
                    </a:solidFill>
                  </a:tcPr>
                </a:tc>
                <a:tc>
                  <a:txBody>
                    <a:bodyPr/>
                    <a:lstStyle/>
                    <a:p>
                      <a:r>
                        <a:rPr sz="1050" b="0">
                          <a:solidFill>
                            <a:srgbClr val="6B655E"/>
                          </a:solidFill>
                          <a:latin typeface="Segoe UI"/>
                        </a:rPr>
                        <a:t>Kỷ niệm</a:t>
                      </a:r>
                    </a:p>
                  </a:txBody>
                  <a:tcPr marL="82296" marR="45720" marT="9144" marB="9144">
                    <a:solidFill>
                      <a:srgbClr val="FDFBF7"/>
                    </a:solidFill>
                  </a:tcPr>
                </a:tc>
                <a:tc>
                  <a:txBody>
                    <a:bodyPr/>
                    <a:lstStyle/>
                    <a:p>
                      <a:r>
                        <a:rPr sz="1050" b="0">
                          <a:solidFill>
                            <a:srgbClr val="1C1A17"/>
                          </a:solidFill>
                          <a:latin typeface="Segoe UI"/>
                        </a:rPr>
                        <a:t>Ghi nhớ để tiếp tục xây dựng</a:t>
                      </a:r>
                    </a:p>
                  </a:txBody>
                  <a:tcPr marL="82296" marR="45720" marT="9144" marB="9144">
                    <a:solidFill>
                      <a:srgbClr val="FDFBF7"/>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9144000" cy="274320"/>
          </a:xfrm>
          <a:prstGeom prst="rect">
            <a:avLst/>
          </a:prstGeom>
          <a:noFill/>
        </p:spPr>
        <p:txBody>
          <a:bodyPr wrap="square" lIns="0" rIns="0" tIns="0" bIns="0" anchor="t">
            <a:spAutoFit/>
          </a:bodyPr>
          <a:lstStyle/>
          <a:p>
            <a:pPr algn="l">
              <a:lnSpc>
                <a:spcPct val="112000"/>
              </a:lnSpc>
              <a:spcAft>
                <a:spcPts val="0"/>
              </a:spcAft>
            </a:pPr>
            <a:r>
              <a:rPr sz="1250" b="1" i="0">
                <a:solidFill>
                  <a:srgbClr val="A8232A"/>
                </a:solidFill>
                <a:latin typeface="Segoe UI"/>
              </a:rPr>
              <a:t>4 · TRẠM HÀNH TRÌNH (TIẾP)</a:t>
            </a:r>
          </a:p>
        </p:txBody>
      </p:sp>
      <p:sp>
        <p:nvSpPr>
          <p:cNvPr id="4" name="TextBox 3"/>
          <p:cNvSpPr txBox="1"/>
          <p:nvPr/>
        </p:nvSpPr>
        <p:spPr>
          <a:xfrm>
            <a:off x="822960" y="868680"/>
            <a:ext cx="10424160" cy="822960"/>
          </a:xfrm>
          <a:prstGeom prst="rect">
            <a:avLst/>
          </a:prstGeom>
          <a:noFill/>
        </p:spPr>
        <p:txBody>
          <a:bodyPr wrap="square" lIns="0" rIns="0" tIns="0" bIns="0" anchor="t">
            <a:spAutoFit/>
          </a:bodyPr>
          <a:lstStyle/>
          <a:p>
            <a:pPr algn="l">
              <a:lnSpc>
                <a:spcPct val="112000"/>
              </a:lnSpc>
              <a:spcAft>
                <a:spcPts val="0"/>
              </a:spcAft>
            </a:pPr>
            <a:r>
              <a:rPr sz="3000" b="1" i="0">
                <a:solidFill>
                  <a:srgbClr val="1C1A17"/>
                </a:solidFill>
                <a:latin typeface="Georgia"/>
              </a:rPr>
              <a:t>Bên trong một mốc: ví dụ 1930 — Hồng Kông</a:t>
            </a:r>
          </a:p>
        </p:txBody>
      </p:sp>
      <p:sp>
        <p:nvSpPr>
          <p:cNvPr id="5" name="Rectangle 4"/>
          <p:cNvSpPr/>
          <p:nvPr/>
        </p:nvSpPr>
        <p:spPr>
          <a:xfrm>
            <a:off x="822960" y="1481328"/>
            <a:ext cx="1005840" cy="41148"/>
          </a:xfrm>
          <a:prstGeom prst="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22960" y="1783080"/>
            <a:ext cx="5029200" cy="4114800"/>
          </a:xfrm>
          <a:prstGeom prst="roundRect">
            <a:avLst>
              <a:gd name="adj" fmla="val 4000"/>
            </a:avLst>
          </a:prstGeom>
          <a:solidFill>
            <a:srgbClr val="1C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2057400"/>
            <a:ext cx="4389120" cy="274320"/>
          </a:xfrm>
          <a:prstGeom prst="rect">
            <a:avLst/>
          </a:prstGeom>
          <a:noFill/>
        </p:spPr>
        <p:txBody>
          <a:bodyPr wrap="square" lIns="0" rIns="0" tIns="0" bIns="0" anchor="t">
            <a:spAutoFit/>
          </a:bodyPr>
          <a:lstStyle/>
          <a:p>
            <a:pPr algn="l">
              <a:lnSpc>
                <a:spcPct val="112000"/>
              </a:lnSpc>
              <a:spcAft>
                <a:spcPts val="0"/>
              </a:spcAft>
            </a:pPr>
            <a:r>
              <a:rPr sz="1100" b="1" i="0">
                <a:solidFill>
                  <a:srgbClr val="D4AF37"/>
                </a:solidFill>
                <a:latin typeface="Segoe UI"/>
              </a:rPr>
              <a:t>TỔ CHỨC</a:t>
            </a:r>
          </a:p>
        </p:txBody>
      </p:sp>
      <p:sp>
        <p:nvSpPr>
          <p:cNvPr id="8" name="TextBox 7"/>
          <p:cNvSpPr txBox="1"/>
          <p:nvPr/>
        </p:nvSpPr>
        <p:spPr>
          <a:xfrm>
            <a:off x="1143000" y="2377440"/>
            <a:ext cx="4389120" cy="320040"/>
          </a:xfrm>
          <a:prstGeom prst="rect">
            <a:avLst/>
          </a:prstGeom>
          <a:noFill/>
        </p:spPr>
        <p:txBody>
          <a:bodyPr wrap="square" lIns="0" rIns="0" tIns="0" bIns="0" anchor="t">
            <a:spAutoFit/>
          </a:bodyPr>
          <a:lstStyle/>
          <a:p>
            <a:pPr algn="l">
              <a:lnSpc>
                <a:spcPct val="112000"/>
              </a:lnSpc>
              <a:spcAft>
                <a:spcPts val="0"/>
              </a:spcAft>
            </a:pPr>
            <a:r>
              <a:rPr sz="1300" b="0" i="0">
                <a:solidFill>
                  <a:srgbClr val="E7CD7A"/>
                </a:solidFill>
                <a:latin typeface="Segoe UI"/>
              </a:rPr>
              <a:t>Hồng Kông, Trung Quốc</a:t>
            </a:r>
          </a:p>
        </p:txBody>
      </p:sp>
      <p:sp>
        <p:nvSpPr>
          <p:cNvPr id="9" name="TextBox 8"/>
          <p:cNvSpPr txBox="1"/>
          <p:nvPr/>
        </p:nvSpPr>
        <p:spPr>
          <a:xfrm>
            <a:off x="1143000" y="2788920"/>
            <a:ext cx="4389120" cy="914400"/>
          </a:xfrm>
          <a:prstGeom prst="rect">
            <a:avLst/>
          </a:prstGeom>
          <a:noFill/>
        </p:spPr>
        <p:txBody>
          <a:bodyPr wrap="square" lIns="0" rIns="0" tIns="0" bIns="0" anchor="t">
            <a:spAutoFit/>
          </a:bodyPr>
          <a:lstStyle/>
          <a:p>
            <a:pPr algn="l">
              <a:lnSpc>
                <a:spcPct val="112000"/>
              </a:lnSpc>
              <a:spcAft>
                <a:spcPts val="0"/>
              </a:spcAft>
            </a:pPr>
            <a:r>
              <a:rPr sz="2200" b="1" i="0">
                <a:solidFill>
                  <a:srgbClr val="FDFBF7"/>
                </a:solidFill>
                <a:latin typeface="Georgia"/>
              </a:rPr>
              <a:t>Tổ chức và tìm điểm chung</a:t>
            </a:r>
          </a:p>
        </p:txBody>
      </p:sp>
      <p:sp>
        <p:nvSpPr>
          <p:cNvPr id="10" name="Rectangle 9"/>
          <p:cNvSpPr/>
          <p:nvPr/>
        </p:nvSpPr>
        <p:spPr>
          <a:xfrm>
            <a:off x="1143000" y="3886200"/>
            <a:ext cx="1371600" cy="27432"/>
          </a:xfrm>
          <a:prstGeom prst="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069080"/>
            <a:ext cx="4389120" cy="1463040"/>
          </a:xfrm>
          <a:prstGeom prst="rect">
            <a:avLst/>
          </a:prstGeom>
          <a:noFill/>
        </p:spPr>
        <p:txBody>
          <a:bodyPr wrap="square" lIns="0" rIns="0" tIns="0" bIns="0" anchor="t">
            <a:spAutoFit/>
          </a:bodyPr>
          <a:lstStyle/>
          <a:p>
            <a:pPr algn="l">
              <a:lnSpc>
                <a:spcPct val="112000"/>
              </a:lnSpc>
              <a:spcAft>
                <a:spcPts val="600"/>
              </a:spcAft>
            </a:pPr>
            <a:r>
              <a:rPr sz="950" b="1" i="0">
                <a:solidFill>
                  <a:srgbClr val="D4AF37"/>
                </a:solidFill>
                <a:latin typeface="Segoe UI"/>
              </a:rPr>
              <a:t>GHI CHÚ TƯ LIỆU</a:t>
            </a:r>
          </a:p>
          <a:p>
            <a:pPr algn="l">
              <a:lnSpc>
                <a:spcPct val="112000"/>
              </a:lnSpc>
              <a:spcAft>
                <a:spcPts val="600"/>
              </a:spcAft>
            </a:pPr>
            <a:r>
              <a:rPr sz="1200" b="0" i="1">
                <a:solidFill>
                  <a:srgbClr val="C9C2B8"/>
                </a:solidFill>
                <a:latin typeface="Segoe UI"/>
              </a:rPr>
              <a:t>Mốc tổ chức: tháng 2/1930; hội nghị diễn ra tại khu vực Cửu Long, Hồng Kông.</a:t>
            </a:r>
          </a:p>
        </p:txBody>
      </p:sp>
      <p:sp>
        <p:nvSpPr>
          <p:cNvPr id="12" name="Rounded Rectangle 11"/>
          <p:cNvSpPr/>
          <p:nvPr/>
        </p:nvSpPr>
        <p:spPr>
          <a:xfrm>
            <a:off x="6126480" y="1783080"/>
            <a:ext cx="5239512" cy="1298448"/>
          </a:xfrm>
          <a:prstGeom prst="roundRect">
            <a:avLst>
              <a:gd name="adj" fmla="val 7000"/>
            </a:avLst>
          </a:prstGeom>
          <a:solidFill>
            <a:srgbClr val="F4E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26480" y="1783080"/>
            <a:ext cx="64008" cy="1298448"/>
          </a:xfrm>
          <a:prstGeom prst="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1965960"/>
            <a:ext cx="4754880" cy="274320"/>
          </a:xfrm>
          <a:prstGeom prst="rect">
            <a:avLst/>
          </a:prstGeom>
          <a:noFill/>
        </p:spPr>
        <p:txBody>
          <a:bodyPr wrap="square" lIns="0" rIns="0" tIns="0" bIns="0" anchor="t">
            <a:spAutoFit/>
          </a:bodyPr>
          <a:lstStyle/>
          <a:p>
            <a:pPr algn="l">
              <a:lnSpc>
                <a:spcPct val="112000"/>
              </a:lnSpc>
              <a:spcAft>
                <a:spcPts val="0"/>
              </a:spcAft>
            </a:pPr>
            <a:r>
              <a:rPr sz="1050" b="1" i="0">
                <a:solidFill>
                  <a:srgbClr val="8B0000"/>
                </a:solidFill>
                <a:latin typeface="Segoe UI"/>
              </a:rPr>
              <a:t>SỰ KIỆN</a:t>
            </a:r>
          </a:p>
        </p:txBody>
      </p:sp>
      <p:sp>
        <p:nvSpPr>
          <p:cNvPr id="15" name="TextBox 14"/>
          <p:cNvSpPr txBox="1"/>
          <p:nvPr/>
        </p:nvSpPr>
        <p:spPr>
          <a:xfrm>
            <a:off x="6400800" y="2258568"/>
            <a:ext cx="4754880" cy="777240"/>
          </a:xfrm>
          <a:prstGeom prst="rect">
            <a:avLst/>
          </a:prstGeom>
          <a:noFill/>
        </p:spPr>
        <p:txBody>
          <a:bodyPr wrap="square" lIns="0" rIns="0" tIns="0" bIns="0" anchor="t">
            <a:spAutoFit/>
          </a:bodyPr>
          <a:lstStyle/>
          <a:p>
            <a:pPr algn="l">
              <a:lnSpc>
                <a:spcPct val="112000"/>
              </a:lnSpc>
              <a:spcAft>
                <a:spcPts val="0"/>
              </a:spcAft>
            </a:pPr>
            <a:r>
              <a:rPr sz="1250" b="0" i="0">
                <a:solidFill>
                  <a:srgbClr val="1C1A17"/>
                </a:solidFill>
                <a:latin typeface="Segoe UI"/>
              </a:rPr>
              <a:t>Đầu năm 1930, Nguyễn Ái Quốc chủ trì hội nghị hợp nhất các tổ chức cộng sản, dẫn tới sự ra đời của Đảng Cộng sản Việt Nam.</a:t>
            </a:r>
          </a:p>
        </p:txBody>
      </p:sp>
      <p:sp>
        <p:nvSpPr>
          <p:cNvPr id="16" name="Rounded Rectangle 15"/>
          <p:cNvSpPr/>
          <p:nvPr/>
        </p:nvSpPr>
        <p:spPr>
          <a:xfrm>
            <a:off x="6126480" y="3227832"/>
            <a:ext cx="5239512" cy="1298448"/>
          </a:xfrm>
          <a:prstGeom prst="roundRect">
            <a:avLst>
              <a:gd name="adj" fmla="val 7000"/>
            </a:avLst>
          </a:prstGeom>
          <a:solidFill>
            <a:srgbClr val="F4E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0" y="3227832"/>
            <a:ext cx="64008" cy="1298448"/>
          </a:xfrm>
          <a:prstGeom prst="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3410712"/>
            <a:ext cx="4754880" cy="274320"/>
          </a:xfrm>
          <a:prstGeom prst="rect">
            <a:avLst/>
          </a:prstGeom>
          <a:noFill/>
        </p:spPr>
        <p:txBody>
          <a:bodyPr wrap="square" lIns="0" rIns="0" tIns="0" bIns="0" anchor="t">
            <a:spAutoFit/>
          </a:bodyPr>
          <a:lstStyle/>
          <a:p>
            <a:pPr algn="l">
              <a:lnSpc>
                <a:spcPct val="112000"/>
              </a:lnSpc>
              <a:spcAft>
                <a:spcPts val="0"/>
              </a:spcAft>
            </a:pPr>
            <a:r>
              <a:rPr sz="1050" b="1" i="0">
                <a:solidFill>
                  <a:srgbClr val="8B0000"/>
                </a:solidFill>
                <a:latin typeface="Segoe UI"/>
              </a:rPr>
              <a:t>VÌ SAO QUAN TRỌNG</a:t>
            </a:r>
          </a:p>
        </p:txBody>
      </p:sp>
      <p:sp>
        <p:nvSpPr>
          <p:cNvPr id="19" name="TextBox 18"/>
          <p:cNvSpPr txBox="1"/>
          <p:nvPr/>
        </p:nvSpPr>
        <p:spPr>
          <a:xfrm>
            <a:off x="6400800" y="3703320"/>
            <a:ext cx="4754880" cy="777240"/>
          </a:xfrm>
          <a:prstGeom prst="rect">
            <a:avLst/>
          </a:prstGeom>
          <a:noFill/>
        </p:spPr>
        <p:txBody>
          <a:bodyPr wrap="square" lIns="0" rIns="0" tIns="0" bIns="0" anchor="t">
            <a:spAutoFit/>
          </a:bodyPr>
          <a:lstStyle/>
          <a:p>
            <a:pPr algn="l">
              <a:lnSpc>
                <a:spcPct val="112000"/>
              </a:lnSpc>
              <a:spcAft>
                <a:spcPts val="0"/>
              </a:spcAft>
            </a:pPr>
            <a:r>
              <a:rPr sz="1250" b="0" i="0">
                <a:solidFill>
                  <a:srgbClr val="1C1A17"/>
                </a:solidFill>
                <a:latin typeface="Segoe UI"/>
              </a:rPr>
              <a:t>Một mục tiêu chung chỉ trở thành sức mạnh khi được chuyển thành tổ chức, nguyên tắc phối hợp và trách nhiệm cụ thể.</a:t>
            </a:r>
          </a:p>
        </p:txBody>
      </p:sp>
      <p:sp>
        <p:nvSpPr>
          <p:cNvPr id="20" name="Rounded Rectangle 19"/>
          <p:cNvSpPr/>
          <p:nvPr/>
        </p:nvSpPr>
        <p:spPr>
          <a:xfrm>
            <a:off x="6126480" y="4672584"/>
            <a:ext cx="5239512" cy="1298448"/>
          </a:xfrm>
          <a:prstGeom prst="roundRect">
            <a:avLst>
              <a:gd name="adj" fmla="val 7000"/>
            </a:avLst>
          </a:prstGeom>
          <a:solidFill>
            <a:srgbClr val="F4E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26480" y="4672584"/>
            <a:ext cx="64008" cy="1298448"/>
          </a:xfrm>
          <a:prstGeom prst="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4855464"/>
            <a:ext cx="4754880" cy="274320"/>
          </a:xfrm>
          <a:prstGeom prst="rect">
            <a:avLst/>
          </a:prstGeom>
          <a:noFill/>
        </p:spPr>
        <p:txBody>
          <a:bodyPr wrap="square" lIns="0" rIns="0" tIns="0" bIns="0" anchor="t">
            <a:spAutoFit/>
          </a:bodyPr>
          <a:lstStyle/>
          <a:p>
            <a:pPr algn="l">
              <a:lnSpc>
                <a:spcPct val="112000"/>
              </a:lnSpc>
              <a:spcAft>
                <a:spcPts val="0"/>
              </a:spcAft>
            </a:pPr>
            <a:r>
              <a:rPr sz="1050" b="1" i="0">
                <a:solidFill>
                  <a:srgbClr val="8B0000"/>
                </a:solidFill>
                <a:latin typeface="Segoe UI"/>
              </a:rPr>
              <a:t>GỢI Ý HÔM NAY</a:t>
            </a:r>
          </a:p>
        </p:txBody>
      </p:sp>
      <p:sp>
        <p:nvSpPr>
          <p:cNvPr id="23" name="TextBox 22"/>
          <p:cNvSpPr txBox="1"/>
          <p:nvPr/>
        </p:nvSpPr>
        <p:spPr>
          <a:xfrm>
            <a:off x="6400800" y="5148072"/>
            <a:ext cx="4754880" cy="777240"/>
          </a:xfrm>
          <a:prstGeom prst="rect">
            <a:avLst/>
          </a:prstGeom>
          <a:noFill/>
        </p:spPr>
        <p:txBody>
          <a:bodyPr wrap="square" lIns="0" rIns="0" tIns="0" bIns="0" anchor="t">
            <a:spAutoFit/>
          </a:bodyPr>
          <a:lstStyle/>
          <a:p>
            <a:pPr algn="l">
              <a:lnSpc>
                <a:spcPct val="112000"/>
              </a:lnSpc>
              <a:spcAft>
                <a:spcPts val="0"/>
              </a:spcAft>
            </a:pPr>
            <a:r>
              <a:rPr sz="1250" b="0" i="0">
                <a:solidFill>
                  <a:srgbClr val="1C1A17"/>
                </a:solidFill>
                <a:latin typeface="Segoe UI"/>
              </a:rPr>
              <a:t>Đoàn kết không có nghĩa là xóa khác biệt. Một nhóm làm việc tốt cần mục tiêu chung, nguyên tắc trao đổi và người chịu trách nhiệm kết nối các góc nhìn.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9144000" cy="274320"/>
          </a:xfrm>
          <a:prstGeom prst="rect">
            <a:avLst/>
          </a:prstGeom>
          <a:noFill/>
        </p:spPr>
        <p:txBody>
          <a:bodyPr wrap="square" lIns="0" rIns="0" tIns="0" bIns="0" anchor="t">
            <a:spAutoFit/>
          </a:bodyPr>
          <a:lstStyle/>
          <a:p>
            <a:pPr algn="l">
              <a:lnSpc>
                <a:spcPct val="112000"/>
              </a:lnSpc>
              <a:spcAft>
                <a:spcPts val="0"/>
              </a:spcAft>
            </a:pPr>
            <a:r>
              <a:rPr sz="1250" b="1" i="0">
                <a:solidFill>
                  <a:srgbClr val="A8232A"/>
                </a:solidFill>
                <a:latin typeface="Segoe UI"/>
              </a:rPr>
              <a:t>5 · GÓC GEN Z</a:t>
            </a:r>
          </a:p>
        </p:txBody>
      </p:sp>
      <p:sp>
        <p:nvSpPr>
          <p:cNvPr id="4" name="TextBox 3"/>
          <p:cNvSpPr txBox="1"/>
          <p:nvPr/>
        </p:nvSpPr>
        <p:spPr>
          <a:xfrm>
            <a:off x="822960" y="868680"/>
            <a:ext cx="10424160" cy="822960"/>
          </a:xfrm>
          <a:prstGeom prst="rect">
            <a:avLst/>
          </a:prstGeom>
          <a:noFill/>
        </p:spPr>
        <p:txBody>
          <a:bodyPr wrap="square" lIns="0" rIns="0" tIns="0" bIns="0" anchor="t">
            <a:spAutoFit/>
          </a:bodyPr>
          <a:lstStyle/>
          <a:p>
            <a:pPr algn="l">
              <a:lnSpc>
                <a:spcPct val="112000"/>
              </a:lnSpc>
              <a:spcAft>
                <a:spcPts val="0"/>
              </a:spcAft>
            </a:pPr>
            <a:r>
              <a:rPr sz="3200" b="1" i="0">
                <a:solidFill>
                  <a:srgbClr val="1C1A17"/>
                </a:solidFill>
                <a:latin typeface="Georgia"/>
              </a:rPr>
              <a:t>Từ tư tưởng đến thói quen: 3 thẻ bài học</a:t>
            </a:r>
          </a:p>
        </p:txBody>
      </p:sp>
      <p:sp>
        <p:nvSpPr>
          <p:cNvPr id="5" name="Rectangle 4"/>
          <p:cNvSpPr/>
          <p:nvPr/>
        </p:nvSpPr>
        <p:spPr>
          <a:xfrm>
            <a:off x="822960" y="1481328"/>
            <a:ext cx="1005840" cy="41148"/>
          </a:xfrm>
          <a:prstGeom prst="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83080"/>
            <a:ext cx="10424160" cy="365760"/>
          </a:xfrm>
          <a:prstGeom prst="rect">
            <a:avLst/>
          </a:prstGeom>
          <a:noFill/>
        </p:spPr>
        <p:txBody>
          <a:bodyPr wrap="square" lIns="0" rIns="0" tIns="0" bIns="0" anchor="t">
            <a:spAutoFit/>
          </a:bodyPr>
          <a:lstStyle/>
          <a:p>
            <a:pPr algn="l">
              <a:lnSpc>
                <a:spcPct val="112000"/>
              </a:lnSpc>
              <a:spcAft>
                <a:spcPts val="0"/>
              </a:spcAft>
            </a:pPr>
            <a:r>
              <a:rPr sz="1300" b="0" i="0">
                <a:solidFill>
                  <a:srgbClr val="6B655E"/>
                </a:solidFill>
                <a:latin typeface="Segoe UI"/>
              </a:rPr>
              <a:t>Thẻ nghiêng 3D theo con trỏ; bấm "Đọc thêm" để mở phần phân tích đầy đủ.</a:t>
            </a:r>
          </a:p>
        </p:txBody>
      </p:sp>
      <p:sp>
        <p:nvSpPr>
          <p:cNvPr id="7" name="Rounded Rectangle 6"/>
          <p:cNvSpPr/>
          <p:nvPr/>
        </p:nvSpPr>
        <p:spPr>
          <a:xfrm>
            <a:off x="822960" y="2286000"/>
            <a:ext cx="3364992" cy="3840480"/>
          </a:xfrm>
          <a:prstGeom prst="roundRect">
            <a:avLst>
              <a:gd name="adj" fmla="val 5000"/>
            </a:avLst>
          </a:prstGeom>
          <a:solidFill>
            <a:srgbClr val="FDFBF7"/>
          </a:solidFill>
          <a:ln w="12700">
            <a:solidFill>
              <a:srgbClr val="E0D9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2286000"/>
            <a:ext cx="3364992" cy="68580"/>
          </a:xfrm>
          <a:prstGeom prst="rect">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7280" y="2560320"/>
            <a:ext cx="2423160" cy="292608"/>
          </a:xfrm>
          <a:prstGeom prst="roundRect">
            <a:avLst>
              <a:gd name="adj" fmla="val 50000"/>
            </a:avLst>
          </a:prstGeom>
          <a:solidFill>
            <a:srgbClr val="F6E9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615184"/>
            <a:ext cx="2423160" cy="201168"/>
          </a:xfrm>
          <a:prstGeom prst="rect">
            <a:avLst/>
          </a:prstGeom>
          <a:noFill/>
        </p:spPr>
        <p:txBody>
          <a:bodyPr wrap="square" lIns="0" rIns="0" tIns="0" bIns="0" anchor="t">
            <a:spAutoFit/>
          </a:bodyPr>
          <a:lstStyle/>
          <a:p>
            <a:pPr algn="ctr">
              <a:lnSpc>
                <a:spcPct val="112000"/>
              </a:lnSpc>
              <a:spcAft>
                <a:spcPts val="0"/>
              </a:spcAft>
            </a:pPr>
            <a:r>
              <a:rPr sz="1000" b="1" i="0">
                <a:solidFill>
                  <a:srgbClr val="8B0000"/>
                </a:solidFill>
                <a:latin typeface="Segoe UI"/>
              </a:rPr>
              <a:t>Thích ứng &amp; AI</a:t>
            </a:r>
          </a:p>
        </p:txBody>
      </p:sp>
      <p:sp>
        <p:nvSpPr>
          <p:cNvPr id="11" name="TextBox 10"/>
          <p:cNvSpPr txBox="1"/>
          <p:nvPr/>
        </p:nvSpPr>
        <p:spPr>
          <a:xfrm>
            <a:off x="1097280" y="3063240"/>
            <a:ext cx="2816352" cy="822960"/>
          </a:xfrm>
          <a:prstGeom prst="rect">
            <a:avLst/>
          </a:prstGeom>
          <a:noFill/>
        </p:spPr>
        <p:txBody>
          <a:bodyPr wrap="square" lIns="0" rIns="0" tIns="0" bIns="0" anchor="t">
            <a:spAutoFit/>
          </a:bodyPr>
          <a:lstStyle/>
          <a:p>
            <a:pPr algn="l">
              <a:lnSpc>
                <a:spcPct val="112000"/>
              </a:lnSpc>
              <a:spcAft>
                <a:spcPts val="0"/>
              </a:spcAft>
            </a:pPr>
            <a:r>
              <a:rPr sz="1650" b="1" i="0">
                <a:solidFill>
                  <a:srgbClr val="1C1A17"/>
                </a:solidFill>
                <a:latin typeface="Georgia"/>
              </a:rPr>
              <a:t>"Dĩ bất biến, ứng vạn biến" thời 4.0</a:t>
            </a:r>
          </a:p>
        </p:txBody>
      </p:sp>
      <p:sp>
        <p:nvSpPr>
          <p:cNvPr id="12" name="TextBox 11"/>
          <p:cNvSpPr txBox="1"/>
          <p:nvPr/>
        </p:nvSpPr>
        <p:spPr>
          <a:xfrm>
            <a:off x="1097280" y="3977639"/>
            <a:ext cx="2816352" cy="914400"/>
          </a:xfrm>
          <a:prstGeom prst="rect">
            <a:avLst/>
          </a:prstGeom>
          <a:noFill/>
        </p:spPr>
        <p:txBody>
          <a:bodyPr wrap="square" lIns="0" rIns="0" tIns="0" bIns="0" anchor="t">
            <a:spAutoFit/>
          </a:bodyPr>
          <a:lstStyle/>
          <a:p>
            <a:pPr algn="l">
              <a:lnSpc>
                <a:spcPct val="112000"/>
              </a:lnSpc>
              <a:spcAft>
                <a:spcPts val="0"/>
              </a:spcAft>
            </a:pPr>
            <a:r>
              <a:rPr sz="1200" b="0" i="1">
                <a:solidFill>
                  <a:srgbClr val="6B655E"/>
                </a:solidFill>
                <a:latin typeface="Segoe UI"/>
              </a:rPr>
              <a:t>Giữ vững giá trị cốt lõi trong khi mọi công cụ xung quanh liên tục đổi thay.</a:t>
            </a:r>
          </a:p>
        </p:txBody>
      </p:sp>
      <p:sp>
        <p:nvSpPr>
          <p:cNvPr id="13" name="Rectangle 12"/>
          <p:cNvSpPr/>
          <p:nvPr/>
        </p:nvSpPr>
        <p:spPr>
          <a:xfrm>
            <a:off x="1097280" y="5029200"/>
            <a:ext cx="914400" cy="27432"/>
          </a:xfrm>
          <a:prstGeom prst="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5138928"/>
            <a:ext cx="2816352" cy="914400"/>
          </a:xfrm>
          <a:prstGeom prst="rect">
            <a:avLst/>
          </a:prstGeom>
          <a:noFill/>
        </p:spPr>
        <p:txBody>
          <a:bodyPr wrap="square" lIns="0" rIns="0" tIns="0" bIns="0" anchor="t">
            <a:spAutoFit/>
          </a:bodyPr>
          <a:lstStyle/>
          <a:p>
            <a:pPr algn="l">
              <a:lnSpc>
                <a:spcPct val="112000"/>
              </a:lnSpc>
              <a:spcAft>
                <a:spcPts val="0"/>
              </a:spcAft>
            </a:pPr>
            <a:r>
              <a:rPr sz="1050" b="0" i="0">
                <a:solidFill>
                  <a:srgbClr val="1C1A17"/>
                </a:solidFill>
                <a:latin typeface="Segoe UI"/>
              </a:rPr>
              <a:t>Đây là một tinh thần được rút ra từ cách Người giữ vững đường lối trong những biến động lịch sử khó lường. Với Gen Z, cái bất biến có thể là giá trị…</a:t>
            </a:r>
          </a:p>
        </p:txBody>
      </p:sp>
      <p:sp>
        <p:nvSpPr>
          <p:cNvPr id="15" name="Rounded Rectangle 14"/>
          <p:cNvSpPr/>
          <p:nvPr/>
        </p:nvSpPr>
        <p:spPr>
          <a:xfrm>
            <a:off x="4407408" y="2286000"/>
            <a:ext cx="3364992" cy="3840480"/>
          </a:xfrm>
          <a:prstGeom prst="roundRect">
            <a:avLst>
              <a:gd name="adj" fmla="val 5000"/>
            </a:avLst>
          </a:prstGeom>
          <a:solidFill>
            <a:srgbClr val="FDFBF7"/>
          </a:solidFill>
          <a:ln w="12700">
            <a:solidFill>
              <a:srgbClr val="E0D9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07408" y="2286000"/>
            <a:ext cx="3364992" cy="68580"/>
          </a:xfrm>
          <a:prstGeom prst="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681728" y="2560320"/>
            <a:ext cx="2286000" cy="292608"/>
          </a:xfrm>
          <a:prstGeom prst="roundRect">
            <a:avLst>
              <a:gd name="adj" fmla="val 50000"/>
            </a:avLst>
          </a:prstGeom>
          <a:solidFill>
            <a:srgbClr val="F6E9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81728" y="2615184"/>
            <a:ext cx="2286000" cy="201168"/>
          </a:xfrm>
          <a:prstGeom prst="rect">
            <a:avLst/>
          </a:prstGeom>
          <a:noFill/>
        </p:spPr>
        <p:txBody>
          <a:bodyPr wrap="square" lIns="0" rIns="0" tIns="0" bIns="0" anchor="t">
            <a:spAutoFit/>
          </a:bodyPr>
          <a:lstStyle/>
          <a:p>
            <a:pPr algn="ctr">
              <a:lnSpc>
                <a:spcPct val="112000"/>
              </a:lnSpc>
              <a:spcAft>
                <a:spcPts val="0"/>
              </a:spcAft>
            </a:pPr>
            <a:r>
              <a:rPr sz="1000" b="1" i="0">
                <a:solidFill>
                  <a:srgbClr val="8B0000"/>
                </a:solidFill>
                <a:latin typeface="Segoe UI"/>
              </a:rPr>
              <a:t>Kỹ năng sống</a:t>
            </a:r>
          </a:p>
        </p:txBody>
      </p:sp>
      <p:sp>
        <p:nvSpPr>
          <p:cNvPr id="19" name="TextBox 18"/>
          <p:cNvSpPr txBox="1"/>
          <p:nvPr/>
        </p:nvSpPr>
        <p:spPr>
          <a:xfrm>
            <a:off x="4681728" y="3063240"/>
            <a:ext cx="2816352" cy="822960"/>
          </a:xfrm>
          <a:prstGeom prst="rect">
            <a:avLst/>
          </a:prstGeom>
          <a:noFill/>
        </p:spPr>
        <p:txBody>
          <a:bodyPr wrap="square" lIns="0" rIns="0" tIns="0" bIns="0" anchor="t">
            <a:spAutoFit/>
          </a:bodyPr>
          <a:lstStyle/>
          <a:p>
            <a:pPr algn="l">
              <a:lnSpc>
                <a:spcPct val="112000"/>
              </a:lnSpc>
              <a:spcAft>
                <a:spcPts val="0"/>
              </a:spcAft>
            </a:pPr>
            <a:r>
              <a:rPr sz="1650" b="1" i="0">
                <a:solidFill>
                  <a:srgbClr val="1C1A17"/>
                </a:solidFill>
                <a:latin typeface="Georgia"/>
              </a:rPr>
              <a:t>Cần – Kiệm – Liêm – Chính thời Gen Z</a:t>
            </a:r>
          </a:p>
        </p:txBody>
      </p:sp>
      <p:sp>
        <p:nvSpPr>
          <p:cNvPr id="20" name="TextBox 19"/>
          <p:cNvSpPr txBox="1"/>
          <p:nvPr/>
        </p:nvSpPr>
        <p:spPr>
          <a:xfrm>
            <a:off x="4681728" y="3977639"/>
            <a:ext cx="2816352" cy="914400"/>
          </a:xfrm>
          <a:prstGeom prst="rect">
            <a:avLst/>
          </a:prstGeom>
          <a:noFill/>
        </p:spPr>
        <p:txBody>
          <a:bodyPr wrap="square" lIns="0" rIns="0" tIns="0" bIns="0" anchor="t">
            <a:spAutoFit/>
          </a:bodyPr>
          <a:lstStyle/>
          <a:p>
            <a:pPr algn="l">
              <a:lnSpc>
                <a:spcPct val="112000"/>
              </a:lnSpc>
              <a:spcAft>
                <a:spcPts val="0"/>
              </a:spcAft>
            </a:pPr>
            <a:r>
              <a:rPr sz="1200" b="0" i="1">
                <a:solidFill>
                  <a:srgbClr val="6B655E"/>
                </a:solidFill>
                <a:latin typeface="Segoe UI"/>
              </a:rPr>
              <a:t>Bốn chữ cũ, bốn thói quen rất mới: quản lý thời gian, tài chính, bản quyền, ứng xử online.</a:t>
            </a:r>
          </a:p>
        </p:txBody>
      </p:sp>
      <p:sp>
        <p:nvSpPr>
          <p:cNvPr id="21" name="Rectangle 20"/>
          <p:cNvSpPr/>
          <p:nvPr/>
        </p:nvSpPr>
        <p:spPr>
          <a:xfrm>
            <a:off x="4681728" y="5029200"/>
            <a:ext cx="914400" cy="27432"/>
          </a:xfrm>
          <a:prstGeom prst="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81728" y="5138928"/>
            <a:ext cx="2816352" cy="914400"/>
          </a:xfrm>
          <a:prstGeom prst="rect">
            <a:avLst/>
          </a:prstGeom>
          <a:noFill/>
        </p:spPr>
        <p:txBody>
          <a:bodyPr wrap="square" lIns="0" rIns="0" tIns="0" bIns="0" anchor="t">
            <a:spAutoFit/>
          </a:bodyPr>
          <a:lstStyle/>
          <a:p>
            <a:pPr algn="l">
              <a:lnSpc>
                <a:spcPct val="112000"/>
              </a:lnSpc>
              <a:spcAft>
                <a:spcPts val="0"/>
              </a:spcAft>
            </a:pPr>
            <a:r>
              <a:rPr sz="1050" b="0" i="0">
                <a:solidFill>
                  <a:srgbClr val="1C1A17"/>
                </a:solidFill>
                <a:latin typeface="Segoe UI"/>
              </a:rPr>
              <a:t>Đây là những giá trị được Người nhấn mạnh và vẫn còn nguyên giá trị trong thời đại số. Cần là kỷ luật với thời gian biểu cá nhân thay vì để thuật…</a:t>
            </a:r>
          </a:p>
        </p:txBody>
      </p:sp>
      <p:sp>
        <p:nvSpPr>
          <p:cNvPr id="23" name="Rounded Rectangle 22"/>
          <p:cNvSpPr/>
          <p:nvPr/>
        </p:nvSpPr>
        <p:spPr>
          <a:xfrm>
            <a:off x="7991856" y="2286000"/>
            <a:ext cx="3364992" cy="3840480"/>
          </a:xfrm>
          <a:prstGeom prst="roundRect">
            <a:avLst>
              <a:gd name="adj" fmla="val 5000"/>
            </a:avLst>
          </a:prstGeom>
          <a:solidFill>
            <a:srgbClr val="FDFBF7"/>
          </a:solidFill>
          <a:ln w="12700">
            <a:solidFill>
              <a:srgbClr val="E0D9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991856" y="2286000"/>
            <a:ext cx="3364992" cy="68580"/>
          </a:xfrm>
          <a:prstGeom prst="rect">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266176" y="2560320"/>
            <a:ext cx="2560320" cy="292608"/>
          </a:xfrm>
          <a:prstGeom prst="roundRect">
            <a:avLst>
              <a:gd name="adj" fmla="val 50000"/>
            </a:avLst>
          </a:prstGeom>
          <a:solidFill>
            <a:srgbClr val="F6E9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66176" y="2615184"/>
            <a:ext cx="2560320" cy="201168"/>
          </a:xfrm>
          <a:prstGeom prst="rect">
            <a:avLst/>
          </a:prstGeom>
          <a:noFill/>
        </p:spPr>
        <p:txBody>
          <a:bodyPr wrap="square" lIns="0" rIns="0" tIns="0" bIns="0" anchor="t">
            <a:spAutoFit/>
          </a:bodyPr>
          <a:lstStyle/>
          <a:p>
            <a:pPr algn="ctr">
              <a:lnSpc>
                <a:spcPct val="112000"/>
              </a:lnSpc>
              <a:spcAft>
                <a:spcPts val="0"/>
              </a:spcAft>
            </a:pPr>
            <a:r>
              <a:rPr sz="1000" b="1" i="0">
                <a:solidFill>
                  <a:srgbClr val="8B0000"/>
                </a:solidFill>
                <a:latin typeface="Segoe UI"/>
              </a:rPr>
              <a:t>Học tập suốt đời</a:t>
            </a:r>
          </a:p>
        </p:txBody>
      </p:sp>
      <p:sp>
        <p:nvSpPr>
          <p:cNvPr id="27" name="TextBox 26"/>
          <p:cNvSpPr txBox="1"/>
          <p:nvPr/>
        </p:nvSpPr>
        <p:spPr>
          <a:xfrm>
            <a:off x="8266176" y="3063240"/>
            <a:ext cx="2816352" cy="822960"/>
          </a:xfrm>
          <a:prstGeom prst="rect">
            <a:avLst/>
          </a:prstGeom>
          <a:noFill/>
        </p:spPr>
        <p:txBody>
          <a:bodyPr wrap="square" lIns="0" rIns="0" tIns="0" bIns="0" anchor="t">
            <a:spAutoFit/>
          </a:bodyPr>
          <a:lstStyle/>
          <a:p>
            <a:pPr algn="l">
              <a:lnSpc>
                <a:spcPct val="112000"/>
              </a:lnSpc>
              <a:spcAft>
                <a:spcPts val="0"/>
              </a:spcAft>
            </a:pPr>
            <a:r>
              <a:rPr sz="1650" b="1" i="0">
                <a:solidFill>
                  <a:srgbClr val="1C1A17"/>
                </a:solidFill>
                <a:latin typeface="Georgia"/>
              </a:rPr>
              <a:t>Tự học theo chân Bác</a:t>
            </a:r>
          </a:p>
        </p:txBody>
      </p:sp>
      <p:sp>
        <p:nvSpPr>
          <p:cNvPr id="28" name="TextBox 27"/>
          <p:cNvSpPr txBox="1"/>
          <p:nvPr/>
        </p:nvSpPr>
        <p:spPr>
          <a:xfrm>
            <a:off x="8266176" y="3977639"/>
            <a:ext cx="2816352" cy="914400"/>
          </a:xfrm>
          <a:prstGeom prst="rect">
            <a:avLst/>
          </a:prstGeom>
          <a:noFill/>
        </p:spPr>
        <p:txBody>
          <a:bodyPr wrap="square" lIns="0" rIns="0" tIns="0" bIns="0" anchor="t">
            <a:spAutoFit/>
          </a:bodyPr>
          <a:lstStyle/>
          <a:p>
            <a:pPr algn="l">
              <a:lnSpc>
                <a:spcPct val="112000"/>
              </a:lnSpc>
              <a:spcAft>
                <a:spcPts val="0"/>
              </a:spcAft>
            </a:pPr>
            <a:r>
              <a:rPr sz="1200" b="0" i="1">
                <a:solidFill>
                  <a:srgbClr val="6B655E"/>
                </a:solidFill>
                <a:latin typeface="Segoe UI"/>
              </a:rPr>
              <a:t>Không chờ một môi trường lý tưởng, mà chủ động biến hoàn cảnh thành bài học.</a:t>
            </a:r>
          </a:p>
        </p:txBody>
      </p:sp>
      <p:sp>
        <p:nvSpPr>
          <p:cNvPr id="29" name="Rectangle 28"/>
          <p:cNvSpPr/>
          <p:nvPr/>
        </p:nvSpPr>
        <p:spPr>
          <a:xfrm>
            <a:off x="8266176" y="5029200"/>
            <a:ext cx="914400" cy="27432"/>
          </a:xfrm>
          <a:prstGeom prst="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66176" y="5138928"/>
            <a:ext cx="2816352" cy="914400"/>
          </a:xfrm>
          <a:prstGeom prst="rect">
            <a:avLst/>
          </a:prstGeom>
          <a:noFill/>
        </p:spPr>
        <p:txBody>
          <a:bodyPr wrap="square" lIns="0" rIns="0" tIns="0" bIns="0" anchor="t">
            <a:spAutoFit/>
          </a:bodyPr>
          <a:lstStyle/>
          <a:p>
            <a:pPr algn="l">
              <a:lnSpc>
                <a:spcPct val="112000"/>
              </a:lnSpc>
              <a:spcAft>
                <a:spcPts val="0"/>
              </a:spcAft>
            </a:pPr>
            <a:r>
              <a:rPr sz="1050" b="0" i="0">
                <a:solidFill>
                  <a:srgbClr val="1C1A17"/>
                </a:solidFill>
                <a:latin typeface="Segoe UI"/>
              </a:rPr>
              <a:t>Không phải lấy một câu nói làm khuôn mẫu, mà là học cách chủ động tự tìm tri thức. Người từng tiếp cận kiến thức qua công việc, qua sách báo và qua…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9144000" cy="274320"/>
          </a:xfrm>
          <a:prstGeom prst="rect">
            <a:avLst/>
          </a:prstGeom>
          <a:noFill/>
        </p:spPr>
        <p:txBody>
          <a:bodyPr wrap="square" lIns="0" rIns="0" tIns="0" bIns="0" anchor="t">
            <a:spAutoFit/>
          </a:bodyPr>
          <a:lstStyle/>
          <a:p>
            <a:pPr algn="l">
              <a:lnSpc>
                <a:spcPct val="112000"/>
              </a:lnSpc>
              <a:spcAft>
                <a:spcPts val="0"/>
              </a:spcAft>
            </a:pPr>
            <a:r>
              <a:rPr sz="1250" b="1" i="0">
                <a:solidFill>
                  <a:srgbClr val="A8232A"/>
                </a:solidFill>
                <a:latin typeface="Segoe UI"/>
              </a:rPr>
              <a:t>5 · GÓC GEN Z (TIẾP)</a:t>
            </a:r>
          </a:p>
        </p:txBody>
      </p:sp>
      <p:sp>
        <p:nvSpPr>
          <p:cNvPr id="4" name="TextBox 3"/>
          <p:cNvSpPr txBox="1"/>
          <p:nvPr/>
        </p:nvSpPr>
        <p:spPr>
          <a:xfrm>
            <a:off x="822960" y="868680"/>
            <a:ext cx="10424160" cy="822960"/>
          </a:xfrm>
          <a:prstGeom prst="rect">
            <a:avLst/>
          </a:prstGeom>
          <a:noFill/>
        </p:spPr>
        <p:txBody>
          <a:bodyPr wrap="square" lIns="0" rIns="0" tIns="0" bIns="0" anchor="t">
            <a:spAutoFit/>
          </a:bodyPr>
          <a:lstStyle/>
          <a:p>
            <a:pPr algn="l">
              <a:lnSpc>
                <a:spcPct val="112000"/>
              </a:lnSpc>
              <a:spcAft>
                <a:spcPts val="0"/>
              </a:spcAft>
            </a:pPr>
            <a:r>
              <a:rPr sz="3200" b="1" i="0">
                <a:solidFill>
                  <a:srgbClr val="1C1A17"/>
                </a:solidFill>
                <a:latin typeface="Georgia"/>
              </a:rPr>
              <a:t>Cần – Kiệm – Liêm – Chính trong đời sống số</a:t>
            </a:r>
          </a:p>
        </p:txBody>
      </p:sp>
      <p:sp>
        <p:nvSpPr>
          <p:cNvPr id="5" name="Rectangle 4"/>
          <p:cNvSpPr/>
          <p:nvPr/>
        </p:nvSpPr>
        <p:spPr>
          <a:xfrm>
            <a:off x="822960" y="1481328"/>
            <a:ext cx="1005840" cy="41148"/>
          </a:xfrm>
          <a:prstGeom prst="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22960" y="1874519"/>
            <a:ext cx="2578608" cy="3246120"/>
          </a:xfrm>
          <a:prstGeom prst="roundRect">
            <a:avLst>
              <a:gd name="adj" fmla="val 5000"/>
            </a:avLst>
          </a:prstGeom>
          <a:solidFill>
            <a:srgbClr val="F4E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1874519"/>
            <a:ext cx="2578608" cy="658368"/>
          </a:xfrm>
          <a:prstGeom prst="rect">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011680"/>
            <a:ext cx="2578608" cy="411480"/>
          </a:xfrm>
          <a:prstGeom prst="rect">
            <a:avLst/>
          </a:prstGeom>
          <a:noFill/>
        </p:spPr>
        <p:txBody>
          <a:bodyPr wrap="square" lIns="0" rIns="0" tIns="0" bIns="0" anchor="t">
            <a:spAutoFit/>
          </a:bodyPr>
          <a:lstStyle/>
          <a:p>
            <a:pPr algn="ctr">
              <a:lnSpc>
                <a:spcPct val="112000"/>
              </a:lnSpc>
              <a:spcAft>
                <a:spcPts val="0"/>
              </a:spcAft>
            </a:pPr>
            <a:r>
              <a:rPr sz="2000" b="1" i="0">
                <a:solidFill>
                  <a:srgbClr val="E7CD7A"/>
                </a:solidFill>
                <a:latin typeface="Georgia"/>
              </a:rPr>
              <a:t>CẦN</a:t>
            </a:r>
          </a:p>
        </p:txBody>
      </p:sp>
      <p:sp>
        <p:nvSpPr>
          <p:cNvPr id="9" name="TextBox 8"/>
          <p:cNvSpPr txBox="1"/>
          <p:nvPr/>
        </p:nvSpPr>
        <p:spPr>
          <a:xfrm>
            <a:off x="1060704" y="2743200"/>
            <a:ext cx="2103120" cy="457200"/>
          </a:xfrm>
          <a:prstGeom prst="rect">
            <a:avLst/>
          </a:prstGeom>
          <a:noFill/>
        </p:spPr>
        <p:txBody>
          <a:bodyPr wrap="square" lIns="0" rIns="0" tIns="0" bIns="0" anchor="t">
            <a:spAutoFit/>
          </a:bodyPr>
          <a:lstStyle/>
          <a:p>
            <a:pPr algn="l">
              <a:lnSpc>
                <a:spcPct val="112000"/>
              </a:lnSpc>
              <a:spcAft>
                <a:spcPts val="0"/>
              </a:spcAft>
            </a:pPr>
            <a:r>
              <a:rPr sz="1400" b="1" i="0">
                <a:solidFill>
                  <a:srgbClr val="8B0000"/>
                </a:solidFill>
                <a:latin typeface="Segoe UI"/>
              </a:rPr>
              <a:t>Kỷ luật với thời gian</a:t>
            </a:r>
          </a:p>
        </p:txBody>
      </p:sp>
      <p:sp>
        <p:nvSpPr>
          <p:cNvPr id="10" name="TextBox 9"/>
          <p:cNvSpPr txBox="1"/>
          <p:nvPr/>
        </p:nvSpPr>
        <p:spPr>
          <a:xfrm>
            <a:off x="1060704" y="3291840"/>
            <a:ext cx="2103120" cy="1645920"/>
          </a:xfrm>
          <a:prstGeom prst="rect">
            <a:avLst/>
          </a:prstGeom>
          <a:noFill/>
        </p:spPr>
        <p:txBody>
          <a:bodyPr wrap="square" lIns="0" rIns="0" tIns="0" bIns="0" anchor="t">
            <a:spAutoFit/>
          </a:bodyPr>
          <a:lstStyle/>
          <a:p>
            <a:pPr algn="l">
              <a:lnSpc>
                <a:spcPct val="112000"/>
              </a:lnSpc>
              <a:spcAft>
                <a:spcPts val="0"/>
              </a:spcAft>
            </a:pPr>
            <a:r>
              <a:rPr sz="1200" b="0" i="0">
                <a:solidFill>
                  <a:srgbClr val="1C1A17"/>
                </a:solidFill>
                <a:latin typeface="Segoe UI"/>
              </a:rPr>
              <a:t>Tự chủ thời gian biểu cá nhân, không để thuật toán mạng xã hội quyết định một ngày của mình.</a:t>
            </a:r>
          </a:p>
        </p:txBody>
      </p:sp>
      <p:sp>
        <p:nvSpPr>
          <p:cNvPr id="11" name="Rounded Rectangle 10"/>
          <p:cNvSpPr/>
          <p:nvPr/>
        </p:nvSpPr>
        <p:spPr>
          <a:xfrm>
            <a:off x="3621023" y="1874519"/>
            <a:ext cx="2578608" cy="3246120"/>
          </a:xfrm>
          <a:prstGeom prst="roundRect">
            <a:avLst>
              <a:gd name="adj" fmla="val 5000"/>
            </a:avLst>
          </a:prstGeom>
          <a:solidFill>
            <a:srgbClr val="F4E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21023" y="1874519"/>
            <a:ext cx="2578608" cy="658368"/>
          </a:xfrm>
          <a:prstGeom prst="rect">
            <a:avLst/>
          </a:prstGeom>
          <a:solidFill>
            <a:srgbClr val="5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21023" y="2011680"/>
            <a:ext cx="2578608" cy="411480"/>
          </a:xfrm>
          <a:prstGeom prst="rect">
            <a:avLst/>
          </a:prstGeom>
          <a:noFill/>
        </p:spPr>
        <p:txBody>
          <a:bodyPr wrap="square" lIns="0" rIns="0" tIns="0" bIns="0" anchor="t">
            <a:spAutoFit/>
          </a:bodyPr>
          <a:lstStyle/>
          <a:p>
            <a:pPr algn="ctr">
              <a:lnSpc>
                <a:spcPct val="112000"/>
              </a:lnSpc>
              <a:spcAft>
                <a:spcPts val="0"/>
              </a:spcAft>
            </a:pPr>
            <a:r>
              <a:rPr sz="2000" b="1" i="0">
                <a:solidFill>
                  <a:srgbClr val="E7CD7A"/>
                </a:solidFill>
                <a:latin typeface="Georgia"/>
              </a:rPr>
              <a:t>KIỆM</a:t>
            </a:r>
          </a:p>
        </p:txBody>
      </p:sp>
      <p:sp>
        <p:nvSpPr>
          <p:cNvPr id="14" name="TextBox 13"/>
          <p:cNvSpPr txBox="1"/>
          <p:nvPr/>
        </p:nvSpPr>
        <p:spPr>
          <a:xfrm>
            <a:off x="3858768" y="2743200"/>
            <a:ext cx="2103120" cy="457200"/>
          </a:xfrm>
          <a:prstGeom prst="rect">
            <a:avLst/>
          </a:prstGeom>
          <a:noFill/>
        </p:spPr>
        <p:txBody>
          <a:bodyPr wrap="square" lIns="0" rIns="0" tIns="0" bIns="0" anchor="t">
            <a:spAutoFit/>
          </a:bodyPr>
          <a:lstStyle/>
          <a:p>
            <a:pPr algn="l">
              <a:lnSpc>
                <a:spcPct val="112000"/>
              </a:lnSpc>
              <a:spcAft>
                <a:spcPts val="0"/>
              </a:spcAft>
            </a:pPr>
            <a:r>
              <a:rPr sz="1400" b="1" i="0">
                <a:solidFill>
                  <a:srgbClr val="8B0000"/>
                </a:solidFill>
                <a:latin typeface="Segoe UI"/>
              </a:rPr>
              <a:t>Chi tiêu có kế hoạch</a:t>
            </a:r>
          </a:p>
        </p:txBody>
      </p:sp>
      <p:sp>
        <p:nvSpPr>
          <p:cNvPr id="15" name="TextBox 14"/>
          <p:cNvSpPr txBox="1"/>
          <p:nvPr/>
        </p:nvSpPr>
        <p:spPr>
          <a:xfrm>
            <a:off x="3858768" y="3291840"/>
            <a:ext cx="2103120" cy="1645920"/>
          </a:xfrm>
          <a:prstGeom prst="rect">
            <a:avLst/>
          </a:prstGeom>
          <a:noFill/>
        </p:spPr>
        <p:txBody>
          <a:bodyPr wrap="square" lIns="0" rIns="0" tIns="0" bIns="0" anchor="t">
            <a:spAutoFit/>
          </a:bodyPr>
          <a:lstStyle/>
          <a:p>
            <a:pPr algn="l">
              <a:lnSpc>
                <a:spcPct val="112000"/>
              </a:lnSpc>
              <a:spcAft>
                <a:spcPts val="0"/>
              </a:spcAft>
            </a:pPr>
            <a:r>
              <a:rPr sz="1200" b="0" i="0">
                <a:solidFill>
                  <a:srgbClr val="1C1A17"/>
                </a:solidFill>
                <a:latin typeface="Segoe UI"/>
              </a:rPr>
              <a:t>Không chạy theo áp lực tiêu dùng; nhìn thẳng vào số liệu chi tiêu thật trước khi quyết định.</a:t>
            </a:r>
          </a:p>
        </p:txBody>
      </p:sp>
      <p:sp>
        <p:nvSpPr>
          <p:cNvPr id="16" name="Rounded Rectangle 15"/>
          <p:cNvSpPr/>
          <p:nvPr/>
        </p:nvSpPr>
        <p:spPr>
          <a:xfrm>
            <a:off x="6419088" y="1874519"/>
            <a:ext cx="2578608" cy="3246120"/>
          </a:xfrm>
          <a:prstGeom prst="roundRect">
            <a:avLst>
              <a:gd name="adj" fmla="val 5000"/>
            </a:avLst>
          </a:prstGeom>
          <a:solidFill>
            <a:srgbClr val="F4E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19088" y="1874519"/>
            <a:ext cx="2578608" cy="658368"/>
          </a:xfrm>
          <a:prstGeom prst="rect">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088" y="2011680"/>
            <a:ext cx="2578608" cy="411480"/>
          </a:xfrm>
          <a:prstGeom prst="rect">
            <a:avLst/>
          </a:prstGeom>
          <a:noFill/>
        </p:spPr>
        <p:txBody>
          <a:bodyPr wrap="square" lIns="0" rIns="0" tIns="0" bIns="0" anchor="t">
            <a:spAutoFit/>
          </a:bodyPr>
          <a:lstStyle/>
          <a:p>
            <a:pPr algn="ctr">
              <a:lnSpc>
                <a:spcPct val="112000"/>
              </a:lnSpc>
              <a:spcAft>
                <a:spcPts val="0"/>
              </a:spcAft>
            </a:pPr>
            <a:r>
              <a:rPr sz="2000" b="1" i="0">
                <a:solidFill>
                  <a:srgbClr val="E7CD7A"/>
                </a:solidFill>
                <a:latin typeface="Georgia"/>
              </a:rPr>
              <a:t>LIÊM</a:t>
            </a:r>
          </a:p>
        </p:txBody>
      </p:sp>
      <p:sp>
        <p:nvSpPr>
          <p:cNvPr id="19" name="TextBox 18"/>
          <p:cNvSpPr txBox="1"/>
          <p:nvPr/>
        </p:nvSpPr>
        <p:spPr>
          <a:xfrm>
            <a:off x="6656831" y="2743200"/>
            <a:ext cx="2103120" cy="457200"/>
          </a:xfrm>
          <a:prstGeom prst="rect">
            <a:avLst/>
          </a:prstGeom>
          <a:noFill/>
        </p:spPr>
        <p:txBody>
          <a:bodyPr wrap="square" lIns="0" rIns="0" tIns="0" bIns="0" anchor="t">
            <a:spAutoFit/>
          </a:bodyPr>
          <a:lstStyle/>
          <a:p>
            <a:pPr algn="l">
              <a:lnSpc>
                <a:spcPct val="112000"/>
              </a:lnSpc>
              <a:spcAft>
                <a:spcPts val="0"/>
              </a:spcAft>
            </a:pPr>
            <a:r>
              <a:rPr sz="1400" b="1" i="0">
                <a:solidFill>
                  <a:srgbClr val="8B0000"/>
                </a:solidFill>
                <a:latin typeface="Segoe UI"/>
              </a:rPr>
              <a:t>Tôn trọng bản quyền số</a:t>
            </a:r>
          </a:p>
        </p:txBody>
      </p:sp>
      <p:sp>
        <p:nvSpPr>
          <p:cNvPr id="20" name="TextBox 19"/>
          <p:cNvSpPr txBox="1"/>
          <p:nvPr/>
        </p:nvSpPr>
        <p:spPr>
          <a:xfrm>
            <a:off x="6656831" y="3291840"/>
            <a:ext cx="2103120" cy="1645920"/>
          </a:xfrm>
          <a:prstGeom prst="rect">
            <a:avLst/>
          </a:prstGeom>
          <a:noFill/>
        </p:spPr>
        <p:txBody>
          <a:bodyPr wrap="square" lIns="0" rIns="0" tIns="0" bIns="0" anchor="t">
            <a:spAutoFit/>
          </a:bodyPr>
          <a:lstStyle/>
          <a:p>
            <a:pPr algn="l">
              <a:lnSpc>
                <a:spcPct val="112000"/>
              </a:lnSpc>
              <a:spcAft>
                <a:spcPts val="0"/>
              </a:spcAft>
            </a:pPr>
            <a:r>
              <a:rPr sz="1200" b="0" i="0">
                <a:solidFill>
                  <a:srgbClr val="1C1A17"/>
                </a:solidFill>
                <a:latin typeface="Segoe UI"/>
              </a:rPr>
              <a:t>Tôn trọng công sức trí tuệ của người khác — ghi nguồn, xin phép, không "xào" nội dung.</a:t>
            </a:r>
          </a:p>
        </p:txBody>
      </p:sp>
      <p:sp>
        <p:nvSpPr>
          <p:cNvPr id="21" name="Rounded Rectangle 20"/>
          <p:cNvSpPr/>
          <p:nvPr/>
        </p:nvSpPr>
        <p:spPr>
          <a:xfrm>
            <a:off x="9217152" y="1874519"/>
            <a:ext cx="2578608" cy="3246120"/>
          </a:xfrm>
          <a:prstGeom prst="roundRect">
            <a:avLst>
              <a:gd name="adj" fmla="val 5000"/>
            </a:avLst>
          </a:prstGeom>
          <a:solidFill>
            <a:srgbClr val="F4E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217152" y="1874519"/>
            <a:ext cx="2578608" cy="658368"/>
          </a:xfrm>
          <a:prstGeom prst="rect">
            <a:avLst/>
          </a:prstGeom>
          <a:solidFill>
            <a:srgbClr val="5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17152" y="2011680"/>
            <a:ext cx="2578608" cy="411480"/>
          </a:xfrm>
          <a:prstGeom prst="rect">
            <a:avLst/>
          </a:prstGeom>
          <a:noFill/>
        </p:spPr>
        <p:txBody>
          <a:bodyPr wrap="square" lIns="0" rIns="0" tIns="0" bIns="0" anchor="t">
            <a:spAutoFit/>
          </a:bodyPr>
          <a:lstStyle/>
          <a:p>
            <a:pPr algn="ctr">
              <a:lnSpc>
                <a:spcPct val="112000"/>
              </a:lnSpc>
              <a:spcAft>
                <a:spcPts val="0"/>
              </a:spcAft>
            </a:pPr>
            <a:r>
              <a:rPr sz="2000" b="1" i="0">
                <a:solidFill>
                  <a:srgbClr val="E7CD7A"/>
                </a:solidFill>
                <a:latin typeface="Georgia"/>
              </a:rPr>
              <a:t>CHÍNH</a:t>
            </a:r>
          </a:p>
        </p:txBody>
      </p:sp>
      <p:sp>
        <p:nvSpPr>
          <p:cNvPr id="24" name="TextBox 23"/>
          <p:cNvSpPr txBox="1"/>
          <p:nvPr/>
        </p:nvSpPr>
        <p:spPr>
          <a:xfrm>
            <a:off x="9454896" y="2743200"/>
            <a:ext cx="2103120" cy="457200"/>
          </a:xfrm>
          <a:prstGeom prst="rect">
            <a:avLst/>
          </a:prstGeom>
          <a:noFill/>
        </p:spPr>
        <p:txBody>
          <a:bodyPr wrap="square" lIns="0" rIns="0" tIns="0" bIns="0" anchor="t">
            <a:spAutoFit/>
          </a:bodyPr>
          <a:lstStyle/>
          <a:p>
            <a:pPr algn="l">
              <a:lnSpc>
                <a:spcPct val="112000"/>
              </a:lnSpc>
              <a:spcAft>
                <a:spcPts val="0"/>
              </a:spcAft>
            </a:pPr>
            <a:r>
              <a:rPr sz="1400" b="1" i="0">
                <a:solidFill>
                  <a:srgbClr val="8B0000"/>
                </a:solidFill>
                <a:latin typeface="Segoe UI"/>
              </a:rPr>
              <a:t>Tử tế nhất quán</a:t>
            </a:r>
          </a:p>
        </p:txBody>
      </p:sp>
      <p:sp>
        <p:nvSpPr>
          <p:cNvPr id="25" name="TextBox 24"/>
          <p:cNvSpPr txBox="1"/>
          <p:nvPr/>
        </p:nvSpPr>
        <p:spPr>
          <a:xfrm>
            <a:off x="9454896" y="3291840"/>
            <a:ext cx="2103120" cy="1645920"/>
          </a:xfrm>
          <a:prstGeom prst="rect">
            <a:avLst/>
          </a:prstGeom>
          <a:noFill/>
        </p:spPr>
        <p:txBody>
          <a:bodyPr wrap="square" lIns="0" rIns="0" tIns="0" bIns="0" anchor="t">
            <a:spAutoFit/>
          </a:bodyPr>
          <a:lstStyle/>
          <a:p>
            <a:pPr algn="l">
              <a:lnSpc>
                <a:spcPct val="112000"/>
              </a:lnSpc>
              <a:spcAft>
                <a:spcPts val="0"/>
              </a:spcAft>
            </a:pPr>
            <a:r>
              <a:rPr sz="1200" b="0" i="0">
                <a:solidFill>
                  <a:srgbClr val="1C1A17"/>
                </a:solidFill>
                <a:latin typeface="Segoe UI"/>
              </a:rPr>
              <a:t>Giữ sự tử tế kể cả khi ẩn danh sau màn hình; nhất quán giữa con người online và ngoài đời.</a:t>
            </a:r>
          </a:p>
        </p:txBody>
      </p:sp>
      <p:sp>
        <p:nvSpPr>
          <p:cNvPr id="26" name="Rounded Rectangle 25"/>
          <p:cNvSpPr/>
          <p:nvPr/>
        </p:nvSpPr>
        <p:spPr>
          <a:xfrm>
            <a:off x="822960" y="5349240"/>
            <a:ext cx="10543032" cy="685800"/>
          </a:xfrm>
          <a:prstGeom prst="roundRect">
            <a:avLst>
              <a:gd name="adj" fmla="val 12000"/>
            </a:avLst>
          </a:prstGeom>
          <a:solidFill>
            <a:srgbClr val="1C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43000" y="5532120"/>
            <a:ext cx="9966960" cy="457200"/>
          </a:xfrm>
          <a:prstGeom prst="rect">
            <a:avLst/>
          </a:prstGeom>
          <a:noFill/>
        </p:spPr>
        <p:txBody>
          <a:bodyPr wrap="square" lIns="0" rIns="0" tIns="0" bIns="0" anchor="t">
            <a:spAutoFit/>
          </a:bodyPr>
          <a:lstStyle/>
          <a:p>
            <a:pPr algn="l">
              <a:lnSpc>
                <a:spcPct val="112000"/>
              </a:lnSpc>
              <a:spcAft>
                <a:spcPts val="0"/>
              </a:spcAft>
            </a:pPr>
            <a:r>
              <a:rPr sz="1250" b="1" i="0">
                <a:solidFill>
                  <a:srgbClr val="D4AF37"/>
                </a:solidFill>
                <a:latin typeface="Segoe UI"/>
              </a:rPr>
              <a:t>Vì sao em chọn bốn chữ này: </a:t>
            </a:r>
            <a:r>
              <a:rPr sz="1250" b="0" i="0">
                <a:solidFill>
                  <a:srgbClr val="FDFBF7"/>
                </a:solidFill>
                <a:latin typeface="Segoe UI"/>
              </a:rPr>
              <a:t>đây là bộ giá trị đạo đức ngắn nhất, dễ nhớ nhất, và cũng là bộ dễ "kiểm tra" nhất trong đời sống hằng ngày của một sinh viên.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9144000" cy="274320"/>
          </a:xfrm>
          <a:prstGeom prst="rect">
            <a:avLst/>
          </a:prstGeom>
          <a:noFill/>
        </p:spPr>
        <p:txBody>
          <a:bodyPr wrap="square" lIns="0" rIns="0" tIns="0" bIns="0" anchor="t">
            <a:spAutoFit/>
          </a:bodyPr>
          <a:lstStyle/>
          <a:p>
            <a:pPr algn="l">
              <a:lnSpc>
                <a:spcPct val="112000"/>
              </a:lnSpc>
              <a:spcAft>
                <a:spcPts val="0"/>
              </a:spcAft>
            </a:pPr>
            <a:r>
              <a:rPr sz="1250" b="1" i="0">
                <a:solidFill>
                  <a:srgbClr val="D4AF37"/>
                </a:solidFill>
                <a:latin typeface="Segoe UI"/>
              </a:rPr>
              <a:t>6 · TRẠM THÁCH THỨC</a:t>
            </a:r>
          </a:p>
        </p:txBody>
      </p:sp>
      <p:sp>
        <p:nvSpPr>
          <p:cNvPr id="4" name="TextBox 3"/>
          <p:cNvSpPr txBox="1"/>
          <p:nvPr/>
        </p:nvSpPr>
        <p:spPr>
          <a:xfrm>
            <a:off x="822960" y="868680"/>
            <a:ext cx="10424160" cy="822960"/>
          </a:xfrm>
          <a:prstGeom prst="rect">
            <a:avLst/>
          </a:prstGeom>
          <a:noFill/>
        </p:spPr>
        <p:txBody>
          <a:bodyPr wrap="square" lIns="0" rIns="0" tIns="0" bIns="0" anchor="t">
            <a:spAutoFit/>
          </a:bodyPr>
          <a:lstStyle/>
          <a:p>
            <a:pPr algn="l">
              <a:lnSpc>
                <a:spcPct val="112000"/>
              </a:lnSpc>
              <a:spcAft>
                <a:spcPts val="0"/>
              </a:spcAft>
            </a:pPr>
            <a:r>
              <a:rPr sz="3000" b="1" i="0">
                <a:solidFill>
                  <a:srgbClr val="FDFBF7"/>
                </a:solidFill>
                <a:latin typeface="Georgia"/>
              </a:rPr>
              <a:t>Quiz 5 tình huống: chọn rồi mới được giải thích</a:t>
            </a:r>
          </a:p>
        </p:txBody>
      </p:sp>
      <p:sp>
        <p:nvSpPr>
          <p:cNvPr id="5" name="Rectangle 4"/>
          <p:cNvSpPr/>
          <p:nvPr/>
        </p:nvSpPr>
        <p:spPr>
          <a:xfrm>
            <a:off x="822960" y="1481328"/>
            <a:ext cx="1005840" cy="41148"/>
          </a:xfrm>
          <a:prstGeom prst="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22960" y="1783080"/>
            <a:ext cx="10543032" cy="768096"/>
          </a:xfrm>
          <a:prstGeom prst="roundRect">
            <a:avLst>
              <a:gd name="adj" fmla="val 10000"/>
            </a:avLst>
          </a:prstGeom>
          <a:solidFill>
            <a:srgbClr val="2B27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24128" y="1984248"/>
            <a:ext cx="347472" cy="347472"/>
          </a:xfrm>
          <a:prstGeom prst="ellipse">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 y="2048255"/>
            <a:ext cx="347472" cy="237744"/>
          </a:xfrm>
          <a:prstGeom prst="rect">
            <a:avLst/>
          </a:prstGeom>
          <a:noFill/>
        </p:spPr>
        <p:txBody>
          <a:bodyPr wrap="square" lIns="0" rIns="0" tIns="0" bIns="0" anchor="t">
            <a:spAutoFit/>
          </a:bodyPr>
          <a:lstStyle/>
          <a:p>
            <a:pPr algn="ctr">
              <a:lnSpc>
                <a:spcPct val="112000"/>
              </a:lnSpc>
              <a:spcAft>
                <a:spcPts val="0"/>
              </a:spcAft>
            </a:pPr>
            <a:r>
              <a:rPr sz="1200" b="1" i="0">
                <a:solidFill>
                  <a:srgbClr val="1C1A17"/>
                </a:solidFill>
                <a:latin typeface="Segoe UI"/>
              </a:rPr>
              <a:t>1</a:t>
            </a:r>
          </a:p>
        </p:txBody>
      </p:sp>
      <p:sp>
        <p:nvSpPr>
          <p:cNvPr id="9" name="TextBox 8"/>
          <p:cNvSpPr txBox="1"/>
          <p:nvPr/>
        </p:nvSpPr>
        <p:spPr>
          <a:xfrm>
            <a:off x="1572768" y="1911095"/>
            <a:ext cx="9509760" cy="292608"/>
          </a:xfrm>
          <a:prstGeom prst="rect">
            <a:avLst/>
          </a:prstGeom>
          <a:noFill/>
        </p:spPr>
        <p:txBody>
          <a:bodyPr wrap="square" lIns="0" rIns="0" tIns="0" bIns="0" anchor="t">
            <a:spAutoFit/>
          </a:bodyPr>
          <a:lstStyle/>
          <a:p>
            <a:pPr algn="l">
              <a:lnSpc>
                <a:spcPct val="112000"/>
              </a:lnSpc>
              <a:spcAft>
                <a:spcPts val="0"/>
              </a:spcAft>
            </a:pPr>
            <a:r>
              <a:rPr sz="1100" b="1" i="0">
                <a:solidFill>
                  <a:srgbClr val="FDFBF7"/>
                </a:solidFill>
                <a:latin typeface="Segoe UI"/>
              </a:rPr>
              <a:t>Bạn vừa mất một cơ hội việc làm mơ ước vì thiếu một kỹ năng nhỏ. Theo tinh thần tự học của Bác, bạn nên:</a:t>
            </a:r>
          </a:p>
        </p:txBody>
      </p:sp>
      <p:sp>
        <p:nvSpPr>
          <p:cNvPr id="10" name="TextBox 9"/>
          <p:cNvSpPr txBox="1"/>
          <p:nvPr/>
        </p:nvSpPr>
        <p:spPr>
          <a:xfrm>
            <a:off x="1572768" y="2240280"/>
            <a:ext cx="9509760" cy="237744"/>
          </a:xfrm>
          <a:prstGeom prst="rect">
            <a:avLst/>
          </a:prstGeom>
          <a:noFill/>
        </p:spPr>
        <p:txBody>
          <a:bodyPr wrap="square" lIns="0" rIns="0" tIns="0" bIns="0" anchor="t">
            <a:spAutoFit/>
          </a:bodyPr>
          <a:lstStyle/>
          <a:p>
            <a:pPr algn="l">
              <a:lnSpc>
                <a:spcPct val="112000"/>
              </a:lnSpc>
              <a:spcAft>
                <a:spcPts val="0"/>
              </a:spcAft>
            </a:pPr>
            <a:r>
              <a:rPr sz="1000" b="0" i="0">
                <a:solidFill>
                  <a:srgbClr val="A9A298"/>
                </a:solidFill>
                <a:latin typeface="Segoe UI"/>
              </a:rPr>
              <a:t>Đáp án đúng: </a:t>
            </a:r>
            <a:r>
              <a:rPr sz="1000" b="0" i="0">
                <a:solidFill>
                  <a:srgbClr val="E7CD7A"/>
                </a:solidFill>
                <a:latin typeface="Segoe UI"/>
              </a:rPr>
              <a:t>B — Xác định đúng kỹ năng còn thiếu và tự học ngay trong 30 ngày tới</a:t>
            </a:r>
          </a:p>
        </p:txBody>
      </p:sp>
      <p:sp>
        <p:nvSpPr>
          <p:cNvPr id="11" name="Rounded Rectangle 10"/>
          <p:cNvSpPr/>
          <p:nvPr/>
        </p:nvSpPr>
        <p:spPr>
          <a:xfrm>
            <a:off x="822960" y="2633472"/>
            <a:ext cx="10543032" cy="768096"/>
          </a:xfrm>
          <a:prstGeom prst="roundRect">
            <a:avLst>
              <a:gd name="adj" fmla="val 10000"/>
            </a:avLst>
          </a:prstGeom>
          <a:solidFill>
            <a:srgbClr val="2B27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24128" y="2834640"/>
            <a:ext cx="347472" cy="347472"/>
          </a:xfrm>
          <a:prstGeom prst="ellipse">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4128" y="2898648"/>
            <a:ext cx="347472" cy="237744"/>
          </a:xfrm>
          <a:prstGeom prst="rect">
            <a:avLst/>
          </a:prstGeom>
          <a:noFill/>
        </p:spPr>
        <p:txBody>
          <a:bodyPr wrap="square" lIns="0" rIns="0" tIns="0" bIns="0" anchor="t">
            <a:spAutoFit/>
          </a:bodyPr>
          <a:lstStyle/>
          <a:p>
            <a:pPr algn="ctr">
              <a:lnSpc>
                <a:spcPct val="112000"/>
              </a:lnSpc>
              <a:spcAft>
                <a:spcPts val="0"/>
              </a:spcAft>
            </a:pPr>
            <a:r>
              <a:rPr sz="1200" b="1" i="0">
                <a:solidFill>
                  <a:srgbClr val="1C1A17"/>
                </a:solidFill>
                <a:latin typeface="Segoe UI"/>
              </a:rPr>
              <a:t>2</a:t>
            </a:r>
          </a:p>
        </p:txBody>
      </p:sp>
      <p:sp>
        <p:nvSpPr>
          <p:cNvPr id="14" name="TextBox 13"/>
          <p:cNvSpPr txBox="1"/>
          <p:nvPr/>
        </p:nvSpPr>
        <p:spPr>
          <a:xfrm>
            <a:off x="1572768" y="2761488"/>
            <a:ext cx="9509760" cy="292608"/>
          </a:xfrm>
          <a:prstGeom prst="rect">
            <a:avLst/>
          </a:prstGeom>
          <a:noFill/>
        </p:spPr>
        <p:txBody>
          <a:bodyPr wrap="square" lIns="0" rIns="0" tIns="0" bIns="0" anchor="t">
            <a:spAutoFit/>
          </a:bodyPr>
          <a:lstStyle/>
          <a:p>
            <a:pPr algn="l">
              <a:lnSpc>
                <a:spcPct val="112000"/>
              </a:lnSpc>
              <a:spcAft>
                <a:spcPts val="0"/>
              </a:spcAft>
            </a:pPr>
            <a:r>
              <a:rPr sz="1100" b="1" i="0">
                <a:solidFill>
                  <a:srgbClr val="FDFBF7"/>
                </a:solidFill>
                <a:latin typeface="Segoe UI"/>
              </a:rPr>
              <a:t>Nhóm dự án của bạn có hai thành viên bất đồng gay gắt về hướng đi. Cách tiếp cận gần với tinh thần "đoàn kết"…</a:t>
            </a:r>
          </a:p>
        </p:txBody>
      </p:sp>
      <p:sp>
        <p:nvSpPr>
          <p:cNvPr id="15" name="TextBox 14"/>
          <p:cNvSpPr txBox="1"/>
          <p:nvPr/>
        </p:nvSpPr>
        <p:spPr>
          <a:xfrm>
            <a:off x="1572768" y="3090672"/>
            <a:ext cx="9509760" cy="237744"/>
          </a:xfrm>
          <a:prstGeom prst="rect">
            <a:avLst/>
          </a:prstGeom>
          <a:noFill/>
        </p:spPr>
        <p:txBody>
          <a:bodyPr wrap="square" lIns="0" rIns="0" tIns="0" bIns="0" anchor="t">
            <a:spAutoFit/>
          </a:bodyPr>
          <a:lstStyle/>
          <a:p>
            <a:pPr algn="l">
              <a:lnSpc>
                <a:spcPct val="112000"/>
              </a:lnSpc>
              <a:spcAft>
                <a:spcPts val="0"/>
              </a:spcAft>
            </a:pPr>
            <a:r>
              <a:rPr sz="1000" b="0" i="0">
                <a:solidFill>
                  <a:srgbClr val="A9A298"/>
                </a:solidFill>
                <a:latin typeface="Segoe UI"/>
              </a:rPr>
              <a:t>Đáp án đúng: </a:t>
            </a:r>
            <a:r>
              <a:rPr sz="1000" b="0" i="0">
                <a:solidFill>
                  <a:srgbClr val="E7CD7A"/>
                </a:solidFill>
                <a:latin typeface="Segoe UI"/>
              </a:rPr>
              <a:t>C — Lắng nghe cả hai, tìm điểm chung trong mục tiêu để dung hòa khác biệt</a:t>
            </a:r>
          </a:p>
        </p:txBody>
      </p:sp>
      <p:sp>
        <p:nvSpPr>
          <p:cNvPr id="16" name="Rounded Rectangle 15"/>
          <p:cNvSpPr/>
          <p:nvPr/>
        </p:nvSpPr>
        <p:spPr>
          <a:xfrm>
            <a:off x="822960" y="3483864"/>
            <a:ext cx="10543032" cy="768096"/>
          </a:xfrm>
          <a:prstGeom prst="roundRect">
            <a:avLst>
              <a:gd name="adj" fmla="val 10000"/>
            </a:avLst>
          </a:prstGeom>
          <a:solidFill>
            <a:srgbClr val="2B27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24128" y="3685032"/>
            <a:ext cx="347472" cy="347472"/>
          </a:xfrm>
          <a:prstGeom prst="ellipse">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8" y="3749039"/>
            <a:ext cx="347472" cy="237744"/>
          </a:xfrm>
          <a:prstGeom prst="rect">
            <a:avLst/>
          </a:prstGeom>
          <a:noFill/>
        </p:spPr>
        <p:txBody>
          <a:bodyPr wrap="square" lIns="0" rIns="0" tIns="0" bIns="0" anchor="t">
            <a:spAutoFit/>
          </a:bodyPr>
          <a:lstStyle/>
          <a:p>
            <a:pPr algn="ctr">
              <a:lnSpc>
                <a:spcPct val="112000"/>
              </a:lnSpc>
              <a:spcAft>
                <a:spcPts val="0"/>
              </a:spcAft>
            </a:pPr>
            <a:r>
              <a:rPr sz="1200" b="1" i="0">
                <a:solidFill>
                  <a:srgbClr val="1C1A17"/>
                </a:solidFill>
                <a:latin typeface="Segoe UI"/>
              </a:rPr>
              <a:t>3</a:t>
            </a:r>
          </a:p>
        </p:txBody>
      </p:sp>
      <p:sp>
        <p:nvSpPr>
          <p:cNvPr id="19" name="TextBox 18"/>
          <p:cNvSpPr txBox="1"/>
          <p:nvPr/>
        </p:nvSpPr>
        <p:spPr>
          <a:xfrm>
            <a:off x="1572768" y="3611880"/>
            <a:ext cx="9509760" cy="292608"/>
          </a:xfrm>
          <a:prstGeom prst="rect">
            <a:avLst/>
          </a:prstGeom>
          <a:noFill/>
        </p:spPr>
        <p:txBody>
          <a:bodyPr wrap="square" lIns="0" rIns="0" tIns="0" bIns="0" anchor="t">
            <a:spAutoFit/>
          </a:bodyPr>
          <a:lstStyle/>
          <a:p>
            <a:pPr algn="l">
              <a:lnSpc>
                <a:spcPct val="112000"/>
              </a:lnSpc>
              <a:spcAft>
                <a:spcPts val="0"/>
              </a:spcAft>
            </a:pPr>
            <a:r>
              <a:rPr sz="1100" b="1" i="0">
                <a:solidFill>
                  <a:srgbClr val="FDFBF7"/>
                </a:solidFill>
                <a:latin typeface="Segoe UI"/>
              </a:rPr>
              <a:t>Cuối tháng bạn hết tiền vì những khoản chi "nhỏ mà nhiều" trên ứng dụng mua sắm. Bài học "Kiệm" gợi ý bạn nên:</a:t>
            </a:r>
          </a:p>
        </p:txBody>
      </p:sp>
      <p:sp>
        <p:nvSpPr>
          <p:cNvPr id="20" name="TextBox 19"/>
          <p:cNvSpPr txBox="1"/>
          <p:nvPr/>
        </p:nvSpPr>
        <p:spPr>
          <a:xfrm>
            <a:off x="1572768" y="3941064"/>
            <a:ext cx="9509760" cy="237744"/>
          </a:xfrm>
          <a:prstGeom prst="rect">
            <a:avLst/>
          </a:prstGeom>
          <a:noFill/>
        </p:spPr>
        <p:txBody>
          <a:bodyPr wrap="square" lIns="0" rIns="0" tIns="0" bIns="0" anchor="t">
            <a:spAutoFit/>
          </a:bodyPr>
          <a:lstStyle/>
          <a:p>
            <a:pPr algn="l">
              <a:lnSpc>
                <a:spcPct val="112000"/>
              </a:lnSpc>
              <a:spcAft>
                <a:spcPts val="0"/>
              </a:spcAft>
            </a:pPr>
            <a:r>
              <a:rPr sz="1000" b="0" i="0">
                <a:solidFill>
                  <a:srgbClr val="A9A298"/>
                </a:solidFill>
                <a:latin typeface="Segoe UI"/>
              </a:rPr>
              <a:t>Đáp án đúng: </a:t>
            </a:r>
            <a:r>
              <a:rPr sz="1000" b="0" i="0">
                <a:solidFill>
                  <a:srgbClr val="E7CD7A"/>
                </a:solidFill>
                <a:latin typeface="Segoe UI"/>
              </a:rPr>
              <a:t>B — Ghi lại chi tiêu một tuần để nhận diện khoản chi không cần thiết</a:t>
            </a:r>
          </a:p>
        </p:txBody>
      </p:sp>
      <p:sp>
        <p:nvSpPr>
          <p:cNvPr id="21" name="Rounded Rectangle 20"/>
          <p:cNvSpPr/>
          <p:nvPr/>
        </p:nvSpPr>
        <p:spPr>
          <a:xfrm>
            <a:off x="822960" y="4334256"/>
            <a:ext cx="10543032" cy="768096"/>
          </a:xfrm>
          <a:prstGeom prst="roundRect">
            <a:avLst>
              <a:gd name="adj" fmla="val 10000"/>
            </a:avLst>
          </a:prstGeom>
          <a:solidFill>
            <a:srgbClr val="2B27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24128" y="4535424"/>
            <a:ext cx="347472" cy="347472"/>
          </a:xfrm>
          <a:prstGeom prst="ellipse">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24128" y="4599432"/>
            <a:ext cx="347472" cy="237744"/>
          </a:xfrm>
          <a:prstGeom prst="rect">
            <a:avLst/>
          </a:prstGeom>
          <a:noFill/>
        </p:spPr>
        <p:txBody>
          <a:bodyPr wrap="square" lIns="0" rIns="0" tIns="0" bIns="0" anchor="t">
            <a:spAutoFit/>
          </a:bodyPr>
          <a:lstStyle/>
          <a:p>
            <a:pPr algn="ctr">
              <a:lnSpc>
                <a:spcPct val="112000"/>
              </a:lnSpc>
              <a:spcAft>
                <a:spcPts val="0"/>
              </a:spcAft>
            </a:pPr>
            <a:r>
              <a:rPr sz="1200" b="1" i="0">
                <a:solidFill>
                  <a:srgbClr val="1C1A17"/>
                </a:solidFill>
                <a:latin typeface="Segoe UI"/>
              </a:rPr>
              <a:t>4</a:t>
            </a:r>
          </a:p>
        </p:txBody>
      </p:sp>
      <p:sp>
        <p:nvSpPr>
          <p:cNvPr id="24" name="TextBox 23"/>
          <p:cNvSpPr txBox="1"/>
          <p:nvPr/>
        </p:nvSpPr>
        <p:spPr>
          <a:xfrm>
            <a:off x="1572768" y="4462272"/>
            <a:ext cx="9509760" cy="292608"/>
          </a:xfrm>
          <a:prstGeom prst="rect">
            <a:avLst/>
          </a:prstGeom>
          <a:noFill/>
        </p:spPr>
        <p:txBody>
          <a:bodyPr wrap="square" lIns="0" rIns="0" tIns="0" bIns="0" anchor="t">
            <a:spAutoFit/>
          </a:bodyPr>
          <a:lstStyle/>
          <a:p>
            <a:pPr algn="l">
              <a:lnSpc>
                <a:spcPct val="112000"/>
              </a:lnSpc>
              <a:spcAft>
                <a:spcPts val="0"/>
              </a:spcAft>
            </a:pPr>
            <a:r>
              <a:rPr sz="1100" b="1" i="0">
                <a:solidFill>
                  <a:srgbClr val="FDFBF7"/>
                </a:solidFill>
                <a:latin typeface="Segoe UI"/>
              </a:rPr>
              <a:t>Bạn vô tình thấy một bài viết hay và muốn đăng lại. Ứng xử "Liêm" trên không gian mạng là:</a:t>
            </a:r>
          </a:p>
        </p:txBody>
      </p:sp>
      <p:sp>
        <p:nvSpPr>
          <p:cNvPr id="25" name="TextBox 24"/>
          <p:cNvSpPr txBox="1"/>
          <p:nvPr/>
        </p:nvSpPr>
        <p:spPr>
          <a:xfrm>
            <a:off x="1572768" y="4791456"/>
            <a:ext cx="9509760" cy="237744"/>
          </a:xfrm>
          <a:prstGeom prst="rect">
            <a:avLst/>
          </a:prstGeom>
          <a:noFill/>
        </p:spPr>
        <p:txBody>
          <a:bodyPr wrap="square" lIns="0" rIns="0" tIns="0" bIns="0" anchor="t">
            <a:spAutoFit/>
          </a:bodyPr>
          <a:lstStyle/>
          <a:p>
            <a:pPr algn="l">
              <a:lnSpc>
                <a:spcPct val="112000"/>
              </a:lnSpc>
              <a:spcAft>
                <a:spcPts val="0"/>
              </a:spcAft>
            </a:pPr>
            <a:r>
              <a:rPr sz="1000" b="0" i="0">
                <a:solidFill>
                  <a:srgbClr val="A9A298"/>
                </a:solidFill>
                <a:latin typeface="Segoe UI"/>
              </a:rPr>
              <a:t>Đáp án đúng: </a:t>
            </a:r>
            <a:r>
              <a:rPr sz="1000" b="0" i="0">
                <a:solidFill>
                  <a:srgbClr val="E7CD7A"/>
                </a:solidFill>
                <a:latin typeface="Segoe UI"/>
              </a:rPr>
              <a:t>B — Ghi rõ nguồn gốc hoặc xin phép tác giả trước khi chia sẻ</a:t>
            </a:r>
          </a:p>
        </p:txBody>
      </p:sp>
      <p:sp>
        <p:nvSpPr>
          <p:cNvPr id="26" name="Rounded Rectangle 25"/>
          <p:cNvSpPr/>
          <p:nvPr/>
        </p:nvSpPr>
        <p:spPr>
          <a:xfrm>
            <a:off x="822960" y="5184648"/>
            <a:ext cx="10543032" cy="768096"/>
          </a:xfrm>
          <a:prstGeom prst="roundRect">
            <a:avLst>
              <a:gd name="adj" fmla="val 10000"/>
            </a:avLst>
          </a:prstGeom>
          <a:solidFill>
            <a:srgbClr val="2B27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24128" y="5385816"/>
            <a:ext cx="347472" cy="347472"/>
          </a:xfrm>
          <a:prstGeom prst="ellipse">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24128" y="5449824"/>
            <a:ext cx="347472" cy="237744"/>
          </a:xfrm>
          <a:prstGeom prst="rect">
            <a:avLst/>
          </a:prstGeom>
          <a:noFill/>
        </p:spPr>
        <p:txBody>
          <a:bodyPr wrap="square" lIns="0" rIns="0" tIns="0" bIns="0" anchor="t">
            <a:spAutoFit/>
          </a:bodyPr>
          <a:lstStyle/>
          <a:p>
            <a:pPr algn="ctr">
              <a:lnSpc>
                <a:spcPct val="112000"/>
              </a:lnSpc>
              <a:spcAft>
                <a:spcPts val="0"/>
              </a:spcAft>
            </a:pPr>
            <a:r>
              <a:rPr sz="1200" b="1" i="0">
                <a:solidFill>
                  <a:srgbClr val="1C1A17"/>
                </a:solidFill>
                <a:latin typeface="Segoe UI"/>
              </a:rPr>
              <a:t>5</a:t>
            </a:r>
          </a:p>
        </p:txBody>
      </p:sp>
      <p:sp>
        <p:nvSpPr>
          <p:cNvPr id="29" name="TextBox 28"/>
          <p:cNvSpPr txBox="1"/>
          <p:nvPr/>
        </p:nvSpPr>
        <p:spPr>
          <a:xfrm>
            <a:off x="1572768" y="5312664"/>
            <a:ext cx="9509760" cy="292608"/>
          </a:xfrm>
          <a:prstGeom prst="rect">
            <a:avLst/>
          </a:prstGeom>
          <a:noFill/>
        </p:spPr>
        <p:txBody>
          <a:bodyPr wrap="square" lIns="0" rIns="0" tIns="0" bIns="0" anchor="t">
            <a:spAutoFit/>
          </a:bodyPr>
          <a:lstStyle/>
          <a:p>
            <a:pPr algn="l">
              <a:lnSpc>
                <a:spcPct val="112000"/>
              </a:lnSpc>
              <a:spcAft>
                <a:spcPts val="0"/>
              </a:spcAft>
            </a:pPr>
            <a:r>
              <a:rPr sz="1100" b="1" i="0">
                <a:solidFill>
                  <a:srgbClr val="FDFBF7"/>
                </a:solidFill>
                <a:latin typeface="Segoe UI"/>
              </a:rPr>
              <a:t>AI có thể làm giúp bạn gần như trọn vẹn một bài luận. Tinh thần "dĩ bất biến, ứng vạn biến" gợi ý bạn nên:</a:t>
            </a:r>
          </a:p>
        </p:txBody>
      </p:sp>
      <p:sp>
        <p:nvSpPr>
          <p:cNvPr id="30" name="TextBox 29"/>
          <p:cNvSpPr txBox="1"/>
          <p:nvPr/>
        </p:nvSpPr>
        <p:spPr>
          <a:xfrm>
            <a:off x="1572768" y="5641848"/>
            <a:ext cx="9509760" cy="237744"/>
          </a:xfrm>
          <a:prstGeom prst="rect">
            <a:avLst/>
          </a:prstGeom>
          <a:noFill/>
        </p:spPr>
        <p:txBody>
          <a:bodyPr wrap="square" lIns="0" rIns="0" tIns="0" bIns="0" anchor="t">
            <a:spAutoFit/>
          </a:bodyPr>
          <a:lstStyle/>
          <a:p>
            <a:pPr algn="l">
              <a:lnSpc>
                <a:spcPct val="112000"/>
              </a:lnSpc>
              <a:spcAft>
                <a:spcPts val="0"/>
              </a:spcAft>
            </a:pPr>
            <a:r>
              <a:rPr sz="1000" b="0" i="0">
                <a:solidFill>
                  <a:srgbClr val="A9A298"/>
                </a:solidFill>
                <a:latin typeface="Segoe UI"/>
              </a:rPr>
              <a:t>Đáp án đúng: </a:t>
            </a:r>
            <a:r>
              <a:rPr sz="1000" b="0" i="0">
                <a:solidFill>
                  <a:srgbClr val="E7CD7A"/>
                </a:solidFill>
                <a:latin typeface="Segoe UI"/>
              </a:rPr>
              <a:t>C — Dùng AI như công cụ hỗ trợ, nhưng tự mình tư duy, kiểm chứng và chịu trách nhiệm với nội dung cuối cùng</a:t>
            </a:r>
          </a:p>
        </p:txBody>
      </p:sp>
      <p:sp>
        <p:nvSpPr>
          <p:cNvPr id="31" name="TextBox 30"/>
          <p:cNvSpPr txBox="1"/>
          <p:nvPr/>
        </p:nvSpPr>
        <p:spPr>
          <a:xfrm>
            <a:off x="822960" y="6053328"/>
            <a:ext cx="10515600" cy="320040"/>
          </a:xfrm>
          <a:prstGeom prst="rect">
            <a:avLst/>
          </a:prstGeom>
          <a:noFill/>
        </p:spPr>
        <p:txBody>
          <a:bodyPr wrap="square" lIns="0" rIns="0" tIns="0" bIns="0" anchor="t">
            <a:spAutoFit/>
          </a:bodyPr>
          <a:lstStyle/>
          <a:p>
            <a:pPr algn="l">
              <a:lnSpc>
                <a:spcPct val="112000"/>
              </a:lnSpc>
              <a:spcAft>
                <a:spcPts val="0"/>
              </a:spcAft>
            </a:pPr>
            <a:r>
              <a:rPr sz="1150" b="0" i="1">
                <a:solidFill>
                  <a:srgbClr val="A9A298"/>
                </a:solidFill>
                <a:latin typeface="Segoe UI"/>
              </a:rPr>
              <a:t>Mỗi câu đều có phần giải thích nối về một sự kiện lịch sử hoặc một giá trị — không có câu nào chỉ "đúng/sai".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9144000" cy="274320"/>
          </a:xfrm>
          <a:prstGeom prst="rect">
            <a:avLst/>
          </a:prstGeom>
          <a:noFill/>
        </p:spPr>
        <p:txBody>
          <a:bodyPr wrap="square" lIns="0" rIns="0" tIns="0" bIns="0" anchor="t">
            <a:spAutoFit/>
          </a:bodyPr>
          <a:lstStyle/>
          <a:p>
            <a:pPr algn="l">
              <a:lnSpc>
                <a:spcPct val="112000"/>
              </a:lnSpc>
              <a:spcAft>
                <a:spcPts val="0"/>
              </a:spcAft>
            </a:pPr>
            <a:r>
              <a:rPr sz="1250" b="1" i="0">
                <a:solidFill>
                  <a:srgbClr val="A8232A"/>
                </a:solidFill>
                <a:latin typeface="Segoe UI"/>
              </a:rPr>
              <a:t>6 · TRẠM THÁCH THỨC (TIẾP)</a:t>
            </a:r>
          </a:p>
        </p:txBody>
      </p:sp>
      <p:sp>
        <p:nvSpPr>
          <p:cNvPr id="4" name="TextBox 3"/>
          <p:cNvSpPr txBox="1"/>
          <p:nvPr/>
        </p:nvSpPr>
        <p:spPr>
          <a:xfrm>
            <a:off x="822960" y="868680"/>
            <a:ext cx="10424160" cy="822960"/>
          </a:xfrm>
          <a:prstGeom prst="rect">
            <a:avLst/>
          </a:prstGeom>
          <a:noFill/>
        </p:spPr>
        <p:txBody>
          <a:bodyPr wrap="square" lIns="0" rIns="0" tIns="0" bIns="0" anchor="t">
            <a:spAutoFit/>
          </a:bodyPr>
          <a:lstStyle/>
          <a:p>
            <a:pPr algn="l">
              <a:lnSpc>
                <a:spcPct val="112000"/>
              </a:lnSpc>
              <a:spcAft>
                <a:spcPts val="0"/>
              </a:spcAft>
            </a:pPr>
            <a:r>
              <a:rPr sz="3000" b="1" i="0">
                <a:solidFill>
                  <a:srgbClr val="1C1A17"/>
                </a:solidFill>
                <a:latin typeface="Georgia"/>
              </a:rPr>
              <a:t>Thẻ trích dẫn lật 3D: câu nói, nguồn, bài học</a:t>
            </a:r>
          </a:p>
        </p:txBody>
      </p:sp>
      <p:sp>
        <p:nvSpPr>
          <p:cNvPr id="5" name="Rectangle 4"/>
          <p:cNvSpPr/>
          <p:nvPr/>
        </p:nvSpPr>
        <p:spPr>
          <a:xfrm>
            <a:off x="822960" y="1481328"/>
            <a:ext cx="1005840" cy="41148"/>
          </a:xfrm>
          <a:prstGeom prst="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22960" y="1828800"/>
            <a:ext cx="5166360" cy="2084831"/>
          </a:xfrm>
          <a:prstGeom prst="roundRect">
            <a:avLst>
              <a:gd name="adj" fmla="val 6000"/>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1828800"/>
            <a:ext cx="5166360" cy="2084831"/>
          </a:xfrm>
          <a:prstGeom prst="roundRect">
            <a:avLst>
              <a:gd name="adj" fmla="val 6000"/>
            </a:avLst>
          </a:prstGeom>
          <a:noFill/>
          <a:ln w="12700">
            <a:solidFill>
              <a:srgbClr val="D4A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2103120"/>
            <a:ext cx="4526280" cy="1097280"/>
          </a:xfrm>
          <a:prstGeom prst="rect">
            <a:avLst/>
          </a:prstGeom>
          <a:noFill/>
        </p:spPr>
        <p:txBody>
          <a:bodyPr wrap="square" lIns="0" rIns="0" tIns="0" bIns="0" anchor="t">
            <a:spAutoFit/>
          </a:bodyPr>
          <a:lstStyle/>
          <a:p>
            <a:pPr algn="l">
              <a:lnSpc>
                <a:spcPct val="112000"/>
              </a:lnSpc>
              <a:spcAft>
                <a:spcPts val="0"/>
              </a:spcAft>
            </a:pPr>
            <a:r>
              <a:rPr sz="1550" b="1" i="0">
                <a:solidFill>
                  <a:srgbClr val="FDFBF7"/>
                </a:solidFill>
                <a:latin typeface="Georgia"/>
              </a:rPr>
              <a:t>“Không có việc gì khó, chỉ sợ lòng không bền.”</a:t>
            </a:r>
          </a:p>
        </p:txBody>
      </p:sp>
      <p:sp>
        <p:nvSpPr>
          <p:cNvPr id="9" name="TextBox 8"/>
          <p:cNvSpPr txBox="1"/>
          <p:nvPr/>
        </p:nvSpPr>
        <p:spPr>
          <a:xfrm>
            <a:off x="1143000" y="3246120"/>
            <a:ext cx="4526280" cy="457200"/>
          </a:xfrm>
          <a:prstGeom prst="rect">
            <a:avLst/>
          </a:prstGeom>
          <a:noFill/>
        </p:spPr>
        <p:txBody>
          <a:bodyPr wrap="square" lIns="0" rIns="0" tIns="0" bIns="0" anchor="t">
            <a:spAutoFit/>
          </a:bodyPr>
          <a:lstStyle/>
          <a:p>
            <a:pPr algn="l">
              <a:lnSpc>
                <a:spcPct val="112000"/>
              </a:lnSpc>
              <a:spcAft>
                <a:spcPts val="0"/>
              </a:spcAft>
            </a:pPr>
            <a:r>
              <a:rPr sz="1050" b="0" i="0">
                <a:solidFill>
                  <a:srgbClr val="E7CD7A"/>
                </a:solidFill>
                <a:latin typeface="Segoe UI"/>
              </a:rPr>
              <a:t>Thơ Người tặng thanh niên xung phong, 1950.</a:t>
            </a:r>
          </a:p>
        </p:txBody>
      </p:sp>
      <p:sp>
        <p:nvSpPr>
          <p:cNvPr id="10" name="TextBox 9"/>
          <p:cNvSpPr txBox="1"/>
          <p:nvPr/>
        </p:nvSpPr>
        <p:spPr>
          <a:xfrm>
            <a:off x="1143000" y="3566160"/>
            <a:ext cx="4526280" cy="274320"/>
          </a:xfrm>
          <a:prstGeom prst="rect">
            <a:avLst/>
          </a:prstGeom>
          <a:noFill/>
        </p:spPr>
        <p:txBody>
          <a:bodyPr wrap="square" lIns="0" rIns="0" tIns="0" bIns="0" anchor="t">
            <a:spAutoFit/>
          </a:bodyPr>
          <a:lstStyle/>
          <a:p>
            <a:pPr algn="l">
              <a:lnSpc>
                <a:spcPct val="112000"/>
              </a:lnSpc>
              <a:spcAft>
                <a:spcPts val="0"/>
              </a:spcAft>
            </a:pPr>
            <a:r>
              <a:rPr sz="950" b="0" i="1">
                <a:solidFill>
                  <a:srgbClr val="E8C9C9"/>
                </a:solidFill>
                <a:latin typeface="Segoe UI"/>
              </a:rPr>
              <a:t>Lật thẻ → bài học ứng dụng</a:t>
            </a:r>
          </a:p>
        </p:txBody>
      </p:sp>
      <p:sp>
        <p:nvSpPr>
          <p:cNvPr id="11" name="Rounded Rectangle 10"/>
          <p:cNvSpPr/>
          <p:nvPr/>
        </p:nvSpPr>
        <p:spPr>
          <a:xfrm>
            <a:off x="6199632" y="1828800"/>
            <a:ext cx="5166360" cy="2084831"/>
          </a:xfrm>
          <a:prstGeom prst="roundRect">
            <a:avLst>
              <a:gd name="adj" fmla="val 6000"/>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199632" y="1828800"/>
            <a:ext cx="5166360" cy="2084831"/>
          </a:xfrm>
          <a:prstGeom prst="roundRect">
            <a:avLst>
              <a:gd name="adj" fmla="val 6000"/>
            </a:avLst>
          </a:prstGeom>
          <a:noFill/>
          <a:ln w="12700">
            <a:solidFill>
              <a:srgbClr val="D4A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19672" y="2103120"/>
            <a:ext cx="4526280" cy="1097280"/>
          </a:xfrm>
          <a:prstGeom prst="rect">
            <a:avLst/>
          </a:prstGeom>
          <a:noFill/>
        </p:spPr>
        <p:txBody>
          <a:bodyPr wrap="square" lIns="0" rIns="0" tIns="0" bIns="0" anchor="t">
            <a:spAutoFit/>
          </a:bodyPr>
          <a:lstStyle/>
          <a:p>
            <a:pPr algn="l">
              <a:lnSpc>
                <a:spcPct val="112000"/>
              </a:lnSpc>
              <a:spcAft>
                <a:spcPts val="0"/>
              </a:spcAft>
            </a:pPr>
            <a:r>
              <a:rPr sz="1550" b="1" i="0">
                <a:solidFill>
                  <a:srgbClr val="FDFBF7"/>
                </a:solidFill>
                <a:latin typeface="Georgia"/>
              </a:rPr>
              <a:t>“Học hỏi là một việc phải tiếp tục suốt đời.”</a:t>
            </a:r>
          </a:p>
        </p:txBody>
      </p:sp>
      <p:sp>
        <p:nvSpPr>
          <p:cNvPr id="14" name="TextBox 13"/>
          <p:cNvSpPr txBox="1"/>
          <p:nvPr/>
        </p:nvSpPr>
        <p:spPr>
          <a:xfrm>
            <a:off x="6519672" y="3246120"/>
            <a:ext cx="4526280" cy="457200"/>
          </a:xfrm>
          <a:prstGeom prst="rect">
            <a:avLst/>
          </a:prstGeom>
          <a:noFill/>
        </p:spPr>
        <p:txBody>
          <a:bodyPr wrap="square" lIns="0" rIns="0" tIns="0" bIns="0" anchor="t">
            <a:spAutoFit/>
          </a:bodyPr>
          <a:lstStyle/>
          <a:p>
            <a:pPr algn="l">
              <a:lnSpc>
                <a:spcPct val="112000"/>
              </a:lnSpc>
              <a:spcAft>
                <a:spcPts val="0"/>
              </a:spcAft>
            </a:pPr>
            <a:r>
              <a:rPr sz="1050" b="0" i="0">
                <a:solidFill>
                  <a:srgbClr val="E7CD7A"/>
                </a:solidFill>
                <a:latin typeface="Segoe UI"/>
              </a:rPr>
              <a:t>Trong thư gửi các học viên trường Nguyễn Ái Quốc, 1949.</a:t>
            </a:r>
          </a:p>
        </p:txBody>
      </p:sp>
      <p:sp>
        <p:nvSpPr>
          <p:cNvPr id="15" name="TextBox 14"/>
          <p:cNvSpPr txBox="1"/>
          <p:nvPr/>
        </p:nvSpPr>
        <p:spPr>
          <a:xfrm>
            <a:off x="6519672" y="3566160"/>
            <a:ext cx="4526280" cy="274320"/>
          </a:xfrm>
          <a:prstGeom prst="rect">
            <a:avLst/>
          </a:prstGeom>
          <a:noFill/>
        </p:spPr>
        <p:txBody>
          <a:bodyPr wrap="square" lIns="0" rIns="0" tIns="0" bIns="0" anchor="t">
            <a:spAutoFit/>
          </a:bodyPr>
          <a:lstStyle/>
          <a:p>
            <a:pPr algn="l">
              <a:lnSpc>
                <a:spcPct val="112000"/>
              </a:lnSpc>
              <a:spcAft>
                <a:spcPts val="0"/>
              </a:spcAft>
            </a:pPr>
            <a:r>
              <a:rPr sz="950" b="0" i="1">
                <a:solidFill>
                  <a:srgbClr val="E8C9C9"/>
                </a:solidFill>
                <a:latin typeface="Segoe UI"/>
              </a:rPr>
              <a:t>Lật thẻ → bài học ứng dụng</a:t>
            </a:r>
          </a:p>
        </p:txBody>
      </p:sp>
      <p:sp>
        <p:nvSpPr>
          <p:cNvPr id="16" name="Rounded Rectangle 15"/>
          <p:cNvSpPr/>
          <p:nvPr/>
        </p:nvSpPr>
        <p:spPr>
          <a:xfrm>
            <a:off x="822960" y="4114800"/>
            <a:ext cx="5166360" cy="2084831"/>
          </a:xfrm>
          <a:prstGeom prst="roundRect">
            <a:avLst>
              <a:gd name="adj" fmla="val 6000"/>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22960" y="4114800"/>
            <a:ext cx="5166360" cy="2084831"/>
          </a:xfrm>
          <a:prstGeom prst="roundRect">
            <a:avLst>
              <a:gd name="adj" fmla="val 6000"/>
            </a:avLst>
          </a:prstGeom>
          <a:noFill/>
          <a:ln w="12700">
            <a:solidFill>
              <a:srgbClr val="D4A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43000" y="4389120"/>
            <a:ext cx="4526280" cy="1097280"/>
          </a:xfrm>
          <a:prstGeom prst="rect">
            <a:avLst/>
          </a:prstGeom>
          <a:noFill/>
        </p:spPr>
        <p:txBody>
          <a:bodyPr wrap="square" lIns="0" rIns="0" tIns="0" bIns="0" anchor="t">
            <a:spAutoFit/>
          </a:bodyPr>
          <a:lstStyle/>
          <a:p>
            <a:pPr algn="l">
              <a:lnSpc>
                <a:spcPct val="112000"/>
              </a:lnSpc>
              <a:spcAft>
                <a:spcPts val="0"/>
              </a:spcAft>
            </a:pPr>
            <a:r>
              <a:rPr sz="1550" b="1" i="0">
                <a:solidFill>
                  <a:srgbClr val="FDFBF7"/>
                </a:solidFill>
                <a:latin typeface="Georgia"/>
              </a:rPr>
              <a:t>“Đoàn kết, đoàn kết, đại đoàn kết. Thành công, thành công, đại thành công.”</a:t>
            </a:r>
          </a:p>
        </p:txBody>
      </p:sp>
      <p:sp>
        <p:nvSpPr>
          <p:cNvPr id="19" name="TextBox 18"/>
          <p:cNvSpPr txBox="1"/>
          <p:nvPr/>
        </p:nvSpPr>
        <p:spPr>
          <a:xfrm>
            <a:off x="1143000" y="5532120"/>
            <a:ext cx="4526280" cy="457200"/>
          </a:xfrm>
          <a:prstGeom prst="rect">
            <a:avLst/>
          </a:prstGeom>
          <a:noFill/>
        </p:spPr>
        <p:txBody>
          <a:bodyPr wrap="square" lIns="0" rIns="0" tIns="0" bIns="0" anchor="t">
            <a:spAutoFit/>
          </a:bodyPr>
          <a:lstStyle/>
          <a:p>
            <a:pPr algn="l">
              <a:lnSpc>
                <a:spcPct val="112000"/>
              </a:lnSpc>
              <a:spcAft>
                <a:spcPts val="0"/>
              </a:spcAft>
            </a:pPr>
            <a:r>
              <a:rPr sz="1050" b="0" i="0">
                <a:solidFill>
                  <a:srgbClr val="E7CD7A"/>
                </a:solidFill>
                <a:latin typeface="Segoe UI"/>
              </a:rPr>
              <a:t>Diễn văn tại Đại hội Mặt trận Tổ quốc, 1961.</a:t>
            </a:r>
          </a:p>
        </p:txBody>
      </p:sp>
      <p:sp>
        <p:nvSpPr>
          <p:cNvPr id="20" name="TextBox 19"/>
          <p:cNvSpPr txBox="1"/>
          <p:nvPr/>
        </p:nvSpPr>
        <p:spPr>
          <a:xfrm>
            <a:off x="1143000" y="5852160"/>
            <a:ext cx="4526280" cy="274320"/>
          </a:xfrm>
          <a:prstGeom prst="rect">
            <a:avLst/>
          </a:prstGeom>
          <a:noFill/>
        </p:spPr>
        <p:txBody>
          <a:bodyPr wrap="square" lIns="0" rIns="0" tIns="0" bIns="0" anchor="t">
            <a:spAutoFit/>
          </a:bodyPr>
          <a:lstStyle/>
          <a:p>
            <a:pPr algn="l">
              <a:lnSpc>
                <a:spcPct val="112000"/>
              </a:lnSpc>
              <a:spcAft>
                <a:spcPts val="0"/>
              </a:spcAft>
            </a:pPr>
            <a:r>
              <a:rPr sz="950" b="0" i="1">
                <a:solidFill>
                  <a:srgbClr val="E8C9C9"/>
                </a:solidFill>
                <a:latin typeface="Segoe UI"/>
              </a:rPr>
              <a:t>Lật thẻ → bài học ứng dụng</a:t>
            </a:r>
          </a:p>
        </p:txBody>
      </p:sp>
      <p:sp>
        <p:nvSpPr>
          <p:cNvPr id="21" name="Rounded Rectangle 20"/>
          <p:cNvSpPr/>
          <p:nvPr/>
        </p:nvSpPr>
        <p:spPr>
          <a:xfrm>
            <a:off x="6199632" y="4114800"/>
            <a:ext cx="5166360" cy="2084831"/>
          </a:xfrm>
          <a:prstGeom prst="roundRect">
            <a:avLst>
              <a:gd name="adj" fmla="val 6000"/>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199632" y="4114800"/>
            <a:ext cx="5166360" cy="2084831"/>
          </a:xfrm>
          <a:prstGeom prst="roundRect">
            <a:avLst>
              <a:gd name="adj" fmla="val 6000"/>
            </a:avLst>
          </a:prstGeom>
          <a:noFill/>
          <a:ln w="12700">
            <a:solidFill>
              <a:srgbClr val="D4A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19672" y="4389120"/>
            <a:ext cx="4526280" cy="1097280"/>
          </a:xfrm>
          <a:prstGeom prst="rect">
            <a:avLst/>
          </a:prstGeom>
          <a:noFill/>
        </p:spPr>
        <p:txBody>
          <a:bodyPr wrap="square" lIns="0" rIns="0" tIns="0" bIns="0" anchor="t">
            <a:spAutoFit/>
          </a:bodyPr>
          <a:lstStyle/>
          <a:p>
            <a:pPr algn="l">
              <a:lnSpc>
                <a:spcPct val="112000"/>
              </a:lnSpc>
              <a:spcAft>
                <a:spcPts val="0"/>
              </a:spcAft>
            </a:pPr>
            <a:r>
              <a:rPr sz="1550" b="1" i="0">
                <a:solidFill>
                  <a:srgbClr val="FDFBF7"/>
                </a:solidFill>
                <a:latin typeface="Georgia"/>
              </a:rPr>
              <a:t>“Một tấm gương sống còn có giá trị hơn một trăm bài diễn văn tuyên truyền.”</a:t>
            </a:r>
          </a:p>
        </p:txBody>
      </p:sp>
      <p:sp>
        <p:nvSpPr>
          <p:cNvPr id="24" name="TextBox 23"/>
          <p:cNvSpPr txBox="1"/>
          <p:nvPr/>
        </p:nvSpPr>
        <p:spPr>
          <a:xfrm>
            <a:off x="6519672" y="5532120"/>
            <a:ext cx="4526280" cy="457200"/>
          </a:xfrm>
          <a:prstGeom prst="rect">
            <a:avLst/>
          </a:prstGeom>
          <a:noFill/>
        </p:spPr>
        <p:txBody>
          <a:bodyPr wrap="square" lIns="0" rIns="0" tIns="0" bIns="0" anchor="t">
            <a:spAutoFit/>
          </a:bodyPr>
          <a:lstStyle/>
          <a:p>
            <a:pPr algn="l">
              <a:lnSpc>
                <a:spcPct val="112000"/>
              </a:lnSpc>
              <a:spcAft>
                <a:spcPts val="0"/>
              </a:spcAft>
            </a:pPr>
            <a:r>
              <a:rPr sz="1050" b="0" i="0">
                <a:solidFill>
                  <a:srgbClr val="E7CD7A"/>
                </a:solidFill>
                <a:latin typeface="Segoe UI"/>
              </a:rPr>
              <a:t>Bài nói chuyện tại lớp chỉnh Đảng, 1961.</a:t>
            </a:r>
          </a:p>
        </p:txBody>
      </p:sp>
      <p:sp>
        <p:nvSpPr>
          <p:cNvPr id="25" name="TextBox 24"/>
          <p:cNvSpPr txBox="1"/>
          <p:nvPr/>
        </p:nvSpPr>
        <p:spPr>
          <a:xfrm>
            <a:off x="6519672" y="5852160"/>
            <a:ext cx="4526280" cy="274320"/>
          </a:xfrm>
          <a:prstGeom prst="rect">
            <a:avLst/>
          </a:prstGeom>
          <a:noFill/>
        </p:spPr>
        <p:txBody>
          <a:bodyPr wrap="square" lIns="0" rIns="0" tIns="0" bIns="0" anchor="t">
            <a:spAutoFit/>
          </a:bodyPr>
          <a:lstStyle/>
          <a:p>
            <a:pPr algn="l">
              <a:lnSpc>
                <a:spcPct val="112000"/>
              </a:lnSpc>
              <a:spcAft>
                <a:spcPts val="0"/>
              </a:spcAft>
            </a:pPr>
            <a:r>
              <a:rPr sz="950" b="0" i="1">
                <a:solidFill>
                  <a:srgbClr val="E8C9C9"/>
                </a:solidFill>
                <a:latin typeface="Segoe UI"/>
              </a:rPr>
              <a:t>Lật thẻ → bài học ứng dụng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9144000" cy="274320"/>
          </a:xfrm>
          <a:prstGeom prst="rect">
            <a:avLst/>
          </a:prstGeom>
          <a:noFill/>
        </p:spPr>
        <p:txBody>
          <a:bodyPr wrap="square" lIns="0" rIns="0" tIns="0" bIns="0" anchor="t">
            <a:spAutoFit/>
          </a:bodyPr>
          <a:lstStyle/>
          <a:p>
            <a:pPr algn="l">
              <a:lnSpc>
                <a:spcPct val="112000"/>
              </a:lnSpc>
              <a:spcAft>
                <a:spcPts val="0"/>
              </a:spcAft>
            </a:pPr>
            <a:r>
              <a:rPr sz="1250" b="1" i="0">
                <a:solidFill>
                  <a:srgbClr val="A8232A"/>
                </a:solidFill>
                <a:latin typeface="Segoe UI"/>
              </a:rPr>
              <a:t>7 · CÔNG NGHỆ</a:t>
            </a:r>
          </a:p>
        </p:txBody>
      </p:sp>
      <p:sp>
        <p:nvSpPr>
          <p:cNvPr id="4" name="TextBox 3"/>
          <p:cNvSpPr txBox="1"/>
          <p:nvPr/>
        </p:nvSpPr>
        <p:spPr>
          <a:xfrm>
            <a:off x="822960" y="868680"/>
            <a:ext cx="10424160" cy="822960"/>
          </a:xfrm>
          <a:prstGeom prst="rect">
            <a:avLst/>
          </a:prstGeom>
          <a:noFill/>
        </p:spPr>
        <p:txBody>
          <a:bodyPr wrap="square" lIns="0" rIns="0" tIns="0" bIns="0" anchor="t">
            <a:spAutoFit/>
          </a:bodyPr>
          <a:lstStyle/>
          <a:p>
            <a:pPr algn="l">
              <a:lnSpc>
                <a:spcPct val="112000"/>
              </a:lnSpc>
              <a:spcAft>
                <a:spcPts val="0"/>
              </a:spcAft>
            </a:pPr>
            <a:r>
              <a:rPr sz="3000" b="1" i="0">
                <a:solidFill>
                  <a:srgbClr val="1C1A17"/>
                </a:solidFill>
                <a:latin typeface="Georgia"/>
              </a:rPr>
              <a:t>Dựng bằng công cụ mã nguồn mở, chi phí 0 đồng</a:t>
            </a:r>
          </a:p>
        </p:txBody>
      </p:sp>
      <p:sp>
        <p:nvSpPr>
          <p:cNvPr id="5" name="Rectangle 4"/>
          <p:cNvSpPr/>
          <p:nvPr/>
        </p:nvSpPr>
        <p:spPr>
          <a:xfrm>
            <a:off x="822960" y="1481328"/>
            <a:ext cx="1005840" cy="41148"/>
          </a:xfrm>
          <a:prstGeom prst="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22960" y="1828800"/>
            <a:ext cx="6675120" cy="603504"/>
          </a:xfrm>
          <a:prstGeom prst="roundRect">
            <a:avLst>
              <a:gd name="adj" fmla="val 16000"/>
            </a:avLst>
          </a:prstGeom>
          <a:solidFill>
            <a:srgbClr val="F4E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002536"/>
            <a:ext cx="2148840" cy="274320"/>
          </a:xfrm>
          <a:prstGeom prst="rect">
            <a:avLst/>
          </a:prstGeom>
          <a:noFill/>
        </p:spPr>
        <p:txBody>
          <a:bodyPr wrap="square" lIns="0" rIns="0" tIns="0" bIns="0" anchor="t">
            <a:spAutoFit/>
          </a:bodyPr>
          <a:lstStyle/>
          <a:p>
            <a:pPr algn="l">
              <a:lnSpc>
                <a:spcPct val="112000"/>
              </a:lnSpc>
              <a:spcAft>
                <a:spcPts val="0"/>
              </a:spcAft>
            </a:pPr>
            <a:r>
              <a:rPr sz="1150" b="1" i="0">
                <a:solidFill>
                  <a:srgbClr val="8B0000"/>
                </a:solidFill>
                <a:latin typeface="Segoe UI"/>
              </a:rPr>
              <a:t>Giao diện &amp; render</a:t>
            </a:r>
          </a:p>
        </p:txBody>
      </p:sp>
      <p:sp>
        <p:nvSpPr>
          <p:cNvPr id="8" name="TextBox 7"/>
          <p:cNvSpPr txBox="1"/>
          <p:nvPr/>
        </p:nvSpPr>
        <p:spPr>
          <a:xfrm>
            <a:off x="3246120" y="2002536"/>
            <a:ext cx="4114800" cy="274320"/>
          </a:xfrm>
          <a:prstGeom prst="rect">
            <a:avLst/>
          </a:prstGeom>
          <a:noFill/>
        </p:spPr>
        <p:txBody>
          <a:bodyPr wrap="square" lIns="0" rIns="0" tIns="0" bIns="0" anchor="t">
            <a:spAutoFit/>
          </a:bodyPr>
          <a:lstStyle/>
          <a:p>
            <a:pPr algn="l">
              <a:lnSpc>
                <a:spcPct val="112000"/>
              </a:lnSpc>
              <a:spcAft>
                <a:spcPts val="0"/>
              </a:spcAft>
            </a:pPr>
            <a:r>
              <a:rPr sz="1100" b="0" i="0">
                <a:solidFill>
                  <a:srgbClr val="1C1A17"/>
                </a:solidFill>
                <a:latin typeface="Segoe UI"/>
              </a:rPr>
              <a:t>Next.js 14 (App Router) · React 18 · TypeScript 5.5</a:t>
            </a:r>
          </a:p>
        </p:txBody>
      </p:sp>
      <p:sp>
        <p:nvSpPr>
          <p:cNvPr id="9" name="Rounded Rectangle 8"/>
          <p:cNvSpPr/>
          <p:nvPr/>
        </p:nvSpPr>
        <p:spPr>
          <a:xfrm>
            <a:off x="822960" y="2542032"/>
            <a:ext cx="6675120" cy="603504"/>
          </a:xfrm>
          <a:prstGeom prst="roundRect">
            <a:avLst>
              <a:gd name="adj" fmla="val 16000"/>
            </a:avLst>
          </a:prstGeom>
          <a:solidFill>
            <a:srgbClr val="F4E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2715768"/>
            <a:ext cx="2148840" cy="274320"/>
          </a:xfrm>
          <a:prstGeom prst="rect">
            <a:avLst/>
          </a:prstGeom>
          <a:noFill/>
        </p:spPr>
        <p:txBody>
          <a:bodyPr wrap="square" lIns="0" rIns="0" tIns="0" bIns="0" anchor="t">
            <a:spAutoFit/>
          </a:bodyPr>
          <a:lstStyle/>
          <a:p>
            <a:pPr algn="l">
              <a:lnSpc>
                <a:spcPct val="112000"/>
              </a:lnSpc>
              <a:spcAft>
                <a:spcPts val="0"/>
              </a:spcAft>
            </a:pPr>
            <a:r>
              <a:rPr sz="1150" b="1" i="0">
                <a:solidFill>
                  <a:srgbClr val="8B0000"/>
                </a:solidFill>
                <a:latin typeface="Segoe UI"/>
              </a:rPr>
              <a:t>Đồ hoạ 3D</a:t>
            </a:r>
          </a:p>
        </p:txBody>
      </p:sp>
      <p:sp>
        <p:nvSpPr>
          <p:cNvPr id="11" name="TextBox 10"/>
          <p:cNvSpPr txBox="1"/>
          <p:nvPr/>
        </p:nvSpPr>
        <p:spPr>
          <a:xfrm>
            <a:off x="3246120" y="2715768"/>
            <a:ext cx="4114800" cy="274320"/>
          </a:xfrm>
          <a:prstGeom prst="rect">
            <a:avLst/>
          </a:prstGeom>
          <a:noFill/>
        </p:spPr>
        <p:txBody>
          <a:bodyPr wrap="square" lIns="0" rIns="0" tIns="0" bIns="0" anchor="t">
            <a:spAutoFit/>
          </a:bodyPr>
          <a:lstStyle/>
          <a:p>
            <a:pPr algn="l">
              <a:lnSpc>
                <a:spcPct val="112000"/>
              </a:lnSpc>
              <a:spcAft>
                <a:spcPts val="0"/>
              </a:spcAft>
            </a:pPr>
            <a:r>
              <a:rPr sz="1100" b="0" i="0">
                <a:solidFill>
                  <a:srgbClr val="1C1A17"/>
                </a:solidFill>
                <a:latin typeface="Segoe UI"/>
              </a:rPr>
              <a:t>three.js 0.165 · React Three Fiber 8.16 · drei 9.108</a:t>
            </a:r>
          </a:p>
        </p:txBody>
      </p:sp>
      <p:sp>
        <p:nvSpPr>
          <p:cNvPr id="12" name="Rounded Rectangle 11"/>
          <p:cNvSpPr/>
          <p:nvPr/>
        </p:nvSpPr>
        <p:spPr>
          <a:xfrm>
            <a:off x="822960" y="3255264"/>
            <a:ext cx="6675120" cy="603504"/>
          </a:xfrm>
          <a:prstGeom prst="roundRect">
            <a:avLst>
              <a:gd name="adj" fmla="val 16000"/>
            </a:avLst>
          </a:prstGeom>
          <a:solidFill>
            <a:srgbClr val="F4E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429000"/>
            <a:ext cx="2148840" cy="274320"/>
          </a:xfrm>
          <a:prstGeom prst="rect">
            <a:avLst/>
          </a:prstGeom>
          <a:noFill/>
        </p:spPr>
        <p:txBody>
          <a:bodyPr wrap="square" lIns="0" rIns="0" tIns="0" bIns="0" anchor="t">
            <a:spAutoFit/>
          </a:bodyPr>
          <a:lstStyle/>
          <a:p>
            <a:pPr algn="l">
              <a:lnSpc>
                <a:spcPct val="112000"/>
              </a:lnSpc>
              <a:spcAft>
                <a:spcPts val="0"/>
              </a:spcAft>
            </a:pPr>
            <a:r>
              <a:rPr sz="1150" b="1" i="0">
                <a:solidFill>
                  <a:srgbClr val="8B0000"/>
                </a:solidFill>
                <a:latin typeface="Segoe UI"/>
              </a:rPr>
              <a:t>Chuyển động</a:t>
            </a:r>
          </a:p>
        </p:txBody>
      </p:sp>
      <p:sp>
        <p:nvSpPr>
          <p:cNvPr id="14" name="TextBox 13"/>
          <p:cNvSpPr txBox="1"/>
          <p:nvPr/>
        </p:nvSpPr>
        <p:spPr>
          <a:xfrm>
            <a:off x="3246120" y="3429000"/>
            <a:ext cx="4114800" cy="274320"/>
          </a:xfrm>
          <a:prstGeom prst="rect">
            <a:avLst/>
          </a:prstGeom>
          <a:noFill/>
        </p:spPr>
        <p:txBody>
          <a:bodyPr wrap="square" lIns="0" rIns="0" tIns="0" bIns="0" anchor="t">
            <a:spAutoFit/>
          </a:bodyPr>
          <a:lstStyle/>
          <a:p>
            <a:pPr algn="l">
              <a:lnSpc>
                <a:spcPct val="112000"/>
              </a:lnSpc>
              <a:spcAft>
                <a:spcPts val="0"/>
              </a:spcAft>
            </a:pPr>
            <a:r>
              <a:rPr sz="1100" b="0" i="0">
                <a:solidFill>
                  <a:srgbClr val="1C1A17"/>
                </a:solidFill>
                <a:latin typeface="Segoe UI"/>
              </a:rPr>
              <a:t>Framer Motion 11 (cuộn tới đâu, hiện tới đó)</a:t>
            </a:r>
          </a:p>
        </p:txBody>
      </p:sp>
      <p:sp>
        <p:nvSpPr>
          <p:cNvPr id="15" name="Rounded Rectangle 14"/>
          <p:cNvSpPr/>
          <p:nvPr/>
        </p:nvSpPr>
        <p:spPr>
          <a:xfrm>
            <a:off x="822960" y="3968496"/>
            <a:ext cx="6675120" cy="603504"/>
          </a:xfrm>
          <a:prstGeom prst="roundRect">
            <a:avLst>
              <a:gd name="adj" fmla="val 16000"/>
            </a:avLst>
          </a:prstGeom>
          <a:solidFill>
            <a:srgbClr val="F4E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4142232"/>
            <a:ext cx="2148840" cy="274320"/>
          </a:xfrm>
          <a:prstGeom prst="rect">
            <a:avLst/>
          </a:prstGeom>
          <a:noFill/>
        </p:spPr>
        <p:txBody>
          <a:bodyPr wrap="square" lIns="0" rIns="0" tIns="0" bIns="0" anchor="t">
            <a:spAutoFit/>
          </a:bodyPr>
          <a:lstStyle/>
          <a:p>
            <a:pPr algn="l">
              <a:lnSpc>
                <a:spcPct val="112000"/>
              </a:lnSpc>
              <a:spcAft>
                <a:spcPts val="0"/>
              </a:spcAft>
            </a:pPr>
            <a:r>
              <a:rPr sz="1150" b="1" i="0">
                <a:solidFill>
                  <a:srgbClr val="8B0000"/>
                </a:solidFill>
                <a:latin typeface="Segoe UI"/>
              </a:rPr>
              <a:t>Thiết kế</a:t>
            </a:r>
          </a:p>
        </p:txBody>
      </p:sp>
      <p:sp>
        <p:nvSpPr>
          <p:cNvPr id="17" name="TextBox 16"/>
          <p:cNvSpPr txBox="1"/>
          <p:nvPr/>
        </p:nvSpPr>
        <p:spPr>
          <a:xfrm>
            <a:off x="3246120" y="4142232"/>
            <a:ext cx="4114800" cy="274320"/>
          </a:xfrm>
          <a:prstGeom prst="rect">
            <a:avLst/>
          </a:prstGeom>
          <a:noFill/>
        </p:spPr>
        <p:txBody>
          <a:bodyPr wrap="square" lIns="0" rIns="0" tIns="0" bIns="0" anchor="t">
            <a:spAutoFit/>
          </a:bodyPr>
          <a:lstStyle/>
          <a:p>
            <a:pPr algn="l">
              <a:lnSpc>
                <a:spcPct val="112000"/>
              </a:lnSpc>
              <a:spcAft>
                <a:spcPts val="0"/>
              </a:spcAft>
            </a:pPr>
            <a:r>
              <a:rPr sz="1100" b="0" i="0">
                <a:solidFill>
                  <a:srgbClr val="1C1A17"/>
                </a:solidFill>
                <a:latin typeface="Segoe UI"/>
              </a:rPr>
              <a:t>Tailwind CSS 3.4 + bảng màu burgundy · gold · cream</a:t>
            </a:r>
          </a:p>
        </p:txBody>
      </p:sp>
      <p:sp>
        <p:nvSpPr>
          <p:cNvPr id="18" name="Rounded Rectangle 17"/>
          <p:cNvSpPr/>
          <p:nvPr/>
        </p:nvSpPr>
        <p:spPr>
          <a:xfrm>
            <a:off x="822960" y="4681728"/>
            <a:ext cx="6675120" cy="603504"/>
          </a:xfrm>
          <a:prstGeom prst="roundRect">
            <a:avLst>
              <a:gd name="adj" fmla="val 16000"/>
            </a:avLst>
          </a:prstGeom>
          <a:solidFill>
            <a:srgbClr val="F4E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4855464"/>
            <a:ext cx="2148840" cy="274320"/>
          </a:xfrm>
          <a:prstGeom prst="rect">
            <a:avLst/>
          </a:prstGeom>
          <a:noFill/>
        </p:spPr>
        <p:txBody>
          <a:bodyPr wrap="square" lIns="0" rIns="0" tIns="0" bIns="0" anchor="t">
            <a:spAutoFit/>
          </a:bodyPr>
          <a:lstStyle/>
          <a:p>
            <a:pPr algn="l">
              <a:lnSpc>
                <a:spcPct val="112000"/>
              </a:lnSpc>
              <a:spcAft>
                <a:spcPts val="0"/>
              </a:spcAft>
            </a:pPr>
            <a:r>
              <a:rPr sz="1150" b="1" i="0">
                <a:solidFill>
                  <a:srgbClr val="8B0000"/>
                </a:solidFill>
                <a:latin typeface="Segoe UI"/>
              </a:rPr>
              <a:t>Dữ liệu</a:t>
            </a:r>
          </a:p>
        </p:txBody>
      </p:sp>
      <p:sp>
        <p:nvSpPr>
          <p:cNvPr id="20" name="TextBox 19"/>
          <p:cNvSpPr txBox="1"/>
          <p:nvPr/>
        </p:nvSpPr>
        <p:spPr>
          <a:xfrm>
            <a:off x="3246120" y="4855464"/>
            <a:ext cx="4114800" cy="274320"/>
          </a:xfrm>
          <a:prstGeom prst="rect">
            <a:avLst/>
          </a:prstGeom>
          <a:noFill/>
        </p:spPr>
        <p:txBody>
          <a:bodyPr wrap="square" lIns="0" rIns="0" tIns="0" bIns="0" anchor="t">
            <a:spAutoFit/>
          </a:bodyPr>
          <a:lstStyle/>
          <a:p>
            <a:pPr algn="l">
              <a:lnSpc>
                <a:spcPct val="112000"/>
              </a:lnSpc>
              <a:spcAft>
                <a:spcPts val="0"/>
              </a:spcAft>
            </a:pPr>
            <a:r>
              <a:rPr sz="1100" b="0" i="0">
                <a:solidFill>
                  <a:srgbClr val="1C1A17"/>
                </a:solidFill>
                <a:latin typeface="Segoe UI"/>
              </a:rPr>
              <a:t>4 file JSON tĩnh — không cần database</a:t>
            </a:r>
          </a:p>
        </p:txBody>
      </p:sp>
      <p:sp>
        <p:nvSpPr>
          <p:cNvPr id="21" name="Rounded Rectangle 20"/>
          <p:cNvSpPr/>
          <p:nvPr/>
        </p:nvSpPr>
        <p:spPr>
          <a:xfrm>
            <a:off x="822960" y="5394960"/>
            <a:ext cx="6675120" cy="603504"/>
          </a:xfrm>
          <a:prstGeom prst="roundRect">
            <a:avLst>
              <a:gd name="adj" fmla="val 16000"/>
            </a:avLst>
          </a:prstGeom>
          <a:solidFill>
            <a:srgbClr val="F4E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51560" y="5568696"/>
            <a:ext cx="2148840" cy="274320"/>
          </a:xfrm>
          <a:prstGeom prst="rect">
            <a:avLst/>
          </a:prstGeom>
          <a:noFill/>
        </p:spPr>
        <p:txBody>
          <a:bodyPr wrap="square" lIns="0" rIns="0" tIns="0" bIns="0" anchor="t">
            <a:spAutoFit/>
          </a:bodyPr>
          <a:lstStyle/>
          <a:p>
            <a:pPr algn="l">
              <a:lnSpc>
                <a:spcPct val="112000"/>
              </a:lnSpc>
              <a:spcAft>
                <a:spcPts val="0"/>
              </a:spcAft>
            </a:pPr>
            <a:r>
              <a:rPr sz="1150" b="1" i="0">
                <a:solidFill>
                  <a:srgbClr val="8B0000"/>
                </a:solidFill>
                <a:latin typeface="Segoe UI"/>
              </a:rPr>
              <a:t>Kiểu chữ</a:t>
            </a:r>
          </a:p>
        </p:txBody>
      </p:sp>
      <p:sp>
        <p:nvSpPr>
          <p:cNvPr id="23" name="TextBox 22"/>
          <p:cNvSpPr txBox="1"/>
          <p:nvPr/>
        </p:nvSpPr>
        <p:spPr>
          <a:xfrm>
            <a:off x="3246120" y="5568696"/>
            <a:ext cx="4114800" cy="274320"/>
          </a:xfrm>
          <a:prstGeom prst="rect">
            <a:avLst/>
          </a:prstGeom>
          <a:noFill/>
        </p:spPr>
        <p:txBody>
          <a:bodyPr wrap="square" lIns="0" rIns="0" tIns="0" bIns="0" anchor="t">
            <a:spAutoFit/>
          </a:bodyPr>
          <a:lstStyle/>
          <a:p>
            <a:pPr algn="l">
              <a:lnSpc>
                <a:spcPct val="112000"/>
              </a:lnSpc>
              <a:spcAft>
                <a:spcPts val="0"/>
              </a:spcAft>
            </a:pPr>
            <a:r>
              <a:rPr sz="1100" b="0" i="0">
                <a:solidFill>
                  <a:srgbClr val="1C1A17"/>
                </a:solidFill>
                <a:latin typeface="Segoe UI"/>
              </a:rPr>
              <a:t>Playfair Display + Inter (subset tiếng Việt)</a:t>
            </a:r>
          </a:p>
        </p:txBody>
      </p:sp>
      <p:sp>
        <p:nvSpPr>
          <p:cNvPr id="24" name="Rounded Rectangle 23"/>
          <p:cNvSpPr/>
          <p:nvPr/>
        </p:nvSpPr>
        <p:spPr>
          <a:xfrm>
            <a:off x="7818120" y="1828800"/>
            <a:ext cx="3547872" cy="4114800"/>
          </a:xfrm>
          <a:prstGeom prst="roundRect">
            <a:avLst>
              <a:gd name="adj" fmla="val 4000"/>
            </a:avLst>
          </a:prstGeom>
          <a:solidFill>
            <a:srgbClr val="1C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38160" y="2084831"/>
            <a:ext cx="2926080" cy="274320"/>
          </a:xfrm>
          <a:prstGeom prst="rect">
            <a:avLst/>
          </a:prstGeom>
          <a:noFill/>
        </p:spPr>
        <p:txBody>
          <a:bodyPr wrap="square" lIns="0" rIns="0" tIns="0" bIns="0" anchor="t">
            <a:spAutoFit/>
          </a:bodyPr>
          <a:lstStyle/>
          <a:p>
            <a:pPr algn="l">
              <a:lnSpc>
                <a:spcPct val="112000"/>
              </a:lnSpc>
              <a:spcAft>
                <a:spcPts val="0"/>
              </a:spcAft>
            </a:pPr>
            <a:r>
              <a:rPr sz="1100" b="1" i="0">
                <a:solidFill>
                  <a:srgbClr val="D4AF37"/>
                </a:solidFill>
                <a:latin typeface="Segoe UI"/>
              </a:rPr>
              <a:t>VÌ SAO KHÔNG DÙNG SPLINE?</a:t>
            </a:r>
          </a:p>
        </p:txBody>
      </p:sp>
      <p:sp>
        <p:nvSpPr>
          <p:cNvPr id="26" name="TextBox 25"/>
          <p:cNvSpPr txBox="1"/>
          <p:nvPr/>
        </p:nvSpPr>
        <p:spPr>
          <a:xfrm>
            <a:off x="8138160" y="2468880"/>
            <a:ext cx="2971800" cy="3200400"/>
          </a:xfrm>
          <a:prstGeom prst="rect">
            <a:avLst/>
          </a:prstGeom>
          <a:noFill/>
        </p:spPr>
        <p:txBody>
          <a:bodyPr wrap="square" lIns="0" rIns="0" tIns="0" bIns="0" anchor="t">
            <a:spAutoFit/>
          </a:bodyPr>
          <a:lstStyle/>
          <a:p>
            <a:pPr algn="l">
              <a:lnSpc>
                <a:spcPct val="112000"/>
              </a:lnSpc>
              <a:spcAft>
                <a:spcPts val="800"/>
              </a:spcAft>
            </a:pPr>
            <a:r>
              <a:rPr sz="1200" b="0" i="0">
                <a:solidFill>
                  <a:srgbClr val="FDFBF7"/>
                </a:solidFill>
                <a:latin typeface="Segoe UI"/>
              </a:rPr>
              <a:t>Hero và quả địa cầu được dựng bằng </a:t>
            </a:r>
            <a:r>
              <a:rPr sz="1200" b="1" i="0">
                <a:solidFill>
                  <a:srgbClr val="E7CD7A"/>
                </a:solidFill>
                <a:latin typeface="Segoe UI"/>
              </a:rPr>
              <a:t>hình học thủ tục</a:t>
            </a:r>
            <a:r>
              <a:rPr sz="1200" b="0" i="0">
                <a:solidFill>
                  <a:srgbClr val="FDFBF7"/>
                </a:solidFill>
                <a:latin typeface="Segoe UI"/>
              </a:rPr>
              <a:t> trong code, không dùng file cảnh 3D bên ngoài.</a:t>
            </a:r>
          </a:p>
          <a:p>
            <a:pPr algn="l">
              <a:lnSpc>
                <a:spcPct val="112000"/>
              </a:lnSpc>
              <a:spcAft>
                <a:spcPts val="800"/>
              </a:spcAft>
            </a:pPr>
            <a:r>
              <a:rPr sz="1150" b="0" i="0">
                <a:solidFill>
                  <a:srgbClr val="A9A298"/>
                </a:solidFill>
                <a:latin typeface="Segoe UI"/>
              </a:rPr>
              <a:t>→ Không phụ thuộc asset ngoài, không cần API key, không lo link hết hạn.</a:t>
            </a:r>
          </a:p>
          <a:p>
            <a:pPr algn="l">
              <a:lnSpc>
                <a:spcPct val="112000"/>
              </a:lnSpc>
              <a:spcAft>
                <a:spcPts val="800"/>
              </a:spcAft>
            </a:pPr>
            <a:r>
              <a:rPr sz="1150" b="0" i="0">
                <a:solidFill>
                  <a:srgbClr val="A9A298"/>
                </a:solidFill>
                <a:latin typeface="Segoe UI"/>
              </a:rPr>
              <a:t>→ Tải nhẹ hơn và chạy được cả trên máy cấu hình thấp.</a:t>
            </a:r>
          </a:p>
          <a:p>
            <a:pPr algn="l">
              <a:lnSpc>
                <a:spcPct val="112000"/>
              </a:lnSpc>
              <a:spcAft>
                <a:spcPts val="800"/>
              </a:spcAft>
            </a:pPr>
            <a:r>
              <a:rPr sz="1150" b="0" i="0">
                <a:solidFill>
                  <a:srgbClr val="A9A298"/>
                </a:solidFill>
                <a:latin typeface="Segoe UI"/>
              </a:rPr>
              <a:t>→ Toàn bộ ~1.450 dòng TS/TSX nằm trong 9 file, dễ đọc, dễ sửa, dễ chấm.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9144000" cy="274320"/>
          </a:xfrm>
          <a:prstGeom prst="rect">
            <a:avLst/>
          </a:prstGeom>
          <a:noFill/>
        </p:spPr>
        <p:txBody>
          <a:bodyPr wrap="square" lIns="0" rIns="0" tIns="0" bIns="0" anchor="t">
            <a:spAutoFit/>
          </a:bodyPr>
          <a:lstStyle/>
          <a:p>
            <a:pPr algn="l">
              <a:lnSpc>
                <a:spcPct val="112000"/>
              </a:lnSpc>
              <a:spcAft>
                <a:spcPts val="0"/>
              </a:spcAft>
            </a:pPr>
            <a:r>
              <a:rPr sz="1250" b="1" i="0">
                <a:solidFill>
                  <a:srgbClr val="A8232A"/>
                </a:solidFill>
                <a:latin typeface="Segoe UI"/>
              </a:rPr>
              <a:t>7 · CÔNG NGHỆ (TIẾP)</a:t>
            </a:r>
          </a:p>
        </p:txBody>
      </p:sp>
      <p:sp>
        <p:nvSpPr>
          <p:cNvPr id="4" name="TextBox 3"/>
          <p:cNvSpPr txBox="1"/>
          <p:nvPr/>
        </p:nvSpPr>
        <p:spPr>
          <a:xfrm>
            <a:off x="822960" y="868680"/>
            <a:ext cx="10424160" cy="822960"/>
          </a:xfrm>
          <a:prstGeom prst="rect">
            <a:avLst/>
          </a:prstGeom>
          <a:noFill/>
        </p:spPr>
        <p:txBody>
          <a:bodyPr wrap="square" lIns="0" rIns="0" tIns="0" bIns="0" anchor="t">
            <a:spAutoFit/>
          </a:bodyPr>
          <a:lstStyle/>
          <a:p>
            <a:pPr algn="l">
              <a:lnSpc>
                <a:spcPct val="112000"/>
              </a:lnSpc>
              <a:spcAft>
                <a:spcPts val="0"/>
              </a:spcAft>
            </a:pPr>
            <a:r>
              <a:rPr sz="3000" b="1" i="0">
                <a:solidFill>
                  <a:srgbClr val="1C1A17"/>
                </a:solidFill>
                <a:latin typeface="Georgia"/>
              </a:rPr>
              <a:t>Kiến trúc data-driven: sửa JSON là đổi nội dung</a:t>
            </a:r>
          </a:p>
        </p:txBody>
      </p:sp>
      <p:sp>
        <p:nvSpPr>
          <p:cNvPr id="5" name="Rectangle 4"/>
          <p:cNvSpPr/>
          <p:nvPr/>
        </p:nvSpPr>
        <p:spPr>
          <a:xfrm>
            <a:off x="822960" y="1481328"/>
            <a:ext cx="1005840" cy="41148"/>
          </a:xfrm>
          <a:prstGeom prst="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22960" y="1828800"/>
            <a:ext cx="5486400" cy="4069080"/>
          </a:xfrm>
          <a:prstGeom prst="roundRect">
            <a:avLst>
              <a:gd name="adj" fmla="val 4000"/>
            </a:avLst>
          </a:prstGeom>
          <a:solidFill>
            <a:srgbClr val="1C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084831"/>
            <a:ext cx="5029200" cy="3657600"/>
          </a:xfrm>
          <a:prstGeom prst="rect">
            <a:avLst/>
          </a:prstGeom>
          <a:noFill/>
        </p:spPr>
        <p:txBody>
          <a:bodyPr wrap="square" lIns="0" rIns="0" tIns="0" bIns="0" anchor="t">
            <a:spAutoFit/>
          </a:bodyPr>
          <a:lstStyle/>
          <a:p>
            <a:pPr algn="l">
              <a:lnSpc>
                <a:spcPct val="106000"/>
              </a:lnSpc>
              <a:spcAft>
                <a:spcPts val="300"/>
              </a:spcAft>
            </a:pPr>
            <a:r>
              <a:rPr sz="1150" b="0" i="0">
                <a:solidFill>
                  <a:srgbClr val="FDFBF7"/>
                </a:solidFill>
                <a:latin typeface="Consolas"/>
              </a:rPr>
              <a:t>soiduong/</a:t>
            </a:r>
          </a:p>
          <a:p>
            <a:pPr algn="l">
              <a:lnSpc>
                <a:spcPct val="106000"/>
              </a:lnSpc>
              <a:spcAft>
                <a:spcPts val="300"/>
              </a:spcAft>
            </a:pPr>
            <a:r>
              <a:rPr sz="1150" b="0" i="0">
                <a:solidFill>
                  <a:srgbClr val="FDFBF7"/>
                </a:solidFill>
                <a:latin typeface="Consolas"/>
              </a:rPr>
              <a:t>├── app/</a:t>
            </a:r>
          </a:p>
          <a:p>
            <a:pPr algn="l">
              <a:lnSpc>
                <a:spcPct val="106000"/>
              </a:lnSpc>
              <a:spcAft>
                <a:spcPts val="300"/>
              </a:spcAft>
            </a:pPr>
            <a:r>
              <a:rPr sz="1150" b="1" i="0">
                <a:solidFill>
                  <a:srgbClr val="E7CD7A"/>
                </a:solidFill>
                <a:latin typeface="Consolas"/>
              </a:rPr>
              <a:t>│   ├── layout.tsx      font + metadata</a:t>
            </a:r>
          </a:p>
          <a:p>
            <a:pPr algn="l">
              <a:lnSpc>
                <a:spcPct val="106000"/>
              </a:lnSpc>
              <a:spcAft>
                <a:spcPts val="300"/>
              </a:spcAft>
            </a:pPr>
            <a:r>
              <a:rPr sz="1150" b="0" i="0">
                <a:solidFill>
                  <a:srgbClr val="FDFBF7"/>
                </a:solidFill>
                <a:latin typeface="Consolas"/>
              </a:rPr>
              <a:t>│   ├── page.tsx        ghép 4 trạm</a:t>
            </a:r>
          </a:p>
          <a:p>
            <a:pPr algn="l">
              <a:lnSpc>
                <a:spcPct val="106000"/>
              </a:lnSpc>
              <a:spcAft>
                <a:spcPts val="300"/>
              </a:spcAft>
            </a:pPr>
            <a:r>
              <a:rPr sz="1150" b="0" i="0">
                <a:solidFill>
                  <a:srgbClr val="FDFBF7"/>
                </a:solidFill>
                <a:latin typeface="Consolas"/>
              </a:rPr>
              <a:t>│   └── globals.css     màu, reduced-motion, flip-card</a:t>
            </a:r>
          </a:p>
          <a:p>
            <a:pPr algn="l">
              <a:lnSpc>
                <a:spcPct val="106000"/>
              </a:lnSpc>
              <a:spcAft>
                <a:spcPts val="300"/>
              </a:spcAft>
            </a:pPr>
            <a:r>
              <a:rPr sz="1150" b="0" i="0">
                <a:solidFill>
                  <a:srgbClr val="FDFBF7"/>
                </a:solidFill>
                <a:latin typeface="Consolas"/>
              </a:rPr>
              <a:t>├── components/         7 component</a:t>
            </a:r>
          </a:p>
          <a:p>
            <a:pPr algn="l">
              <a:lnSpc>
                <a:spcPct val="106000"/>
              </a:lnSpc>
              <a:spcAft>
                <a:spcPts val="300"/>
              </a:spcAft>
            </a:pPr>
            <a:r>
              <a:rPr sz="1150" b="0" i="0">
                <a:solidFill>
                  <a:srgbClr val="FDFBF7"/>
                </a:solidFill>
                <a:latin typeface="Consolas"/>
              </a:rPr>
              <a:t>│   ├── Hero3D.tsx      búa – liềm 3D</a:t>
            </a:r>
          </a:p>
          <a:p>
            <a:pPr algn="l">
              <a:lnSpc>
                <a:spcPct val="106000"/>
              </a:lnSpc>
              <a:spcAft>
                <a:spcPts val="300"/>
              </a:spcAft>
            </a:pPr>
            <a:r>
              <a:rPr sz="1150" b="0" i="0">
                <a:solidFill>
                  <a:srgbClr val="FDFBF7"/>
                </a:solidFill>
                <a:latin typeface="Consolas"/>
              </a:rPr>
              <a:t>│   ├── GlobeSection.tsx  quả địa cầu + mốc (709 dòng)</a:t>
            </a:r>
          </a:p>
          <a:p>
            <a:pPr algn="l">
              <a:lnSpc>
                <a:spcPct val="106000"/>
              </a:lnSpc>
              <a:spcAft>
                <a:spcPts val="300"/>
              </a:spcAft>
            </a:pPr>
            <a:r>
              <a:rPr sz="1150" b="0" i="0">
                <a:solidFill>
                  <a:srgbClr val="FDFBF7"/>
                </a:solidFill>
                <a:latin typeface="Consolas"/>
              </a:rPr>
              <a:t>│   ├── GenZCards.tsx   3 thẻ nghiêng 3D</a:t>
            </a:r>
          </a:p>
          <a:p>
            <a:pPr algn="l">
              <a:lnSpc>
                <a:spcPct val="106000"/>
              </a:lnSpc>
              <a:spcAft>
                <a:spcPts val="300"/>
              </a:spcAft>
            </a:pPr>
            <a:r>
              <a:rPr sz="1150" b="0" i="0">
                <a:solidFill>
                  <a:srgbClr val="FDFBF7"/>
                </a:solidFill>
                <a:latin typeface="Consolas"/>
              </a:rPr>
              <a:t>│   ├── QuizGame.tsx    quiz 5 câu</a:t>
            </a:r>
          </a:p>
          <a:p>
            <a:pPr algn="l">
              <a:lnSpc>
                <a:spcPct val="106000"/>
              </a:lnSpc>
              <a:spcAft>
                <a:spcPts val="300"/>
              </a:spcAft>
            </a:pPr>
            <a:r>
              <a:rPr sz="1150" b="0" i="0">
                <a:solidFill>
                  <a:srgbClr val="FDFBF7"/>
                </a:solidFill>
                <a:latin typeface="Consolas"/>
              </a:rPr>
              <a:t>│   └── QuoteGallery.tsx thẻ lật 3D</a:t>
            </a:r>
          </a:p>
          <a:p>
            <a:pPr algn="l">
              <a:lnSpc>
                <a:spcPct val="106000"/>
              </a:lnSpc>
              <a:spcAft>
                <a:spcPts val="300"/>
              </a:spcAft>
            </a:pPr>
            <a:r>
              <a:rPr sz="1150" b="1" i="0">
                <a:solidFill>
                  <a:srgbClr val="E7CD7A"/>
                </a:solidFill>
                <a:latin typeface="Consolas"/>
              </a:rPr>
              <a:t>└── data/               NỘI DUNG NẰM Ở ĐÂY</a:t>
            </a:r>
          </a:p>
          <a:p>
            <a:pPr algn="l">
              <a:lnSpc>
                <a:spcPct val="106000"/>
              </a:lnSpc>
              <a:spcAft>
                <a:spcPts val="300"/>
              </a:spcAft>
            </a:pPr>
            <a:r>
              <a:rPr sz="1150" b="0" i="0">
                <a:solidFill>
                  <a:srgbClr val="FDFBF7"/>
                </a:solidFill>
                <a:latin typeface="Consolas"/>
              </a:rPr>
              <a:t>    ├── timeline.json   13 mốc × 14 trường</a:t>
            </a:r>
          </a:p>
          <a:p>
            <a:pPr algn="l">
              <a:lnSpc>
                <a:spcPct val="106000"/>
              </a:lnSpc>
              <a:spcAft>
                <a:spcPts val="300"/>
              </a:spcAft>
            </a:pPr>
            <a:r>
              <a:rPr sz="1150" b="0" i="0">
                <a:solidFill>
                  <a:srgbClr val="FDFBF7"/>
                </a:solidFill>
                <a:latin typeface="Consolas"/>
              </a:rPr>
              <a:t>    ├── genz-cards.json 3 bài học</a:t>
            </a:r>
          </a:p>
          <a:p>
            <a:pPr algn="l">
              <a:lnSpc>
                <a:spcPct val="106000"/>
              </a:lnSpc>
              <a:spcAft>
                <a:spcPts val="300"/>
              </a:spcAft>
            </a:pPr>
            <a:r>
              <a:rPr sz="1150" b="0" i="0">
                <a:solidFill>
                  <a:srgbClr val="FDFBF7"/>
                </a:solidFill>
                <a:latin typeface="Consolas"/>
              </a:rPr>
              <a:t>    ├── quiz.json       5 câu hỏi</a:t>
            </a:r>
          </a:p>
          <a:p>
            <a:pPr algn="l">
              <a:lnSpc>
                <a:spcPct val="106000"/>
              </a:lnSpc>
              <a:spcAft>
                <a:spcPts val="300"/>
              </a:spcAft>
            </a:pPr>
            <a:r>
              <a:rPr sz="1150" b="0" i="0">
                <a:solidFill>
                  <a:srgbClr val="FDFBF7"/>
                </a:solidFill>
                <a:latin typeface="Consolas"/>
              </a:rPr>
              <a:t>    └── quotes.json     4 trích dẫn</a:t>
            </a:r>
          </a:p>
        </p:txBody>
      </p:sp>
      <p:sp>
        <p:nvSpPr>
          <p:cNvPr id="8" name="Rounded Rectangle 7"/>
          <p:cNvSpPr/>
          <p:nvPr/>
        </p:nvSpPr>
        <p:spPr>
          <a:xfrm>
            <a:off x="6583680" y="1828800"/>
            <a:ext cx="4782312" cy="1298448"/>
          </a:xfrm>
          <a:prstGeom prst="roundRect">
            <a:avLst>
              <a:gd name="adj" fmla="val 6000"/>
            </a:avLst>
          </a:prstGeom>
          <a:solidFill>
            <a:srgbClr val="F4E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0" y="1828800"/>
            <a:ext cx="64008" cy="1298448"/>
          </a:xfrm>
          <a:prstGeom prst="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0" y="1993392"/>
            <a:ext cx="4297680" cy="320040"/>
          </a:xfrm>
          <a:prstGeom prst="rect">
            <a:avLst/>
          </a:prstGeom>
          <a:noFill/>
        </p:spPr>
        <p:txBody>
          <a:bodyPr wrap="square" lIns="0" rIns="0" tIns="0" bIns="0" anchor="t">
            <a:spAutoFit/>
          </a:bodyPr>
          <a:lstStyle/>
          <a:p>
            <a:pPr algn="l">
              <a:lnSpc>
                <a:spcPct val="112000"/>
              </a:lnSpc>
              <a:spcAft>
                <a:spcPts val="0"/>
              </a:spcAft>
            </a:pPr>
            <a:r>
              <a:rPr sz="1350" b="1" i="0">
                <a:solidFill>
                  <a:srgbClr val="8B0000"/>
                </a:solidFill>
                <a:latin typeface="Segoe UI"/>
              </a:rPr>
              <a:t>Nội dung tách khỏi giao diện</a:t>
            </a:r>
          </a:p>
        </p:txBody>
      </p:sp>
      <p:sp>
        <p:nvSpPr>
          <p:cNvPr id="11" name="TextBox 10"/>
          <p:cNvSpPr txBox="1"/>
          <p:nvPr/>
        </p:nvSpPr>
        <p:spPr>
          <a:xfrm>
            <a:off x="6858000" y="2359152"/>
            <a:ext cx="4343400" cy="731520"/>
          </a:xfrm>
          <a:prstGeom prst="rect">
            <a:avLst/>
          </a:prstGeom>
          <a:noFill/>
        </p:spPr>
        <p:txBody>
          <a:bodyPr wrap="square" lIns="0" rIns="0" tIns="0" bIns="0" anchor="t">
            <a:spAutoFit/>
          </a:bodyPr>
          <a:lstStyle/>
          <a:p>
            <a:pPr algn="l">
              <a:lnSpc>
                <a:spcPct val="112000"/>
              </a:lnSpc>
              <a:spcAft>
                <a:spcPts val="0"/>
              </a:spcAft>
            </a:pPr>
            <a:r>
              <a:rPr sz="1150" b="0" i="0">
                <a:solidFill>
                  <a:srgbClr val="1C1A17"/>
                </a:solidFill>
                <a:latin typeface="Segoe UI"/>
              </a:rPr>
              <a:t>Muốn thêm mốc lịch sử mới? Chỉ cần thêm một khối JSON. Không phải mở file giao diện, không sợ làm hỏng bố cục.</a:t>
            </a:r>
          </a:p>
        </p:txBody>
      </p:sp>
      <p:sp>
        <p:nvSpPr>
          <p:cNvPr id="12" name="Rounded Rectangle 11"/>
          <p:cNvSpPr/>
          <p:nvPr/>
        </p:nvSpPr>
        <p:spPr>
          <a:xfrm>
            <a:off x="6583680" y="3246120"/>
            <a:ext cx="4782312" cy="1298448"/>
          </a:xfrm>
          <a:prstGeom prst="roundRect">
            <a:avLst>
              <a:gd name="adj" fmla="val 6000"/>
            </a:avLst>
          </a:prstGeom>
          <a:solidFill>
            <a:srgbClr val="F4E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83680" y="3246120"/>
            <a:ext cx="64008" cy="1298448"/>
          </a:xfrm>
          <a:prstGeom prst="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0" y="3410712"/>
            <a:ext cx="4297680" cy="320040"/>
          </a:xfrm>
          <a:prstGeom prst="rect">
            <a:avLst/>
          </a:prstGeom>
          <a:noFill/>
        </p:spPr>
        <p:txBody>
          <a:bodyPr wrap="square" lIns="0" rIns="0" tIns="0" bIns="0" anchor="t">
            <a:spAutoFit/>
          </a:bodyPr>
          <a:lstStyle/>
          <a:p>
            <a:pPr algn="l">
              <a:lnSpc>
                <a:spcPct val="112000"/>
              </a:lnSpc>
              <a:spcAft>
                <a:spcPts val="0"/>
              </a:spcAft>
            </a:pPr>
            <a:r>
              <a:rPr sz="1350" b="1" i="0">
                <a:solidFill>
                  <a:srgbClr val="8B0000"/>
                </a:solidFill>
                <a:latin typeface="Segoe UI"/>
              </a:rPr>
              <a:t>Mỗi mốc là một cấu trúc 14 trường</a:t>
            </a:r>
          </a:p>
        </p:txBody>
      </p:sp>
      <p:sp>
        <p:nvSpPr>
          <p:cNvPr id="15" name="TextBox 14"/>
          <p:cNvSpPr txBox="1"/>
          <p:nvPr/>
        </p:nvSpPr>
        <p:spPr>
          <a:xfrm>
            <a:off x="6858000" y="3776472"/>
            <a:ext cx="4343400" cy="731520"/>
          </a:xfrm>
          <a:prstGeom prst="rect">
            <a:avLst/>
          </a:prstGeom>
          <a:noFill/>
        </p:spPr>
        <p:txBody>
          <a:bodyPr wrap="square" lIns="0" rIns="0" tIns="0" bIns="0" anchor="t">
            <a:spAutoFit/>
          </a:bodyPr>
          <a:lstStyle/>
          <a:p>
            <a:pPr algn="l">
              <a:lnSpc>
                <a:spcPct val="112000"/>
              </a:lnSpc>
              <a:spcAft>
                <a:spcPts val="0"/>
              </a:spcAft>
            </a:pPr>
            <a:r>
              <a:rPr sz="1150" b="0" i="0">
                <a:solidFill>
                  <a:srgbClr val="1C1A17"/>
                </a:solidFill>
                <a:latin typeface="Segoe UI"/>
              </a:rPr>
              <a:t>year, period, place, lat, lng, lesson, historicalContext, whyItMatters, modernApplication, sourceNote, ảnh + chú thích.</a:t>
            </a:r>
          </a:p>
        </p:txBody>
      </p:sp>
      <p:sp>
        <p:nvSpPr>
          <p:cNvPr id="16" name="Rounded Rectangle 15"/>
          <p:cNvSpPr/>
          <p:nvPr/>
        </p:nvSpPr>
        <p:spPr>
          <a:xfrm>
            <a:off x="6583680" y="4663440"/>
            <a:ext cx="4782312" cy="1298448"/>
          </a:xfrm>
          <a:prstGeom prst="roundRect">
            <a:avLst>
              <a:gd name="adj" fmla="val 6000"/>
            </a:avLst>
          </a:prstGeom>
          <a:solidFill>
            <a:srgbClr val="F4E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0" y="4663440"/>
            <a:ext cx="64008" cy="1298448"/>
          </a:xfrm>
          <a:prstGeom prst="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0" y="4828031"/>
            <a:ext cx="4297680" cy="320040"/>
          </a:xfrm>
          <a:prstGeom prst="rect">
            <a:avLst/>
          </a:prstGeom>
          <a:noFill/>
        </p:spPr>
        <p:txBody>
          <a:bodyPr wrap="square" lIns="0" rIns="0" tIns="0" bIns="0" anchor="t">
            <a:spAutoFit/>
          </a:bodyPr>
          <a:lstStyle/>
          <a:p>
            <a:pPr algn="l">
              <a:lnSpc>
                <a:spcPct val="112000"/>
              </a:lnSpc>
              <a:spcAft>
                <a:spcPts val="0"/>
              </a:spcAft>
            </a:pPr>
            <a:r>
              <a:rPr sz="1350" b="1" i="0">
                <a:solidFill>
                  <a:srgbClr val="8B0000"/>
                </a:solidFill>
                <a:latin typeface="Segoe UI"/>
              </a:rPr>
              <a:t>Ý nghĩa sư phạm</a:t>
            </a:r>
          </a:p>
        </p:txBody>
      </p:sp>
      <p:sp>
        <p:nvSpPr>
          <p:cNvPr id="19" name="TextBox 18"/>
          <p:cNvSpPr txBox="1"/>
          <p:nvPr/>
        </p:nvSpPr>
        <p:spPr>
          <a:xfrm>
            <a:off x="6858000" y="5193792"/>
            <a:ext cx="4343400" cy="731520"/>
          </a:xfrm>
          <a:prstGeom prst="rect">
            <a:avLst/>
          </a:prstGeom>
          <a:noFill/>
        </p:spPr>
        <p:txBody>
          <a:bodyPr wrap="square" lIns="0" rIns="0" tIns="0" bIns="0" anchor="t">
            <a:spAutoFit/>
          </a:bodyPr>
          <a:lstStyle/>
          <a:p>
            <a:pPr algn="l">
              <a:lnSpc>
                <a:spcPct val="112000"/>
              </a:lnSpc>
              <a:spcAft>
                <a:spcPts val="0"/>
              </a:spcAft>
            </a:pPr>
            <a:r>
              <a:rPr sz="1150" b="0" i="0">
                <a:solidFill>
                  <a:srgbClr val="1C1A17"/>
                </a:solidFill>
                <a:latin typeface="Segoe UI"/>
              </a:rPr>
              <a:t>Một giảng viên hoặc một nhóm sinh viên khác có thể tiếp quản, bổ sung mốc, chỉnh lời khuyên — dự án sống tiếp sau khi em nộp bài.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9144000" cy="274320"/>
          </a:xfrm>
          <a:prstGeom prst="rect">
            <a:avLst/>
          </a:prstGeom>
          <a:noFill/>
        </p:spPr>
        <p:txBody>
          <a:bodyPr wrap="square" lIns="0" rIns="0" tIns="0" bIns="0" anchor="t">
            <a:spAutoFit/>
          </a:bodyPr>
          <a:lstStyle/>
          <a:p>
            <a:pPr algn="l">
              <a:lnSpc>
                <a:spcPct val="112000"/>
              </a:lnSpc>
              <a:spcAft>
                <a:spcPts val="0"/>
              </a:spcAft>
            </a:pPr>
            <a:r>
              <a:rPr sz="1250" b="1" i="0">
                <a:solidFill>
                  <a:srgbClr val="A8232A"/>
                </a:solidFill>
                <a:latin typeface="Segoe UI"/>
              </a:rPr>
              <a:t>8 · TRẢI NGHIỆM &amp; TIẾP CẬN</a:t>
            </a:r>
          </a:p>
        </p:txBody>
      </p:sp>
      <p:sp>
        <p:nvSpPr>
          <p:cNvPr id="4" name="TextBox 3"/>
          <p:cNvSpPr txBox="1"/>
          <p:nvPr/>
        </p:nvSpPr>
        <p:spPr>
          <a:xfrm>
            <a:off x="822960" y="868680"/>
            <a:ext cx="10424160" cy="822960"/>
          </a:xfrm>
          <a:prstGeom prst="rect">
            <a:avLst/>
          </a:prstGeom>
          <a:noFill/>
        </p:spPr>
        <p:txBody>
          <a:bodyPr wrap="square" lIns="0" rIns="0" tIns="0" bIns="0" anchor="t">
            <a:spAutoFit/>
          </a:bodyPr>
          <a:lstStyle/>
          <a:p>
            <a:pPr algn="l">
              <a:lnSpc>
                <a:spcPct val="112000"/>
              </a:lnSpc>
              <a:spcAft>
                <a:spcPts val="0"/>
              </a:spcAft>
            </a:pPr>
            <a:r>
              <a:rPr sz="3000" b="1" i="0">
                <a:solidFill>
                  <a:srgbClr val="1C1A17"/>
                </a:solidFill>
                <a:latin typeface="Georgia"/>
              </a:rPr>
              <a:t>Không chỉ đẹp — mà ai cũng phải dùng được</a:t>
            </a:r>
          </a:p>
        </p:txBody>
      </p:sp>
      <p:sp>
        <p:nvSpPr>
          <p:cNvPr id="5" name="Rectangle 4"/>
          <p:cNvSpPr/>
          <p:nvPr/>
        </p:nvSpPr>
        <p:spPr>
          <a:xfrm>
            <a:off x="822960" y="1481328"/>
            <a:ext cx="1005840" cy="41148"/>
          </a:xfrm>
          <a:prstGeom prst="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22960" y="1828800"/>
            <a:ext cx="5166360" cy="1243584"/>
          </a:xfrm>
          <a:prstGeom prst="roundRect">
            <a:avLst>
              <a:gd name="adj" fmla="val 8000"/>
            </a:avLst>
          </a:prstGeom>
          <a:solidFill>
            <a:srgbClr val="FDFBF7"/>
          </a:solidFill>
          <a:ln w="12700">
            <a:solidFill>
              <a:srgbClr val="E0D9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78992" y="2139696"/>
            <a:ext cx="146304" cy="146304"/>
          </a:xfrm>
          <a:prstGeom prst="ellipse">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89888" y="2011680"/>
            <a:ext cx="4297680" cy="320040"/>
          </a:xfrm>
          <a:prstGeom prst="rect">
            <a:avLst/>
          </a:prstGeom>
          <a:noFill/>
        </p:spPr>
        <p:txBody>
          <a:bodyPr wrap="square" lIns="0" rIns="0" tIns="0" bIns="0" anchor="t">
            <a:spAutoFit/>
          </a:bodyPr>
          <a:lstStyle/>
          <a:p>
            <a:pPr algn="l">
              <a:lnSpc>
                <a:spcPct val="112000"/>
              </a:lnSpc>
              <a:spcAft>
                <a:spcPts val="0"/>
              </a:spcAft>
            </a:pPr>
            <a:r>
              <a:rPr sz="1250" b="1" i="0">
                <a:solidFill>
                  <a:srgbClr val="8B0000"/>
                </a:solidFill>
                <a:latin typeface="Segoe UI"/>
              </a:rPr>
              <a:t>Tôn trọng người nhạy cảm với chuyển động</a:t>
            </a:r>
          </a:p>
        </p:txBody>
      </p:sp>
      <p:sp>
        <p:nvSpPr>
          <p:cNvPr id="9" name="TextBox 8"/>
          <p:cNvSpPr txBox="1"/>
          <p:nvPr/>
        </p:nvSpPr>
        <p:spPr>
          <a:xfrm>
            <a:off x="1389888" y="2359152"/>
            <a:ext cx="4297680" cy="640080"/>
          </a:xfrm>
          <a:prstGeom prst="rect">
            <a:avLst/>
          </a:prstGeom>
          <a:noFill/>
        </p:spPr>
        <p:txBody>
          <a:bodyPr wrap="square" lIns="0" rIns="0" tIns="0" bIns="0" anchor="t">
            <a:spAutoFit/>
          </a:bodyPr>
          <a:lstStyle/>
          <a:p>
            <a:pPr algn="l">
              <a:lnSpc>
                <a:spcPct val="112000"/>
              </a:lnSpc>
              <a:spcAft>
                <a:spcPts val="0"/>
              </a:spcAft>
            </a:pPr>
            <a:r>
              <a:rPr sz="1100" b="0" i="0">
                <a:solidFill>
                  <a:srgbClr val="1C1A17"/>
                </a:solidFill>
                <a:latin typeface="Segoe UI"/>
              </a:rPr>
              <a:t>Bật "prefers-reduced-motion" ở hệ điều hành là toàn bộ animation tự tắt, quả địa cầu ngừng tự xoay.</a:t>
            </a:r>
          </a:p>
        </p:txBody>
      </p:sp>
      <p:sp>
        <p:nvSpPr>
          <p:cNvPr id="10" name="Rounded Rectangle 9"/>
          <p:cNvSpPr/>
          <p:nvPr/>
        </p:nvSpPr>
        <p:spPr>
          <a:xfrm>
            <a:off x="6199632" y="1828800"/>
            <a:ext cx="5166360" cy="1243584"/>
          </a:xfrm>
          <a:prstGeom prst="roundRect">
            <a:avLst>
              <a:gd name="adj" fmla="val 8000"/>
            </a:avLst>
          </a:prstGeom>
          <a:solidFill>
            <a:srgbClr val="FDFBF7"/>
          </a:solidFill>
          <a:ln w="12700">
            <a:solidFill>
              <a:srgbClr val="E0D9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55664" y="2139696"/>
            <a:ext cx="146304" cy="146304"/>
          </a:xfrm>
          <a:prstGeom prst="ellipse">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66560" y="2011680"/>
            <a:ext cx="4297680" cy="320040"/>
          </a:xfrm>
          <a:prstGeom prst="rect">
            <a:avLst/>
          </a:prstGeom>
          <a:noFill/>
        </p:spPr>
        <p:txBody>
          <a:bodyPr wrap="square" lIns="0" rIns="0" tIns="0" bIns="0" anchor="t">
            <a:spAutoFit/>
          </a:bodyPr>
          <a:lstStyle/>
          <a:p>
            <a:pPr algn="l">
              <a:lnSpc>
                <a:spcPct val="112000"/>
              </a:lnSpc>
              <a:spcAft>
                <a:spcPts val="0"/>
              </a:spcAft>
            </a:pPr>
            <a:r>
              <a:rPr sz="1250" b="1" i="0">
                <a:solidFill>
                  <a:srgbClr val="8B0000"/>
                </a:solidFill>
                <a:latin typeface="Segoe UI"/>
              </a:rPr>
              <a:t>Hiệu năng trên máy yếu và điện thoại</a:t>
            </a:r>
          </a:p>
        </p:txBody>
      </p:sp>
      <p:sp>
        <p:nvSpPr>
          <p:cNvPr id="13" name="TextBox 12"/>
          <p:cNvSpPr txBox="1"/>
          <p:nvPr/>
        </p:nvSpPr>
        <p:spPr>
          <a:xfrm>
            <a:off x="6766560" y="2359152"/>
            <a:ext cx="4297680" cy="640080"/>
          </a:xfrm>
          <a:prstGeom prst="rect">
            <a:avLst/>
          </a:prstGeom>
          <a:noFill/>
        </p:spPr>
        <p:txBody>
          <a:bodyPr wrap="square" lIns="0" rIns="0" tIns="0" bIns="0" anchor="t">
            <a:spAutoFit/>
          </a:bodyPr>
          <a:lstStyle/>
          <a:p>
            <a:pPr algn="l">
              <a:lnSpc>
                <a:spcPct val="112000"/>
              </a:lnSpc>
              <a:spcAft>
                <a:spcPts val="0"/>
              </a:spcAft>
            </a:pPr>
            <a:r>
              <a:rPr sz="1100" b="0" i="0">
                <a:solidFill>
                  <a:srgbClr val="1C1A17"/>
                </a:solidFill>
                <a:latin typeface="Segoe UI"/>
              </a:rPr>
              <a:t>Giới hạn độ phân giải render (dpr 1–1.5), Canvas thu nhỏ theo breakpoint, ảnh tải lazy.</a:t>
            </a:r>
          </a:p>
        </p:txBody>
      </p:sp>
      <p:sp>
        <p:nvSpPr>
          <p:cNvPr id="14" name="Rounded Rectangle 13"/>
          <p:cNvSpPr/>
          <p:nvPr/>
        </p:nvSpPr>
        <p:spPr>
          <a:xfrm>
            <a:off x="822960" y="3236976"/>
            <a:ext cx="5166360" cy="1243584"/>
          </a:xfrm>
          <a:prstGeom prst="roundRect">
            <a:avLst>
              <a:gd name="adj" fmla="val 8000"/>
            </a:avLst>
          </a:prstGeom>
          <a:solidFill>
            <a:srgbClr val="FDFBF7"/>
          </a:solidFill>
          <a:ln w="12700">
            <a:solidFill>
              <a:srgbClr val="E0D9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78992" y="3547872"/>
            <a:ext cx="146304" cy="146304"/>
          </a:xfrm>
          <a:prstGeom prst="ellipse">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89888" y="3419856"/>
            <a:ext cx="4297680" cy="320040"/>
          </a:xfrm>
          <a:prstGeom prst="rect">
            <a:avLst/>
          </a:prstGeom>
          <a:noFill/>
        </p:spPr>
        <p:txBody>
          <a:bodyPr wrap="square" lIns="0" rIns="0" tIns="0" bIns="0" anchor="t">
            <a:spAutoFit/>
          </a:bodyPr>
          <a:lstStyle/>
          <a:p>
            <a:pPr algn="l">
              <a:lnSpc>
                <a:spcPct val="112000"/>
              </a:lnSpc>
              <a:spcAft>
                <a:spcPts val="0"/>
              </a:spcAft>
            </a:pPr>
            <a:r>
              <a:rPr sz="1250" b="1" i="0">
                <a:solidFill>
                  <a:srgbClr val="8B0000"/>
                </a:solidFill>
                <a:latin typeface="Segoe UI"/>
              </a:rPr>
              <a:t>Không chặn lần tải đầu</a:t>
            </a:r>
          </a:p>
        </p:txBody>
      </p:sp>
      <p:sp>
        <p:nvSpPr>
          <p:cNvPr id="17" name="TextBox 16"/>
          <p:cNvSpPr txBox="1"/>
          <p:nvPr/>
        </p:nvSpPr>
        <p:spPr>
          <a:xfrm>
            <a:off x="1389888" y="3767328"/>
            <a:ext cx="4297680" cy="640080"/>
          </a:xfrm>
          <a:prstGeom prst="rect">
            <a:avLst/>
          </a:prstGeom>
          <a:noFill/>
        </p:spPr>
        <p:txBody>
          <a:bodyPr wrap="square" lIns="0" rIns="0" tIns="0" bIns="0" anchor="t">
            <a:spAutoFit/>
          </a:bodyPr>
          <a:lstStyle/>
          <a:p>
            <a:pPr algn="l">
              <a:lnSpc>
                <a:spcPct val="112000"/>
              </a:lnSpc>
              <a:spcAft>
                <a:spcPts val="0"/>
              </a:spcAft>
            </a:pPr>
            <a:r>
              <a:rPr sz="1100" b="0" i="0">
                <a:solidFill>
                  <a:srgbClr val="1C1A17"/>
                </a:solidFill>
                <a:latin typeface="Segoe UI"/>
              </a:rPr>
              <a:t>Hai cảnh 3D nặng được nạp động, chỉ render phía client, có khung chờ sẵn chỗ.</a:t>
            </a:r>
          </a:p>
        </p:txBody>
      </p:sp>
      <p:sp>
        <p:nvSpPr>
          <p:cNvPr id="18" name="Rounded Rectangle 17"/>
          <p:cNvSpPr/>
          <p:nvPr/>
        </p:nvSpPr>
        <p:spPr>
          <a:xfrm>
            <a:off x="6199632" y="3236976"/>
            <a:ext cx="5166360" cy="1243584"/>
          </a:xfrm>
          <a:prstGeom prst="roundRect">
            <a:avLst>
              <a:gd name="adj" fmla="val 8000"/>
            </a:avLst>
          </a:prstGeom>
          <a:solidFill>
            <a:srgbClr val="FDFBF7"/>
          </a:solidFill>
          <a:ln w="12700">
            <a:solidFill>
              <a:srgbClr val="E0D9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455664" y="3547872"/>
            <a:ext cx="146304" cy="146304"/>
          </a:xfrm>
          <a:prstGeom prst="ellipse">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0" y="3419856"/>
            <a:ext cx="4297680" cy="320040"/>
          </a:xfrm>
          <a:prstGeom prst="rect">
            <a:avLst/>
          </a:prstGeom>
          <a:noFill/>
        </p:spPr>
        <p:txBody>
          <a:bodyPr wrap="square" lIns="0" rIns="0" tIns="0" bIns="0" anchor="t">
            <a:spAutoFit/>
          </a:bodyPr>
          <a:lstStyle/>
          <a:p>
            <a:pPr algn="l">
              <a:lnSpc>
                <a:spcPct val="112000"/>
              </a:lnSpc>
              <a:spcAft>
                <a:spcPts val="0"/>
              </a:spcAft>
            </a:pPr>
            <a:r>
              <a:rPr sz="1250" b="1" i="0">
                <a:solidFill>
                  <a:srgbClr val="8B0000"/>
                </a:solidFill>
                <a:latin typeface="Segoe UI"/>
              </a:rPr>
              <a:t>Truy cập bằng bàn phím</a:t>
            </a:r>
          </a:p>
        </p:txBody>
      </p:sp>
      <p:sp>
        <p:nvSpPr>
          <p:cNvPr id="21" name="TextBox 20"/>
          <p:cNvSpPr txBox="1"/>
          <p:nvPr/>
        </p:nvSpPr>
        <p:spPr>
          <a:xfrm>
            <a:off x="6766560" y="3767328"/>
            <a:ext cx="4297680" cy="640080"/>
          </a:xfrm>
          <a:prstGeom prst="rect">
            <a:avLst/>
          </a:prstGeom>
          <a:noFill/>
        </p:spPr>
        <p:txBody>
          <a:bodyPr wrap="square" lIns="0" rIns="0" tIns="0" bIns="0" anchor="t">
            <a:spAutoFit/>
          </a:bodyPr>
          <a:lstStyle/>
          <a:p>
            <a:pPr algn="l">
              <a:lnSpc>
                <a:spcPct val="112000"/>
              </a:lnSpc>
              <a:spcAft>
                <a:spcPts val="0"/>
              </a:spcAft>
            </a:pPr>
            <a:r>
              <a:rPr sz="1100" b="0" i="0">
                <a:solidFill>
                  <a:srgbClr val="1C1A17"/>
                </a:solidFill>
                <a:latin typeface="Segoe UI"/>
              </a:rPr>
              <a:t>Mọi nút có khung focus màu vàng và nhãn aria — không có chuột vẫn thao tác được.</a:t>
            </a:r>
          </a:p>
        </p:txBody>
      </p:sp>
      <p:sp>
        <p:nvSpPr>
          <p:cNvPr id="22" name="Rounded Rectangle 21"/>
          <p:cNvSpPr/>
          <p:nvPr/>
        </p:nvSpPr>
        <p:spPr>
          <a:xfrm>
            <a:off x="822960" y="4645152"/>
            <a:ext cx="5166360" cy="1243584"/>
          </a:xfrm>
          <a:prstGeom prst="roundRect">
            <a:avLst>
              <a:gd name="adj" fmla="val 8000"/>
            </a:avLst>
          </a:prstGeom>
          <a:solidFill>
            <a:srgbClr val="FDFBF7"/>
          </a:solidFill>
          <a:ln w="12700">
            <a:solidFill>
              <a:srgbClr val="E0D9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78992" y="4956048"/>
            <a:ext cx="146304" cy="146304"/>
          </a:xfrm>
          <a:prstGeom prst="ellipse">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89888" y="4828032"/>
            <a:ext cx="4297680" cy="320040"/>
          </a:xfrm>
          <a:prstGeom prst="rect">
            <a:avLst/>
          </a:prstGeom>
          <a:noFill/>
        </p:spPr>
        <p:txBody>
          <a:bodyPr wrap="square" lIns="0" rIns="0" tIns="0" bIns="0" anchor="t">
            <a:spAutoFit/>
          </a:bodyPr>
          <a:lstStyle/>
          <a:p>
            <a:pPr algn="l">
              <a:lnSpc>
                <a:spcPct val="112000"/>
              </a:lnSpc>
              <a:spcAft>
                <a:spcPts val="0"/>
              </a:spcAft>
            </a:pPr>
            <a:r>
              <a:rPr sz="1250" b="1" i="0">
                <a:solidFill>
                  <a:srgbClr val="8B0000"/>
                </a:solidFill>
                <a:latin typeface="Segoe UI"/>
              </a:rPr>
              <a:t>Không bao giờ "chết" vì ảnh</a:t>
            </a:r>
          </a:p>
        </p:txBody>
      </p:sp>
      <p:sp>
        <p:nvSpPr>
          <p:cNvPr id="25" name="TextBox 24"/>
          <p:cNvSpPr txBox="1"/>
          <p:nvPr/>
        </p:nvSpPr>
        <p:spPr>
          <a:xfrm>
            <a:off x="1389888" y="5175504"/>
            <a:ext cx="4297680" cy="640080"/>
          </a:xfrm>
          <a:prstGeom prst="rect">
            <a:avLst/>
          </a:prstGeom>
          <a:noFill/>
        </p:spPr>
        <p:txBody>
          <a:bodyPr wrap="square" lIns="0" rIns="0" tIns="0" bIns="0" anchor="t">
            <a:spAutoFit/>
          </a:bodyPr>
          <a:lstStyle/>
          <a:p>
            <a:pPr algn="l">
              <a:lnSpc>
                <a:spcPct val="112000"/>
              </a:lnSpc>
              <a:spcAft>
                <a:spcPts val="0"/>
              </a:spcAft>
            </a:pPr>
            <a:r>
              <a:rPr sz="1100" b="0" i="0">
                <a:solidFill>
                  <a:srgbClr val="1C1A17"/>
                </a:solidFill>
                <a:latin typeface="Segoe UI"/>
              </a:rPr>
              <a:t>Ảnh tư liệu lỗi mạng thì tự thay bằng khung thông báo, nội dung chữ vẫn đầy đủ.</a:t>
            </a:r>
          </a:p>
        </p:txBody>
      </p:sp>
      <p:sp>
        <p:nvSpPr>
          <p:cNvPr id="26" name="Rounded Rectangle 25"/>
          <p:cNvSpPr/>
          <p:nvPr/>
        </p:nvSpPr>
        <p:spPr>
          <a:xfrm>
            <a:off x="6199632" y="4645152"/>
            <a:ext cx="5166360" cy="1243584"/>
          </a:xfrm>
          <a:prstGeom prst="roundRect">
            <a:avLst>
              <a:gd name="adj" fmla="val 8000"/>
            </a:avLst>
          </a:prstGeom>
          <a:solidFill>
            <a:srgbClr val="FDFBF7"/>
          </a:solidFill>
          <a:ln w="12700">
            <a:solidFill>
              <a:srgbClr val="E0D9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55664" y="4956048"/>
            <a:ext cx="146304" cy="146304"/>
          </a:xfrm>
          <a:prstGeom prst="ellipse">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66560" y="4828032"/>
            <a:ext cx="4297680" cy="320040"/>
          </a:xfrm>
          <a:prstGeom prst="rect">
            <a:avLst/>
          </a:prstGeom>
          <a:noFill/>
        </p:spPr>
        <p:txBody>
          <a:bodyPr wrap="square" lIns="0" rIns="0" tIns="0" bIns="0" anchor="t">
            <a:spAutoFit/>
          </a:bodyPr>
          <a:lstStyle/>
          <a:p>
            <a:pPr algn="l">
              <a:lnSpc>
                <a:spcPct val="112000"/>
              </a:lnSpc>
              <a:spcAft>
                <a:spcPts val="0"/>
              </a:spcAft>
            </a:pPr>
            <a:r>
              <a:rPr sz="1250" b="1" i="0">
                <a:solidFill>
                  <a:srgbClr val="8B0000"/>
                </a:solidFill>
                <a:latin typeface="Segoe UI"/>
              </a:rPr>
              <a:t>Ngôn ngữ nhất quán</a:t>
            </a:r>
          </a:p>
        </p:txBody>
      </p:sp>
      <p:sp>
        <p:nvSpPr>
          <p:cNvPr id="29" name="TextBox 28"/>
          <p:cNvSpPr txBox="1"/>
          <p:nvPr/>
        </p:nvSpPr>
        <p:spPr>
          <a:xfrm>
            <a:off x="6766560" y="5175504"/>
            <a:ext cx="4297680" cy="640080"/>
          </a:xfrm>
          <a:prstGeom prst="rect">
            <a:avLst/>
          </a:prstGeom>
          <a:noFill/>
        </p:spPr>
        <p:txBody>
          <a:bodyPr wrap="square" lIns="0" rIns="0" tIns="0" bIns="0" anchor="t">
            <a:spAutoFit/>
          </a:bodyPr>
          <a:lstStyle/>
          <a:p>
            <a:pPr algn="l">
              <a:lnSpc>
                <a:spcPct val="112000"/>
              </a:lnSpc>
              <a:spcAft>
                <a:spcPts val="0"/>
              </a:spcAft>
            </a:pPr>
            <a:r>
              <a:rPr sz="1100" b="0" i="0">
                <a:solidFill>
                  <a:srgbClr val="1C1A17"/>
                </a:solidFill>
                <a:latin typeface="Segoe UI"/>
              </a:rPr>
              <a:t>html lang="vi", tiêu đề và mô tả trang viết tiếng Việt đầy đủ dấu, dùng cho chia sẻ và tìm kiếm.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9144000" cy="274320"/>
          </a:xfrm>
          <a:prstGeom prst="rect">
            <a:avLst/>
          </a:prstGeom>
          <a:noFill/>
        </p:spPr>
        <p:txBody>
          <a:bodyPr wrap="square" lIns="0" rIns="0" tIns="0" bIns="0" anchor="t">
            <a:spAutoFit/>
          </a:bodyPr>
          <a:lstStyle/>
          <a:p>
            <a:pPr algn="l">
              <a:lnSpc>
                <a:spcPct val="112000"/>
              </a:lnSpc>
              <a:spcAft>
                <a:spcPts val="0"/>
              </a:spcAft>
            </a:pPr>
            <a:r>
              <a:rPr sz="1250" b="1" i="0">
                <a:solidFill>
                  <a:srgbClr val="A8232A"/>
                </a:solidFill>
                <a:latin typeface="Segoe UI"/>
              </a:rPr>
              <a:t>9 · TÍNH HỌC THUẬT</a:t>
            </a:r>
          </a:p>
        </p:txBody>
      </p:sp>
      <p:sp>
        <p:nvSpPr>
          <p:cNvPr id="4" name="TextBox 3"/>
          <p:cNvSpPr txBox="1"/>
          <p:nvPr/>
        </p:nvSpPr>
        <p:spPr>
          <a:xfrm>
            <a:off x="822960" y="868680"/>
            <a:ext cx="10424160" cy="822960"/>
          </a:xfrm>
          <a:prstGeom prst="rect">
            <a:avLst/>
          </a:prstGeom>
          <a:noFill/>
        </p:spPr>
        <p:txBody>
          <a:bodyPr wrap="square" lIns="0" rIns="0" tIns="0" bIns="0" anchor="t">
            <a:spAutoFit/>
          </a:bodyPr>
          <a:lstStyle/>
          <a:p>
            <a:pPr algn="l">
              <a:lnSpc>
                <a:spcPct val="112000"/>
              </a:lnSpc>
              <a:spcAft>
                <a:spcPts val="0"/>
              </a:spcAft>
            </a:pPr>
            <a:r>
              <a:rPr sz="2600" b="1" i="0">
                <a:solidFill>
                  <a:srgbClr val="1C1A17"/>
                </a:solidFill>
                <a:latin typeface="Georgia"/>
              </a:rPr>
              <a:t>Trung thực tư liệu: "lời Bác" hay "tinh thần của Bác"?</a:t>
            </a:r>
          </a:p>
        </p:txBody>
      </p:sp>
      <p:sp>
        <p:nvSpPr>
          <p:cNvPr id="5" name="Rectangle 4"/>
          <p:cNvSpPr/>
          <p:nvPr/>
        </p:nvSpPr>
        <p:spPr>
          <a:xfrm>
            <a:off x="822960" y="1481328"/>
            <a:ext cx="1005840" cy="41148"/>
          </a:xfrm>
          <a:prstGeom prst="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22960" y="1828800"/>
            <a:ext cx="10543032" cy="1143000"/>
          </a:xfrm>
          <a:prstGeom prst="roundRect">
            <a:avLst>
              <a:gd name="adj" fmla="val 6000"/>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2011680"/>
            <a:ext cx="9966960" cy="320040"/>
          </a:xfrm>
          <a:prstGeom prst="rect">
            <a:avLst/>
          </a:prstGeom>
          <a:noFill/>
        </p:spPr>
        <p:txBody>
          <a:bodyPr wrap="square" lIns="0" rIns="0" tIns="0" bIns="0" anchor="t">
            <a:spAutoFit/>
          </a:bodyPr>
          <a:lstStyle/>
          <a:p>
            <a:pPr algn="l">
              <a:lnSpc>
                <a:spcPct val="112000"/>
              </a:lnSpc>
              <a:spcAft>
                <a:spcPts val="0"/>
              </a:spcAft>
            </a:pPr>
            <a:r>
              <a:rPr sz="1050" b="1" i="0">
                <a:solidFill>
                  <a:srgbClr val="E7CD7A"/>
                </a:solidFill>
                <a:latin typeface="Segoe UI"/>
              </a:rPr>
              <a:t>GHI CHÚ LỊCH SỬ HIỂN THỊ NGAY TRÊN TRANG CHỦ</a:t>
            </a:r>
          </a:p>
        </p:txBody>
      </p:sp>
      <p:sp>
        <p:nvSpPr>
          <p:cNvPr id="8" name="TextBox 7"/>
          <p:cNvSpPr txBox="1"/>
          <p:nvPr/>
        </p:nvSpPr>
        <p:spPr>
          <a:xfrm>
            <a:off x="1143000" y="2359152"/>
            <a:ext cx="9966960" cy="548640"/>
          </a:xfrm>
          <a:prstGeom prst="rect">
            <a:avLst/>
          </a:prstGeom>
          <a:noFill/>
        </p:spPr>
        <p:txBody>
          <a:bodyPr wrap="square" lIns="0" rIns="0" tIns="0" bIns="0" anchor="t">
            <a:spAutoFit/>
          </a:bodyPr>
          <a:lstStyle/>
          <a:p>
            <a:pPr algn="l">
              <a:lnSpc>
                <a:spcPct val="112000"/>
              </a:lnSpc>
              <a:spcAft>
                <a:spcPts val="0"/>
              </a:spcAft>
            </a:pPr>
            <a:r>
              <a:rPr sz="1350" b="0" i="1">
                <a:solidFill>
                  <a:srgbClr val="FDFBF7"/>
                </a:solidFill>
                <a:latin typeface="Georgia"/>
              </a:rPr>
              <a:t>"Một số câu nói và bài học ở đây được rút ra từ tư tưởng, lời nói và hành động của Người, không phải lúc nào cũng là trích dẫn nguyên văn."</a:t>
            </a:r>
          </a:p>
        </p:txBody>
      </p:sp>
      <p:sp>
        <p:nvSpPr>
          <p:cNvPr id="9" name="Rounded Rectangle 8"/>
          <p:cNvSpPr/>
          <p:nvPr/>
        </p:nvSpPr>
        <p:spPr>
          <a:xfrm>
            <a:off x="822960" y="3200400"/>
            <a:ext cx="3364992" cy="1874519"/>
          </a:xfrm>
          <a:prstGeom prst="roundRect">
            <a:avLst>
              <a:gd name="adj" fmla="val 6000"/>
            </a:avLst>
          </a:prstGeom>
          <a:solidFill>
            <a:srgbClr val="F4E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60" y="3200400"/>
            <a:ext cx="3364992" cy="64008"/>
          </a:xfrm>
          <a:prstGeom prst="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456432"/>
            <a:ext cx="2816352" cy="594360"/>
          </a:xfrm>
          <a:prstGeom prst="rect">
            <a:avLst/>
          </a:prstGeom>
          <a:noFill/>
        </p:spPr>
        <p:txBody>
          <a:bodyPr wrap="square" lIns="0" rIns="0" tIns="0" bIns="0" anchor="t">
            <a:spAutoFit/>
          </a:bodyPr>
          <a:lstStyle/>
          <a:p>
            <a:pPr algn="l">
              <a:lnSpc>
                <a:spcPct val="112000"/>
              </a:lnSpc>
              <a:spcAft>
                <a:spcPts val="0"/>
              </a:spcAft>
            </a:pPr>
            <a:r>
              <a:rPr sz="1300" b="1" i="0">
                <a:solidFill>
                  <a:srgbClr val="8B0000"/>
                </a:solidFill>
                <a:latin typeface="Segoe UI"/>
              </a:rPr>
              <a:t>Mọi mốc có dòng "Ghi chú tư liệu"</a:t>
            </a:r>
          </a:p>
        </p:txBody>
      </p:sp>
      <p:sp>
        <p:nvSpPr>
          <p:cNvPr id="12" name="TextBox 11"/>
          <p:cNvSpPr txBox="1"/>
          <p:nvPr/>
        </p:nvSpPr>
        <p:spPr>
          <a:xfrm>
            <a:off x="1097280" y="4114800"/>
            <a:ext cx="2816352" cy="914400"/>
          </a:xfrm>
          <a:prstGeom prst="rect">
            <a:avLst/>
          </a:prstGeom>
          <a:noFill/>
        </p:spPr>
        <p:txBody>
          <a:bodyPr wrap="square" lIns="0" rIns="0" tIns="0" bIns="0" anchor="t">
            <a:spAutoFit/>
          </a:bodyPr>
          <a:lstStyle/>
          <a:p>
            <a:pPr algn="l">
              <a:lnSpc>
                <a:spcPct val="112000"/>
              </a:lnSpc>
              <a:spcAft>
                <a:spcPts val="0"/>
              </a:spcAft>
            </a:pPr>
            <a:r>
              <a:rPr sz="1150" b="0" i="0">
                <a:solidFill>
                  <a:srgbClr val="1C1A17"/>
                </a:solidFill>
                <a:latin typeface="Segoe UI"/>
              </a:rPr>
              <a:t>Nêu rõ mốc thời gian và địa điểm được ghi nhận, để người đọc biết website dựa trên cứ liệu nào.</a:t>
            </a:r>
          </a:p>
        </p:txBody>
      </p:sp>
      <p:sp>
        <p:nvSpPr>
          <p:cNvPr id="13" name="Rounded Rectangle 12"/>
          <p:cNvSpPr/>
          <p:nvPr/>
        </p:nvSpPr>
        <p:spPr>
          <a:xfrm>
            <a:off x="4407408" y="3200400"/>
            <a:ext cx="3364992" cy="1874519"/>
          </a:xfrm>
          <a:prstGeom prst="roundRect">
            <a:avLst>
              <a:gd name="adj" fmla="val 6000"/>
            </a:avLst>
          </a:prstGeom>
          <a:solidFill>
            <a:srgbClr val="F4E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07408" y="3200400"/>
            <a:ext cx="3364992" cy="64008"/>
          </a:xfrm>
          <a:prstGeom prst="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81728" y="3456432"/>
            <a:ext cx="2816352" cy="594360"/>
          </a:xfrm>
          <a:prstGeom prst="rect">
            <a:avLst/>
          </a:prstGeom>
          <a:noFill/>
        </p:spPr>
        <p:txBody>
          <a:bodyPr wrap="square" lIns="0" rIns="0" tIns="0" bIns="0" anchor="t">
            <a:spAutoFit/>
          </a:bodyPr>
          <a:lstStyle/>
          <a:p>
            <a:pPr algn="l">
              <a:lnSpc>
                <a:spcPct val="112000"/>
              </a:lnSpc>
              <a:spcAft>
                <a:spcPts val="0"/>
              </a:spcAft>
            </a:pPr>
            <a:r>
              <a:rPr sz="1300" b="1" i="0">
                <a:solidFill>
                  <a:srgbClr val="8B0000"/>
                </a:solidFill>
                <a:latin typeface="Segoe UI"/>
              </a:rPr>
              <a:t>Mọi trích dẫn có nguồn cụ thể</a:t>
            </a:r>
          </a:p>
        </p:txBody>
      </p:sp>
      <p:sp>
        <p:nvSpPr>
          <p:cNvPr id="16" name="TextBox 15"/>
          <p:cNvSpPr txBox="1"/>
          <p:nvPr/>
        </p:nvSpPr>
        <p:spPr>
          <a:xfrm>
            <a:off x="4681728" y="4114800"/>
            <a:ext cx="2816352" cy="914400"/>
          </a:xfrm>
          <a:prstGeom prst="rect">
            <a:avLst/>
          </a:prstGeom>
          <a:noFill/>
        </p:spPr>
        <p:txBody>
          <a:bodyPr wrap="square" lIns="0" rIns="0" tIns="0" bIns="0" anchor="t">
            <a:spAutoFit/>
          </a:bodyPr>
          <a:lstStyle/>
          <a:p>
            <a:pPr algn="l">
              <a:lnSpc>
                <a:spcPct val="112000"/>
              </a:lnSpc>
              <a:spcAft>
                <a:spcPts val="0"/>
              </a:spcAft>
            </a:pPr>
            <a:r>
              <a:rPr sz="1150" b="0" i="0">
                <a:solidFill>
                  <a:srgbClr val="1C1A17"/>
                </a:solidFill>
                <a:latin typeface="Segoe UI"/>
              </a:rPr>
              <a:t>Thơ tặng thanh niên xung phong 1950, thư gửi học viên trường Nguyễn Ái Quốc 1949, diễn văn 1961…</a:t>
            </a:r>
          </a:p>
        </p:txBody>
      </p:sp>
      <p:sp>
        <p:nvSpPr>
          <p:cNvPr id="17" name="Rounded Rectangle 16"/>
          <p:cNvSpPr/>
          <p:nvPr/>
        </p:nvSpPr>
        <p:spPr>
          <a:xfrm>
            <a:off x="7991856" y="3200400"/>
            <a:ext cx="3364992" cy="1874519"/>
          </a:xfrm>
          <a:prstGeom prst="roundRect">
            <a:avLst>
              <a:gd name="adj" fmla="val 6000"/>
            </a:avLst>
          </a:prstGeom>
          <a:solidFill>
            <a:srgbClr val="F4E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991856" y="3200400"/>
            <a:ext cx="3364992" cy="64008"/>
          </a:xfrm>
          <a:prstGeom prst="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66176" y="3456432"/>
            <a:ext cx="2816352" cy="594360"/>
          </a:xfrm>
          <a:prstGeom prst="rect">
            <a:avLst/>
          </a:prstGeom>
          <a:noFill/>
        </p:spPr>
        <p:txBody>
          <a:bodyPr wrap="square" lIns="0" rIns="0" tIns="0" bIns="0" anchor="t">
            <a:spAutoFit/>
          </a:bodyPr>
          <a:lstStyle/>
          <a:p>
            <a:pPr algn="l">
              <a:lnSpc>
                <a:spcPct val="112000"/>
              </a:lnSpc>
              <a:spcAft>
                <a:spcPts val="0"/>
              </a:spcAft>
            </a:pPr>
            <a:r>
              <a:rPr sz="1300" b="1" i="0">
                <a:solidFill>
                  <a:srgbClr val="8B0000"/>
                </a:solidFill>
                <a:latin typeface="Segoe UI"/>
              </a:rPr>
              <a:t>Ảnh tư liệu có ghi rõ nơi lưu trữ</a:t>
            </a:r>
          </a:p>
        </p:txBody>
      </p:sp>
      <p:sp>
        <p:nvSpPr>
          <p:cNvPr id="20" name="TextBox 19"/>
          <p:cNvSpPr txBox="1"/>
          <p:nvPr/>
        </p:nvSpPr>
        <p:spPr>
          <a:xfrm>
            <a:off x="8266176" y="4114800"/>
            <a:ext cx="2816352" cy="914400"/>
          </a:xfrm>
          <a:prstGeom prst="rect">
            <a:avLst/>
          </a:prstGeom>
          <a:noFill/>
        </p:spPr>
        <p:txBody>
          <a:bodyPr wrap="square" lIns="0" rIns="0" tIns="0" bIns="0" anchor="t">
            <a:spAutoFit/>
          </a:bodyPr>
          <a:lstStyle/>
          <a:p>
            <a:pPr algn="l">
              <a:lnSpc>
                <a:spcPct val="112000"/>
              </a:lnSpc>
              <a:spcAft>
                <a:spcPts val="0"/>
              </a:spcAft>
            </a:pPr>
            <a:r>
              <a:rPr sz="1150" b="0" i="0">
                <a:solidFill>
                  <a:srgbClr val="1C1A17"/>
                </a:solidFill>
                <a:latin typeface="Segoe UI"/>
              </a:rPr>
              <a:t>Ảnh lấy từ Wikimedia Commons, kèm chú thích ngữ cảnh, không dùng ảnh không rõ nguồn.</a:t>
            </a:r>
          </a:p>
        </p:txBody>
      </p:sp>
      <p:sp>
        <p:nvSpPr>
          <p:cNvPr id="21" name="Rounded Rectangle 20"/>
          <p:cNvSpPr/>
          <p:nvPr/>
        </p:nvSpPr>
        <p:spPr>
          <a:xfrm>
            <a:off x="822960" y="5303520"/>
            <a:ext cx="10543032" cy="731520"/>
          </a:xfrm>
          <a:prstGeom prst="roundRect">
            <a:avLst>
              <a:gd name="adj" fmla="val 12000"/>
            </a:avLst>
          </a:prstGeom>
          <a:solidFill>
            <a:srgbClr val="FDFBF7"/>
          </a:solidFill>
          <a:ln w="15240">
            <a:solidFill>
              <a:srgbClr val="8B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97280" y="5486400"/>
            <a:ext cx="10058400" cy="457200"/>
          </a:xfrm>
          <a:prstGeom prst="rect">
            <a:avLst/>
          </a:prstGeom>
          <a:noFill/>
        </p:spPr>
        <p:txBody>
          <a:bodyPr wrap="square" lIns="0" rIns="0" tIns="0" bIns="0" anchor="t">
            <a:spAutoFit/>
          </a:bodyPr>
          <a:lstStyle/>
          <a:p>
            <a:pPr algn="l">
              <a:lnSpc>
                <a:spcPct val="112000"/>
              </a:lnSpc>
              <a:spcAft>
                <a:spcPts val="0"/>
              </a:spcAft>
            </a:pPr>
            <a:r>
              <a:rPr sz="1250" b="1" i="0">
                <a:solidFill>
                  <a:srgbClr val="8B0000"/>
                </a:solidFill>
                <a:latin typeface="Segoe UI"/>
              </a:rPr>
              <a:t>Giới hạn em tự nhận: </a:t>
            </a:r>
            <a:r>
              <a:rPr sz="1250" b="0" i="0">
                <a:solidFill>
                  <a:srgbClr val="1C1A17"/>
                </a:solidFill>
                <a:latin typeface="Segoe UI"/>
              </a:rPr>
              <a:t>đây là sản phẩm học liệu do sinh viên thực hiện, phần "gợi ý hôm nay" là cách diễn giải của em, cần được thầy cô và giáo trình kiểm chứng thêm.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9144000" cy="274320"/>
          </a:xfrm>
          <a:prstGeom prst="rect">
            <a:avLst/>
          </a:prstGeom>
          <a:noFill/>
        </p:spPr>
        <p:txBody>
          <a:bodyPr wrap="square" lIns="0" rIns="0" tIns="0" bIns="0" anchor="t">
            <a:spAutoFit/>
          </a:bodyPr>
          <a:lstStyle/>
          <a:p>
            <a:pPr algn="l">
              <a:lnSpc>
                <a:spcPct val="112000"/>
              </a:lnSpc>
              <a:spcAft>
                <a:spcPts val="0"/>
              </a:spcAft>
            </a:pPr>
            <a:r>
              <a:rPr sz="1250" b="1" i="0">
                <a:solidFill>
                  <a:srgbClr val="A8232A"/>
                </a:solidFill>
                <a:latin typeface="Segoe UI"/>
              </a:rPr>
              <a:t>10 · HẠN CHẾ &amp; HƯỚNG PHÁT TRIỂN</a:t>
            </a:r>
          </a:p>
        </p:txBody>
      </p:sp>
      <p:sp>
        <p:nvSpPr>
          <p:cNvPr id="4" name="TextBox 3"/>
          <p:cNvSpPr txBox="1"/>
          <p:nvPr/>
        </p:nvSpPr>
        <p:spPr>
          <a:xfrm>
            <a:off x="822960" y="868680"/>
            <a:ext cx="10424160" cy="822960"/>
          </a:xfrm>
          <a:prstGeom prst="rect">
            <a:avLst/>
          </a:prstGeom>
          <a:noFill/>
        </p:spPr>
        <p:txBody>
          <a:bodyPr wrap="square" lIns="0" rIns="0" tIns="0" bIns="0" anchor="t">
            <a:spAutoFit/>
          </a:bodyPr>
          <a:lstStyle/>
          <a:p>
            <a:pPr algn="l">
              <a:lnSpc>
                <a:spcPct val="112000"/>
              </a:lnSpc>
              <a:spcAft>
                <a:spcPts val="0"/>
              </a:spcAft>
            </a:pPr>
            <a:r>
              <a:rPr sz="3200" b="1" i="0">
                <a:solidFill>
                  <a:srgbClr val="1C1A17"/>
                </a:solidFill>
                <a:latin typeface="Georgia"/>
              </a:rPr>
              <a:t>Còn thiếu gì, và có thể đi tới đâu?</a:t>
            </a:r>
          </a:p>
        </p:txBody>
      </p:sp>
      <p:sp>
        <p:nvSpPr>
          <p:cNvPr id="5" name="Rectangle 4"/>
          <p:cNvSpPr/>
          <p:nvPr/>
        </p:nvSpPr>
        <p:spPr>
          <a:xfrm>
            <a:off x="822960" y="1481328"/>
            <a:ext cx="1005840" cy="41148"/>
          </a:xfrm>
          <a:prstGeom prst="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22960" y="1828800"/>
            <a:ext cx="5120640" cy="3977639"/>
          </a:xfrm>
          <a:prstGeom prst="roundRect">
            <a:avLst>
              <a:gd name="adj" fmla="val 4000"/>
            </a:avLst>
          </a:prstGeom>
          <a:solidFill>
            <a:srgbClr val="F4E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1828800"/>
            <a:ext cx="5120640" cy="82296"/>
          </a:xfrm>
          <a:prstGeom prst="rect">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103120"/>
            <a:ext cx="4572000" cy="320040"/>
          </a:xfrm>
          <a:prstGeom prst="rect">
            <a:avLst/>
          </a:prstGeom>
          <a:noFill/>
        </p:spPr>
        <p:txBody>
          <a:bodyPr wrap="square" lIns="0" rIns="0" tIns="0" bIns="0" anchor="t">
            <a:spAutoFit/>
          </a:bodyPr>
          <a:lstStyle/>
          <a:p>
            <a:pPr algn="l">
              <a:lnSpc>
                <a:spcPct val="112000"/>
              </a:lnSpc>
              <a:spcAft>
                <a:spcPts val="0"/>
              </a:spcAft>
            </a:pPr>
            <a:r>
              <a:rPr sz="1150" b="1" i="0">
                <a:solidFill>
                  <a:srgbClr val="8B0000"/>
                </a:solidFill>
                <a:latin typeface="Segoe UI"/>
              </a:rPr>
              <a:t>HẠN CHẾ HIỆN TẠI</a:t>
            </a:r>
          </a:p>
        </p:txBody>
      </p:sp>
      <p:sp>
        <p:nvSpPr>
          <p:cNvPr id="9" name="Oval 8"/>
          <p:cNvSpPr/>
          <p:nvPr/>
        </p:nvSpPr>
        <p:spPr>
          <a:xfrm>
            <a:off x="1097280" y="2665476"/>
            <a:ext cx="82296" cy="82296"/>
          </a:xfrm>
          <a:prstGeom prst="ellipse">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3312" y="2560320"/>
            <a:ext cx="4315968" cy="548640"/>
          </a:xfrm>
          <a:prstGeom prst="rect">
            <a:avLst/>
          </a:prstGeom>
          <a:noFill/>
        </p:spPr>
        <p:txBody>
          <a:bodyPr wrap="square" lIns="0" rIns="0" tIns="0" bIns="0" anchor="t">
            <a:spAutoFit/>
          </a:bodyPr>
          <a:lstStyle/>
          <a:p>
            <a:pPr algn="l">
              <a:lnSpc>
                <a:spcPct val="112000"/>
              </a:lnSpc>
              <a:spcAft>
                <a:spcPts val="0"/>
              </a:spcAft>
            </a:pPr>
            <a:r>
              <a:rPr sz="1250" b="1" i="0">
                <a:solidFill>
                  <a:srgbClr val="1C1A17"/>
                </a:solidFill>
                <a:latin typeface="Segoe UI"/>
              </a:rPr>
              <a:t>Chưa đối chiếu giáo trình chương nào </a:t>
            </a:r>
            <a:r>
              <a:rPr sz="1250" b="0" i="0">
                <a:solidFill>
                  <a:srgbClr val="1C1A17"/>
                </a:solidFill>
                <a:latin typeface="Segoe UI"/>
              </a:rPr>
              <a:t>ứng với mốc nào một cách tường minh.</a:t>
            </a:r>
          </a:p>
        </p:txBody>
      </p:sp>
      <p:sp>
        <p:nvSpPr>
          <p:cNvPr id="11" name="Oval 10"/>
          <p:cNvSpPr/>
          <p:nvPr/>
        </p:nvSpPr>
        <p:spPr>
          <a:xfrm>
            <a:off x="1097280" y="3172460"/>
            <a:ext cx="82296" cy="82296"/>
          </a:xfrm>
          <a:prstGeom prst="ellipse">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53312" y="3067304"/>
            <a:ext cx="4315968" cy="548640"/>
          </a:xfrm>
          <a:prstGeom prst="rect">
            <a:avLst/>
          </a:prstGeom>
          <a:noFill/>
        </p:spPr>
        <p:txBody>
          <a:bodyPr wrap="square" lIns="0" rIns="0" tIns="0" bIns="0" anchor="t">
            <a:spAutoFit/>
          </a:bodyPr>
          <a:lstStyle/>
          <a:p>
            <a:pPr algn="l">
              <a:lnSpc>
                <a:spcPct val="112000"/>
              </a:lnSpc>
              <a:spcAft>
                <a:spcPts val="0"/>
              </a:spcAft>
            </a:pPr>
            <a:r>
              <a:rPr sz="1250" b="1" i="0">
                <a:solidFill>
                  <a:srgbClr val="1C1A17"/>
                </a:solidFill>
                <a:latin typeface="Segoe UI"/>
              </a:rPr>
              <a:t>Phần "gợi ý hôm nay" </a:t>
            </a:r>
            <a:r>
              <a:rPr sz="1250" b="0" i="0">
                <a:solidFill>
                  <a:srgbClr val="1C1A17"/>
                </a:solidFill>
                <a:latin typeface="Segoe UI"/>
              </a:rPr>
              <a:t>là diễn giải cá nhân, chưa qua phản biện học thuật.</a:t>
            </a:r>
          </a:p>
        </p:txBody>
      </p:sp>
      <p:sp>
        <p:nvSpPr>
          <p:cNvPr id="13" name="Oval 12"/>
          <p:cNvSpPr/>
          <p:nvPr/>
        </p:nvSpPr>
        <p:spPr>
          <a:xfrm>
            <a:off x="1097280" y="3679444"/>
            <a:ext cx="82296" cy="82296"/>
          </a:xfrm>
          <a:prstGeom prst="ellipse">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53312" y="3574288"/>
            <a:ext cx="4315968" cy="548640"/>
          </a:xfrm>
          <a:prstGeom prst="rect">
            <a:avLst/>
          </a:prstGeom>
          <a:noFill/>
        </p:spPr>
        <p:txBody>
          <a:bodyPr wrap="square" lIns="0" rIns="0" tIns="0" bIns="0" anchor="t">
            <a:spAutoFit/>
          </a:bodyPr>
          <a:lstStyle/>
          <a:p>
            <a:pPr algn="l">
              <a:lnSpc>
                <a:spcPct val="112000"/>
              </a:lnSpc>
              <a:spcAft>
                <a:spcPts val="0"/>
              </a:spcAft>
            </a:pPr>
            <a:r>
              <a:rPr sz="1250" b="1" i="0">
                <a:solidFill>
                  <a:srgbClr val="1C1A17"/>
                </a:solidFill>
                <a:latin typeface="Segoe UI"/>
              </a:rPr>
              <a:t>Cảnh 3D và ảnh tư liệu cần mạng </a:t>
            </a:r>
            <a:r>
              <a:rPr sz="1250" b="0" i="0">
                <a:solidFill>
                  <a:srgbClr val="1C1A17"/>
                </a:solidFill>
                <a:latin typeface="Segoe UI"/>
              </a:rPr>
              <a:t>texture Trái Đất tải từ threejs.org, ảnh từ Wikimedia — mạng yếu thì quả địa cầu có thể không hiện.</a:t>
            </a:r>
          </a:p>
        </p:txBody>
      </p:sp>
      <p:sp>
        <p:nvSpPr>
          <p:cNvPr id="15" name="Oval 14"/>
          <p:cNvSpPr/>
          <p:nvPr/>
        </p:nvSpPr>
        <p:spPr>
          <a:xfrm>
            <a:off x="1097280" y="4403344"/>
            <a:ext cx="82296" cy="82296"/>
          </a:xfrm>
          <a:prstGeom prst="ellipse">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53312" y="4298188"/>
            <a:ext cx="4315968" cy="548640"/>
          </a:xfrm>
          <a:prstGeom prst="rect">
            <a:avLst/>
          </a:prstGeom>
          <a:noFill/>
        </p:spPr>
        <p:txBody>
          <a:bodyPr wrap="square" lIns="0" rIns="0" tIns="0" bIns="0" anchor="t">
            <a:spAutoFit/>
          </a:bodyPr>
          <a:lstStyle/>
          <a:p>
            <a:pPr algn="l">
              <a:lnSpc>
                <a:spcPct val="112000"/>
              </a:lnSpc>
              <a:spcAft>
                <a:spcPts val="0"/>
              </a:spcAft>
            </a:pPr>
            <a:r>
              <a:rPr sz="1250" b="1" i="0">
                <a:solidFill>
                  <a:srgbClr val="1C1A17"/>
                </a:solidFill>
                <a:latin typeface="Segoe UI"/>
              </a:rPr>
              <a:t>Chưa có bản tiếng Anh </a:t>
            </a:r>
            <a:r>
              <a:rPr sz="1250" b="0" i="0">
                <a:solidFill>
                  <a:srgbClr val="1C1A17"/>
                </a:solidFill>
                <a:latin typeface="Segoe UI"/>
              </a:rPr>
              <a:t>cho sinh viên quốc tế hoặc lớp liên kết.</a:t>
            </a:r>
          </a:p>
        </p:txBody>
      </p:sp>
      <p:sp>
        <p:nvSpPr>
          <p:cNvPr id="17" name="Oval 16"/>
          <p:cNvSpPr/>
          <p:nvPr/>
        </p:nvSpPr>
        <p:spPr>
          <a:xfrm>
            <a:off x="1097280" y="4910328"/>
            <a:ext cx="82296" cy="82296"/>
          </a:xfrm>
          <a:prstGeom prst="ellipse">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53312" y="4805172"/>
            <a:ext cx="4315968" cy="548640"/>
          </a:xfrm>
          <a:prstGeom prst="rect">
            <a:avLst/>
          </a:prstGeom>
          <a:noFill/>
        </p:spPr>
        <p:txBody>
          <a:bodyPr wrap="square" lIns="0" rIns="0" tIns="0" bIns="0" anchor="t">
            <a:spAutoFit/>
          </a:bodyPr>
          <a:lstStyle/>
          <a:p>
            <a:pPr algn="l">
              <a:lnSpc>
                <a:spcPct val="112000"/>
              </a:lnSpc>
              <a:spcAft>
                <a:spcPts val="0"/>
              </a:spcAft>
            </a:pPr>
            <a:r>
              <a:rPr sz="1250" b="1" i="0">
                <a:solidFill>
                  <a:srgbClr val="1C1A17"/>
                </a:solidFill>
                <a:latin typeface="Segoe UI"/>
              </a:rPr>
              <a:t>Chưa đo được hiệu quả </a:t>
            </a:r>
            <a:r>
              <a:rPr sz="1250" b="0" i="0">
                <a:solidFill>
                  <a:srgbClr val="1C1A17"/>
                </a:solidFill>
                <a:latin typeface="Segoe UI"/>
              </a:rPr>
              <a:t>vì chưa khảo sát người học trước và sau khi dùng.</a:t>
            </a:r>
          </a:p>
        </p:txBody>
      </p:sp>
      <p:sp>
        <p:nvSpPr>
          <p:cNvPr id="19" name="Rounded Rectangle 18"/>
          <p:cNvSpPr/>
          <p:nvPr/>
        </p:nvSpPr>
        <p:spPr>
          <a:xfrm>
            <a:off x="6263640" y="1828800"/>
            <a:ext cx="5102352" cy="3977639"/>
          </a:xfrm>
          <a:prstGeom prst="roundRect">
            <a:avLst>
              <a:gd name="adj" fmla="val 4000"/>
            </a:avLst>
          </a:prstGeom>
          <a:solidFill>
            <a:srgbClr val="1C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63640" y="1828800"/>
            <a:ext cx="5102352" cy="82296"/>
          </a:xfrm>
          <a:prstGeom prst="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37960" y="2103120"/>
            <a:ext cx="4572000" cy="320040"/>
          </a:xfrm>
          <a:prstGeom prst="rect">
            <a:avLst/>
          </a:prstGeom>
          <a:noFill/>
        </p:spPr>
        <p:txBody>
          <a:bodyPr wrap="square" lIns="0" rIns="0" tIns="0" bIns="0" anchor="t">
            <a:spAutoFit/>
          </a:bodyPr>
          <a:lstStyle/>
          <a:p>
            <a:pPr algn="l">
              <a:lnSpc>
                <a:spcPct val="112000"/>
              </a:lnSpc>
              <a:spcAft>
                <a:spcPts val="0"/>
              </a:spcAft>
            </a:pPr>
            <a:r>
              <a:rPr sz="1150" b="1" i="0">
                <a:solidFill>
                  <a:srgbClr val="D4AF37"/>
                </a:solidFill>
                <a:latin typeface="Segoe UI"/>
              </a:rPr>
              <a:t>HƯỚNG PHÁT TRIỂN</a:t>
            </a:r>
          </a:p>
        </p:txBody>
      </p:sp>
      <p:sp>
        <p:nvSpPr>
          <p:cNvPr id="22" name="Oval 21"/>
          <p:cNvSpPr/>
          <p:nvPr/>
        </p:nvSpPr>
        <p:spPr>
          <a:xfrm>
            <a:off x="6537960" y="2665476"/>
            <a:ext cx="82296" cy="82296"/>
          </a:xfrm>
          <a:prstGeom prst="ellipse">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93992" y="2560320"/>
            <a:ext cx="4315968" cy="548640"/>
          </a:xfrm>
          <a:prstGeom prst="rect">
            <a:avLst/>
          </a:prstGeom>
          <a:noFill/>
        </p:spPr>
        <p:txBody>
          <a:bodyPr wrap="square" lIns="0" rIns="0" tIns="0" bIns="0" anchor="t">
            <a:spAutoFit/>
          </a:bodyPr>
          <a:lstStyle/>
          <a:p>
            <a:pPr algn="l">
              <a:lnSpc>
                <a:spcPct val="112000"/>
              </a:lnSpc>
              <a:spcAft>
                <a:spcPts val="0"/>
              </a:spcAft>
            </a:pPr>
            <a:r>
              <a:rPr sz="1250" b="1" i="0">
                <a:solidFill>
                  <a:srgbClr val="FDFBF7"/>
                </a:solidFill>
                <a:latin typeface="Segoe UI"/>
              </a:rPr>
              <a:t>Thêm trang chi tiết theo chương </a:t>
            </a:r>
            <a:r>
              <a:rPr sz="1250" b="0" i="0">
                <a:solidFill>
                  <a:srgbClr val="FDFBF7"/>
                </a:solidFill>
                <a:latin typeface="Segoe UI"/>
              </a:rPr>
              <a:t>/chuong/[slug] để bám sát 6 chương giáo trình.</a:t>
            </a:r>
          </a:p>
        </p:txBody>
      </p:sp>
      <p:sp>
        <p:nvSpPr>
          <p:cNvPr id="24" name="Oval 23"/>
          <p:cNvSpPr/>
          <p:nvPr/>
        </p:nvSpPr>
        <p:spPr>
          <a:xfrm>
            <a:off x="6537960" y="3172460"/>
            <a:ext cx="82296" cy="82296"/>
          </a:xfrm>
          <a:prstGeom prst="ellipse">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93992" y="3067304"/>
            <a:ext cx="4315968" cy="548640"/>
          </a:xfrm>
          <a:prstGeom prst="rect">
            <a:avLst/>
          </a:prstGeom>
          <a:noFill/>
        </p:spPr>
        <p:txBody>
          <a:bodyPr wrap="square" lIns="0" rIns="0" tIns="0" bIns="0" anchor="t">
            <a:spAutoFit/>
          </a:bodyPr>
          <a:lstStyle/>
          <a:p>
            <a:pPr algn="l">
              <a:lnSpc>
                <a:spcPct val="112000"/>
              </a:lnSpc>
              <a:spcAft>
                <a:spcPts val="0"/>
              </a:spcAft>
            </a:pPr>
            <a:r>
              <a:rPr sz="1250" b="1" i="0">
                <a:solidFill>
                  <a:srgbClr val="FDFBF7"/>
                </a:solidFill>
                <a:latin typeface="Segoe UI"/>
              </a:rPr>
              <a:t>Xuất ảnh wallpaper thật </a:t>
            </a:r>
            <a:r>
              <a:rPr sz="1250" b="0" i="0">
                <a:solidFill>
                  <a:srgbClr val="FDFBF7"/>
                </a:solidFill>
                <a:latin typeface="Segoe UI"/>
              </a:rPr>
              <a:t>từ thẻ trích dẫn (Canvas API) để lan toả tốt hơn.</a:t>
            </a:r>
          </a:p>
        </p:txBody>
      </p:sp>
      <p:sp>
        <p:nvSpPr>
          <p:cNvPr id="26" name="Oval 25"/>
          <p:cNvSpPr/>
          <p:nvPr/>
        </p:nvSpPr>
        <p:spPr>
          <a:xfrm>
            <a:off x="6537960" y="3679444"/>
            <a:ext cx="82296" cy="82296"/>
          </a:xfrm>
          <a:prstGeom prst="ellipse">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93992" y="3574288"/>
            <a:ext cx="4315968" cy="548640"/>
          </a:xfrm>
          <a:prstGeom prst="rect">
            <a:avLst/>
          </a:prstGeom>
          <a:noFill/>
        </p:spPr>
        <p:txBody>
          <a:bodyPr wrap="square" lIns="0" rIns="0" tIns="0" bIns="0" anchor="t">
            <a:spAutoFit/>
          </a:bodyPr>
          <a:lstStyle/>
          <a:p>
            <a:pPr algn="l">
              <a:lnSpc>
                <a:spcPct val="112000"/>
              </a:lnSpc>
              <a:spcAft>
                <a:spcPts val="0"/>
              </a:spcAft>
            </a:pPr>
            <a:r>
              <a:rPr sz="1250" b="1" i="0">
                <a:solidFill>
                  <a:srgbClr val="FDFBF7"/>
                </a:solidFill>
                <a:latin typeface="Segoe UI"/>
              </a:rPr>
              <a:t>Bổ sung chế độ cho giảng viên: </a:t>
            </a:r>
            <a:r>
              <a:rPr sz="1250" b="0" i="0">
                <a:solidFill>
                  <a:srgbClr val="FDFBF7"/>
                </a:solidFill>
                <a:latin typeface="Segoe UI"/>
              </a:rPr>
              <a:t>bật/tắt câu hỏi, chiếu từng mốc theo giáo án.</a:t>
            </a:r>
          </a:p>
        </p:txBody>
      </p:sp>
      <p:sp>
        <p:nvSpPr>
          <p:cNvPr id="28" name="Oval 27"/>
          <p:cNvSpPr/>
          <p:nvPr/>
        </p:nvSpPr>
        <p:spPr>
          <a:xfrm>
            <a:off x="6537960" y="4186428"/>
            <a:ext cx="82296" cy="82296"/>
          </a:xfrm>
          <a:prstGeom prst="ellipse">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793992" y="4081271"/>
            <a:ext cx="4315968" cy="548640"/>
          </a:xfrm>
          <a:prstGeom prst="rect">
            <a:avLst/>
          </a:prstGeom>
          <a:noFill/>
        </p:spPr>
        <p:txBody>
          <a:bodyPr wrap="square" lIns="0" rIns="0" tIns="0" bIns="0" anchor="t">
            <a:spAutoFit/>
          </a:bodyPr>
          <a:lstStyle/>
          <a:p>
            <a:pPr algn="l">
              <a:lnSpc>
                <a:spcPct val="112000"/>
              </a:lnSpc>
              <a:spcAft>
                <a:spcPts val="0"/>
              </a:spcAft>
            </a:pPr>
            <a:r>
              <a:rPr sz="1250" b="1" i="0">
                <a:solidFill>
                  <a:srgbClr val="FDFBF7"/>
                </a:solidFill>
                <a:latin typeface="Segoe UI"/>
              </a:rPr>
              <a:t>Đóng gói tư liệu nguồn </a:t>
            </a:r>
            <a:r>
              <a:rPr sz="1250" b="0" i="0">
                <a:solidFill>
                  <a:srgbClr val="FDFBF7"/>
                </a:solidFill>
                <a:latin typeface="Segoe UI"/>
              </a:rPr>
              <a:t>kèm mục tham khảo đầy đủ cho phần kiểm chứng.</a:t>
            </a:r>
          </a:p>
        </p:txBody>
      </p:sp>
      <p:sp>
        <p:nvSpPr>
          <p:cNvPr id="30" name="Oval 29"/>
          <p:cNvSpPr/>
          <p:nvPr/>
        </p:nvSpPr>
        <p:spPr>
          <a:xfrm>
            <a:off x="6537960" y="4693411"/>
            <a:ext cx="82296" cy="82296"/>
          </a:xfrm>
          <a:prstGeom prst="ellipse">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93992" y="4588255"/>
            <a:ext cx="4315968" cy="548640"/>
          </a:xfrm>
          <a:prstGeom prst="rect">
            <a:avLst/>
          </a:prstGeom>
          <a:noFill/>
        </p:spPr>
        <p:txBody>
          <a:bodyPr wrap="square" lIns="0" rIns="0" tIns="0" bIns="0" anchor="t">
            <a:spAutoFit/>
          </a:bodyPr>
          <a:lstStyle/>
          <a:p>
            <a:pPr algn="l">
              <a:lnSpc>
                <a:spcPct val="112000"/>
              </a:lnSpc>
              <a:spcAft>
                <a:spcPts val="0"/>
              </a:spcAft>
            </a:pPr>
            <a:r>
              <a:rPr sz="1250" b="1" i="0">
                <a:solidFill>
                  <a:srgbClr val="FDFBF7"/>
                </a:solidFill>
                <a:latin typeface="Segoe UI"/>
              </a:rPr>
              <a:t>Khảo sát thử ở 1–2 lớp </a:t>
            </a:r>
            <a:r>
              <a:rPr sz="1250" b="0" i="0">
                <a:solidFill>
                  <a:srgbClr val="FDFBF7"/>
                </a:solidFill>
                <a:latin typeface="Segoe UI"/>
              </a:rPr>
              <a:t>để có số liệu đánh giá tác động thật.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9144000" cy="274320"/>
          </a:xfrm>
          <a:prstGeom prst="rect">
            <a:avLst/>
          </a:prstGeom>
          <a:noFill/>
        </p:spPr>
        <p:txBody>
          <a:bodyPr wrap="square" lIns="0" rIns="0" tIns="0" bIns="0" anchor="t">
            <a:spAutoFit/>
          </a:bodyPr>
          <a:lstStyle/>
          <a:p>
            <a:pPr algn="l">
              <a:lnSpc>
                <a:spcPct val="112000"/>
              </a:lnSpc>
              <a:spcAft>
                <a:spcPts val="0"/>
              </a:spcAft>
            </a:pPr>
            <a:r>
              <a:rPr sz="1250" b="1" i="0">
                <a:solidFill>
                  <a:srgbClr val="D4AF37"/>
                </a:solidFill>
                <a:latin typeface="Segoe UI"/>
              </a:rPr>
              <a:t>11 · DEMO TRỰC TIẾP</a:t>
            </a:r>
          </a:p>
        </p:txBody>
      </p:sp>
      <p:sp>
        <p:nvSpPr>
          <p:cNvPr id="4" name="TextBox 3"/>
          <p:cNvSpPr txBox="1"/>
          <p:nvPr/>
        </p:nvSpPr>
        <p:spPr>
          <a:xfrm>
            <a:off x="822960" y="868680"/>
            <a:ext cx="10424160" cy="822960"/>
          </a:xfrm>
          <a:prstGeom prst="rect">
            <a:avLst/>
          </a:prstGeom>
          <a:noFill/>
        </p:spPr>
        <p:txBody>
          <a:bodyPr wrap="square" lIns="0" rIns="0" tIns="0" bIns="0" anchor="t">
            <a:spAutoFit/>
          </a:bodyPr>
          <a:lstStyle/>
          <a:p>
            <a:pPr algn="l">
              <a:lnSpc>
                <a:spcPct val="112000"/>
              </a:lnSpc>
              <a:spcAft>
                <a:spcPts val="0"/>
              </a:spcAft>
            </a:pPr>
            <a:r>
              <a:rPr sz="3400" b="1" i="0">
                <a:solidFill>
                  <a:srgbClr val="FDFBF7"/>
                </a:solidFill>
                <a:latin typeface="Georgia"/>
              </a:rPr>
              <a:t>Chạy thử trong 90 giây</a:t>
            </a:r>
          </a:p>
        </p:txBody>
      </p:sp>
      <p:sp>
        <p:nvSpPr>
          <p:cNvPr id="5" name="Rectangle 4"/>
          <p:cNvSpPr/>
          <p:nvPr/>
        </p:nvSpPr>
        <p:spPr>
          <a:xfrm>
            <a:off x="822960" y="1481328"/>
            <a:ext cx="1005840" cy="41148"/>
          </a:xfrm>
          <a:prstGeom prst="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22960" y="1828800"/>
            <a:ext cx="5029200" cy="2103120"/>
          </a:xfrm>
          <a:prstGeom prst="roundRect">
            <a:avLst>
              <a:gd name="adj" fmla="val 5000"/>
            </a:avLst>
          </a:prstGeom>
          <a:solidFill>
            <a:srgbClr val="100F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084831"/>
            <a:ext cx="4572000" cy="1645920"/>
          </a:xfrm>
          <a:prstGeom prst="rect">
            <a:avLst/>
          </a:prstGeom>
          <a:noFill/>
        </p:spPr>
        <p:txBody>
          <a:bodyPr wrap="square" lIns="0" rIns="0" tIns="0" bIns="0" anchor="t">
            <a:spAutoFit/>
          </a:bodyPr>
          <a:lstStyle/>
          <a:p>
            <a:pPr algn="l">
              <a:lnSpc>
                <a:spcPct val="112000"/>
              </a:lnSpc>
              <a:spcAft>
                <a:spcPts val="700"/>
              </a:spcAft>
            </a:pPr>
            <a:r>
              <a:rPr sz="1300" b="0" i="0">
                <a:solidFill>
                  <a:srgbClr val="E7CD7A"/>
                </a:solidFill>
                <a:latin typeface="Consolas"/>
              </a:rPr>
              <a:t>$ npm install</a:t>
            </a:r>
          </a:p>
          <a:p>
            <a:pPr algn="l">
              <a:lnSpc>
                <a:spcPct val="112000"/>
              </a:lnSpc>
              <a:spcAft>
                <a:spcPts val="700"/>
              </a:spcAft>
            </a:pPr>
            <a:r>
              <a:rPr sz="1300" b="0" i="0">
                <a:solidFill>
                  <a:srgbClr val="E7CD7A"/>
                </a:solidFill>
                <a:latin typeface="Consolas"/>
              </a:rPr>
              <a:t>$ npm run dev</a:t>
            </a:r>
          </a:p>
          <a:p>
            <a:pPr algn="l">
              <a:lnSpc>
                <a:spcPct val="112000"/>
              </a:lnSpc>
              <a:spcAft>
                <a:spcPts val="700"/>
              </a:spcAft>
            </a:pPr>
            <a:r>
              <a:rPr sz="1150" b="0" i="0">
                <a:solidFill>
                  <a:srgbClr val="A9A298"/>
                </a:solidFill>
                <a:latin typeface="Consolas"/>
              </a:rPr>
              <a:t>▲ Next.js 14.2.5</a:t>
            </a:r>
          </a:p>
          <a:p>
            <a:pPr algn="l">
              <a:lnSpc>
                <a:spcPct val="112000"/>
              </a:lnSpc>
              <a:spcAft>
                <a:spcPts val="700"/>
              </a:spcAft>
            </a:pPr>
            <a:r>
              <a:rPr sz="1150" b="0" i="0">
                <a:solidFill>
                  <a:srgbClr val="A9A298"/>
                </a:solidFill>
                <a:latin typeface="Consolas"/>
              </a:rPr>
              <a:t>- Local: http://localhost:3000</a:t>
            </a:r>
          </a:p>
        </p:txBody>
      </p:sp>
      <p:sp>
        <p:nvSpPr>
          <p:cNvPr id="8" name="TextBox 7"/>
          <p:cNvSpPr txBox="1"/>
          <p:nvPr/>
        </p:nvSpPr>
        <p:spPr>
          <a:xfrm>
            <a:off x="822960" y="4114800"/>
            <a:ext cx="5029200" cy="1371600"/>
          </a:xfrm>
          <a:prstGeom prst="rect">
            <a:avLst/>
          </a:prstGeom>
          <a:noFill/>
        </p:spPr>
        <p:txBody>
          <a:bodyPr wrap="square" lIns="0" rIns="0" tIns="0" bIns="0" anchor="t">
            <a:spAutoFit/>
          </a:bodyPr>
          <a:lstStyle/>
          <a:p>
            <a:pPr algn="l">
              <a:lnSpc>
                <a:spcPct val="112000"/>
              </a:lnSpc>
              <a:spcAft>
                <a:spcPts val="600"/>
              </a:spcAft>
            </a:pPr>
            <a:r>
              <a:rPr sz="1250" b="0" i="0">
                <a:solidFill>
                  <a:srgbClr val="FDFBF7"/>
                </a:solidFill>
                <a:latin typeface="Segoe UI"/>
              </a:rPr>
              <a:t>Không cần database. Không cần API key.</a:t>
            </a:r>
          </a:p>
          <a:p>
            <a:pPr algn="l">
              <a:lnSpc>
                <a:spcPct val="112000"/>
              </a:lnSpc>
              <a:spcAft>
                <a:spcPts val="600"/>
              </a:spcAft>
            </a:pPr>
            <a:r>
              <a:rPr sz="1250" b="0" i="0">
                <a:solidFill>
                  <a:srgbClr val="FDFBF7"/>
                </a:solidFill>
                <a:latin typeface="Segoe UI"/>
              </a:rPr>
              <a:t>Chỉ cần Node.js và hai lệnh trên.</a:t>
            </a:r>
          </a:p>
        </p:txBody>
      </p:sp>
      <p:sp>
        <p:nvSpPr>
          <p:cNvPr id="9" name="Oval 8"/>
          <p:cNvSpPr/>
          <p:nvPr/>
        </p:nvSpPr>
        <p:spPr>
          <a:xfrm>
            <a:off x="6172200" y="1856231"/>
            <a:ext cx="310896" cy="310896"/>
          </a:xfrm>
          <a:prstGeom prst="ellipse">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72200" y="1911095"/>
            <a:ext cx="310896" cy="219456"/>
          </a:xfrm>
          <a:prstGeom prst="rect">
            <a:avLst/>
          </a:prstGeom>
          <a:noFill/>
        </p:spPr>
        <p:txBody>
          <a:bodyPr wrap="square" lIns="0" rIns="0" tIns="0" bIns="0" anchor="t">
            <a:spAutoFit/>
          </a:bodyPr>
          <a:lstStyle/>
          <a:p>
            <a:pPr algn="ctr">
              <a:lnSpc>
                <a:spcPct val="112000"/>
              </a:lnSpc>
              <a:spcAft>
                <a:spcPts val="0"/>
              </a:spcAft>
            </a:pPr>
            <a:r>
              <a:rPr sz="1100" b="1" i="0">
                <a:solidFill>
                  <a:srgbClr val="1C1A17"/>
                </a:solidFill>
                <a:latin typeface="Segoe UI"/>
              </a:rPr>
              <a:t>1</a:t>
            </a:r>
          </a:p>
        </p:txBody>
      </p:sp>
      <p:sp>
        <p:nvSpPr>
          <p:cNvPr id="11" name="TextBox 10"/>
          <p:cNvSpPr txBox="1"/>
          <p:nvPr/>
        </p:nvSpPr>
        <p:spPr>
          <a:xfrm>
            <a:off x="6629400" y="1828800"/>
            <a:ext cx="4709160" cy="731520"/>
          </a:xfrm>
          <a:prstGeom prst="rect">
            <a:avLst/>
          </a:prstGeom>
          <a:noFill/>
        </p:spPr>
        <p:txBody>
          <a:bodyPr wrap="square" lIns="0" rIns="0" tIns="0" bIns="0" anchor="t">
            <a:spAutoFit/>
          </a:bodyPr>
          <a:lstStyle/>
          <a:p>
            <a:pPr algn="l">
              <a:lnSpc>
                <a:spcPct val="112000"/>
              </a:lnSpc>
              <a:spcAft>
                <a:spcPts val="0"/>
              </a:spcAft>
            </a:pPr>
            <a:r>
              <a:rPr sz="1250" b="1" i="0">
                <a:solidFill>
                  <a:srgbClr val="FDFBF7"/>
                </a:solidFill>
                <a:latin typeface="Segoe UI"/>
              </a:rPr>
              <a:t>Trang chủ — </a:t>
            </a:r>
            <a:r>
              <a:rPr sz="1200" b="0" i="0">
                <a:solidFill>
                  <a:srgbClr val="C9C2B8"/>
                </a:solidFill>
                <a:latin typeface="Segoe UI"/>
              </a:rPr>
              <a:t>để biểu tượng búa – liềm xoay theo con trỏ; đọc câu định vị và ghi chú lịch sử.</a:t>
            </a:r>
          </a:p>
        </p:txBody>
      </p:sp>
      <p:sp>
        <p:nvSpPr>
          <p:cNvPr id="12" name="Oval 11"/>
          <p:cNvSpPr/>
          <p:nvPr/>
        </p:nvSpPr>
        <p:spPr>
          <a:xfrm>
            <a:off x="6172200" y="2651760"/>
            <a:ext cx="310896" cy="310896"/>
          </a:xfrm>
          <a:prstGeom prst="ellipse">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72200" y="2706624"/>
            <a:ext cx="310896" cy="219456"/>
          </a:xfrm>
          <a:prstGeom prst="rect">
            <a:avLst/>
          </a:prstGeom>
          <a:noFill/>
        </p:spPr>
        <p:txBody>
          <a:bodyPr wrap="square" lIns="0" rIns="0" tIns="0" bIns="0" anchor="t">
            <a:spAutoFit/>
          </a:bodyPr>
          <a:lstStyle/>
          <a:p>
            <a:pPr algn="ctr">
              <a:lnSpc>
                <a:spcPct val="112000"/>
              </a:lnSpc>
              <a:spcAft>
                <a:spcPts val="0"/>
              </a:spcAft>
            </a:pPr>
            <a:r>
              <a:rPr sz="1100" b="1" i="0">
                <a:solidFill>
                  <a:srgbClr val="1C1A17"/>
                </a:solidFill>
                <a:latin typeface="Segoe UI"/>
              </a:rPr>
              <a:t>2</a:t>
            </a:r>
          </a:p>
        </p:txBody>
      </p:sp>
      <p:sp>
        <p:nvSpPr>
          <p:cNvPr id="14" name="TextBox 13"/>
          <p:cNvSpPr txBox="1"/>
          <p:nvPr/>
        </p:nvSpPr>
        <p:spPr>
          <a:xfrm>
            <a:off x="6629400" y="2624328"/>
            <a:ext cx="4709160" cy="731520"/>
          </a:xfrm>
          <a:prstGeom prst="rect">
            <a:avLst/>
          </a:prstGeom>
          <a:noFill/>
        </p:spPr>
        <p:txBody>
          <a:bodyPr wrap="square" lIns="0" rIns="0" tIns="0" bIns="0" anchor="t">
            <a:spAutoFit/>
          </a:bodyPr>
          <a:lstStyle/>
          <a:p>
            <a:pPr algn="l">
              <a:lnSpc>
                <a:spcPct val="112000"/>
              </a:lnSpc>
              <a:spcAft>
                <a:spcPts val="0"/>
              </a:spcAft>
            </a:pPr>
            <a:r>
              <a:rPr sz="1250" b="1" i="0">
                <a:solidFill>
                  <a:srgbClr val="FDFBF7"/>
                </a:solidFill>
                <a:latin typeface="Segoe UI"/>
              </a:rPr>
              <a:t>Quả địa cầu — </a:t>
            </a:r>
            <a:r>
              <a:rPr sz="1200" b="0" i="0">
                <a:solidFill>
                  <a:srgbClr val="C9C2B8"/>
                </a:solidFill>
                <a:latin typeface="Segoe UI"/>
              </a:rPr>
              <a:t>để tự chạy 2–3 mốc, rồi bấm lọc "Tổ chức" và phóng to mốc 1930.</a:t>
            </a:r>
          </a:p>
        </p:txBody>
      </p:sp>
      <p:sp>
        <p:nvSpPr>
          <p:cNvPr id="15" name="Oval 14"/>
          <p:cNvSpPr/>
          <p:nvPr/>
        </p:nvSpPr>
        <p:spPr>
          <a:xfrm>
            <a:off x="6172200" y="3447288"/>
            <a:ext cx="310896" cy="310896"/>
          </a:xfrm>
          <a:prstGeom prst="ellipse">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72200" y="3502152"/>
            <a:ext cx="310896" cy="219456"/>
          </a:xfrm>
          <a:prstGeom prst="rect">
            <a:avLst/>
          </a:prstGeom>
          <a:noFill/>
        </p:spPr>
        <p:txBody>
          <a:bodyPr wrap="square" lIns="0" rIns="0" tIns="0" bIns="0" anchor="t">
            <a:spAutoFit/>
          </a:bodyPr>
          <a:lstStyle/>
          <a:p>
            <a:pPr algn="ctr">
              <a:lnSpc>
                <a:spcPct val="112000"/>
              </a:lnSpc>
              <a:spcAft>
                <a:spcPts val="0"/>
              </a:spcAft>
            </a:pPr>
            <a:r>
              <a:rPr sz="1100" b="1" i="0">
                <a:solidFill>
                  <a:srgbClr val="1C1A17"/>
                </a:solidFill>
                <a:latin typeface="Segoe UI"/>
              </a:rPr>
              <a:t>3</a:t>
            </a:r>
          </a:p>
        </p:txBody>
      </p:sp>
      <p:sp>
        <p:nvSpPr>
          <p:cNvPr id="17" name="TextBox 16"/>
          <p:cNvSpPr txBox="1"/>
          <p:nvPr/>
        </p:nvSpPr>
        <p:spPr>
          <a:xfrm>
            <a:off x="6629400" y="3419856"/>
            <a:ext cx="4709160" cy="731520"/>
          </a:xfrm>
          <a:prstGeom prst="rect">
            <a:avLst/>
          </a:prstGeom>
          <a:noFill/>
        </p:spPr>
        <p:txBody>
          <a:bodyPr wrap="square" lIns="0" rIns="0" tIns="0" bIns="0" anchor="t">
            <a:spAutoFit/>
          </a:bodyPr>
          <a:lstStyle/>
          <a:p>
            <a:pPr algn="l">
              <a:lnSpc>
                <a:spcPct val="112000"/>
              </a:lnSpc>
              <a:spcAft>
                <a:spcPts val="0"/>
              </a:spcAft>
            </a:pPr>
            <a:r>
              <a:rPr sz="1250" b="1" i="0">
                <a:solidFill>
                  <a:srgbClr val="FDFBF7"/>
                </a:solidFill>
                <a:latin typeface="Segoe UI"/>
              </a:rPr>
              <a:t>Góc Gen Z — </a:t>
            </a:r>
            <a:r>
              <a:rPr sz="1200" b="0" i="0">
                <a:solidFill>
                  <a:srgbClr val="C9C2B8"/>
                </a:solidFill>
                <a:latin typeface="Segoe UI"/>
              </a:rPr>
              <a:t>nghiêng thẻ, bấm "Đọc thêm" ở thẻ Cần – Kiệm – Liêm – Chính.</a:t>
            </a:r>
          </a:p>
        </p:txBody>
      </p:sp>
      <p:sp>
        <p:nvSpPr>
          <p:cNvPr id="18" name="Oval 17"/>
          <p:cNvSpPr/>
          <p:nvPr/>
        </p:nvSpPr>
        <p:spPr>
          <a:xfrm>
            <a:off x="6172200" y="4242816"/>
            <a:ext cx="310896" cy="310896"/>
          </a:xfrm>
          <a:prstGeom prst="ellipse">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72200" y="4297680"/>
            <a:ext cx="310896" cy="219456"/>
          </a:xfrm>
          <a:prstGeom prst="rect">
            <a:avLst/>
          </a:prstGeom>
          <a:noFill/>
        </p:spPr>
        <p:txBody>
          <a:bodyPr wrap="square" lIns="0" rIns="0" tIns="0" bIns="0" anchor="t">
            <a:spAutoFit/>
          </a:bodyPr>
          <a:lstStyle/>
          <a:p>
            <a:pPr algn="ctr">
              <a:lnSpc>
                <a:spcPct val="112000"/>
              </a:lnSpc>
              <a:spcAft>
                <a:spcPts val="0"/>
              </a:spcAft>
            </a:pPr>
            <a:r>
              <a:rPr sz="1100" b="1" i="0">
                <a:solidFill>
                  <a:srgbClr val="1C1A17"/>
                </a:solidFill>
                <a:latin typeface="Segoe UI"/>
              </a:rPr>
              <a:t>4</a:t>
            </a:r>
          </a:p>
        </p:txBody>
      </p:sp>
      <p:sp>
        <p:nvSpPr>
          <p:cNvPr id="20" name="TextBox 19"/>
          <p:cNvSpPr txBox="1"/>
          <p:nvPr/>
        </p:nvSpPr>
        <p:spPr>
          <a:xfrm>
            <a:off x="6629400" y="4215384"/>
            <a:ext cx="4709160" cy="731520"/>
          </a:xfrm>
          <a:prstGeom prst="rect">
            <a:avLst/>
          </a:prstGeom>
          <a:noFill/>
        </p:spPr>
        <p:txBody>
          <a:bodyPr wrap="square" lIns="0" rIns="0" tIns="0" bIns="0" anchor="t">
            <a:spAutoFit/>
          </a:bodyPr>
          <a:lstStyle/>
          <a:p>
            <a:pPr algn="l">
              <a:lnSpc>
                <a:spcPct val="112000"/>
              </a:lnSpc>
              <a:spcAft>
                <a:spcPts val="0"/>
              </a:spcAft>
            </a:pPr>
            <a:r>
              <a:rPr sz="1250" b="1" i="0">
                <a:solidFill>
                  <a:srgbClr val="FDFBF7"/>
                </a:solidFill>
                <a:latin typeface="Segoe UI"/>
              </a:rPr>
              <a:t>Quiz — </a:t>
            </a:r>
            <a:r>
              <a:rPr sz="1200" b="0" i="0">
                <a:solidFill>
                  <a:srgbClr val="C9C2B8"/>
                </a:solidFill>
                <a:latin typeface="Segoe UI"/>
              </a:rPr>
              <a:t>mời 1 bạn trong lớp trả lời câu hỏi về AI, cho hiện phần giải thích.</a:t>
            </a:r>
          </a:p>
        </p:txBody>
      </p:sp>
      <p:sp>
        <p:nvSpPr>
          <p:cNvPr id="21" name="Oval 20"/>
          <p:cNvSpPr/>
          <p:nvPr/>
        </p:nvSpPr>
        <p:spPr>
          <a:xfrm>
            <a:off x="6172200" y="5038344"/>
            <a:ext cx="310896" cy="310896"/>
          </a:xfrm>
          <a:prstGeom prst="ellipse">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72200" y="5093208"/>
            <a:ext cx="310896" cy="219456"/>
          </a:xfrm>
          <a:prstGeom prst="rect">
            <a:avLst/>
          </a:prstGeom>
          <a:noFill/>
        </p:spPr>
        <p:txBody>
          <a:bodyPr wrap="square" lIns="0" rIns="0" tIns="0" bIns="0" anchor="t">
            <a:spAutoFit/>
          </a:bodyPr>
          <a:lstStyle/>
          <a:p>
            <a:pPr algn="ctr">
              <a:lnSpc>
                <a:spcPct val="112000"/>
              </a:lnSpc>
              <a:spcAft>
                <a:spcPts val="0"/>
              </a:spcAft>
            </a:pPr>
            <a:r>
              <a:rPr sz="1100" b="1" i="0">
                <a:solidFill>
                  <a:srgbClr val="1C1A17"/>
                </a:solidFill>
                <a:latin typeface="Segoe UI"/>
              </a:rPr>
              <a:t>5</a:t>
            </a:r>
          </a:p>
        </p:txBody>
      </p:sp>
      <p:sp>
        <p:nvSpPr>
          <p:cNvPr id="23" name="TextBox 22"/>
          <p:cNvSpPr txBox="1"/>
          <p:nvPr/>
        </p:nvSpPr>
        <p:spPr>
          <a:xfrm>
            <a:off x="6629400" y="5010912"/>
            <a:ext cx="4709160" cy="731520"/>
          </a:xfrm>
          <a:prstGeom prst="rect">
            <a:avLst/>
          </a:prstGeom>
          <a:noFill/>
        </p:spPr>
        <p:txBody>
          <a:bodyPr wrap="square" lIns="0" rIns="0" tIns="0" bIns="0" anchor="t">
            <a:spAutoFit/>
          </a:bodyPr>
          <a:lstStyle/>
          <a:p>
            <a:pPr algn="l">
              <a:lnSpc>
                <a:spcPct val="112000"/>
              </a:lnSpc>
              <a:spcAft>
                <a:spcPts val="0"/>
              </a:spcAft>
            </a:pPr>
            <a:r>
              <a:rPr sz="1250" b="1" i="0">
                <a:solidFill>
                  <a:srgbClr val="FDFBF7"/>
                </a:solidFill>
                <a:latin typeface="Segoe UI"/>
              </a:rPr>
              <a:t>Trích dẫn — </a:t>
            </a:r>
            <a:r>
              <a:rPr sz="1200" b="0" i="0">
                <a:solidFill>
                  <a:srgbClr val="C9C2B8"/>
                </a:solidFill>
                <a:latin typeface="Segoe UI"/>
              </a:rPr>
              <a:t>lật 1 thẻ, chỉ vào nguồn, rồi bấm nút chia sẻ.</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11696"/>
            <a:ext cx="12191695" cy="146304"/>
          </a:xfrm>
          <a:prstGeom prst="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822960"/>
            <a:ext cx="10424160" cy="365760"/>
          </a:xfrm>
          <a:prstGeom prst="rect">
            <a:avLst/>
          </a:prstGeom>
          <a:noFill/>
        </p:spPr>
        <p:txBody>
          <a:bodyPr wrap="square" lIns="0" rIns="0" tIns="0" bIns="0" anchor="t">
            <a:spAutoFit/>
          </a:bodyPr>
          <a:lstStyle/>
          <a:p>
            <a:pPr algn="l">
              <a:lnSpc>
                <a:spcPct val="112000"/>
              </a:lnSpc>
              <a:spcAft>
                <a:spcPts val="0"/>
              </a:spcAft>
            </a:pPr>
            <a:r>
              <a:rPr sz="1250" b="1" i="0">
                <a:solidFill>
                  <a:srgbClr val="E7CD7A"/>
                </a:solidFill>
                <a:latin typeface="Segoe UI"/>
              </a:rPr>
              <a:t>KẾT LUẬN</a:t>
            </a:r>
          </a:p>
        </p:txBody>
      </p:sp>
      <p:sp>
        <p:nvSpPr>
          <p:cNvPr id="6" name="TextBox 5"/>
          <p:cNvSpPr txBox="1"/>
          <p:nvPr/>
        </p:nvSpPr>
        <p:spPr>
          <a:xfrm>
            <a:off x="822960" y="1234440"/>
            <a:ext cx="10515600" cy="1371600"/>
          </a:xfrm>
          <a:prstGeom prst="rect">
            <a:avLst/>
          </a:prstGeom>
          <a:noFill/>
        </p:spPr>
        <p:txBody>
          <a:bodyPr wrap="square" lIns="0" rIns="0" tIns="0" bIns="0" anchor="t">
            <a:spAutoFit/>
          </a:bodyPr>
          <a:lstStyle/>
          <a:p>
            <a:pPr algn="l">
              <a:lnSpc>
                <a:spcPct val="112000"/>
              </a:lnSpc>
              <a:spcAft>
                <a:spcPts val="400"/>
              </a:spcAft>
            </a:pPr>
            <a:r>
              <a:rPr sz="3200" b="1" i="0">
                <a:solidFill>
                  <a:srgbClr val="FDFBF7"/>
                </a:solidFill>
                <a:latin typeface="Georgia"/>
              </a:rPr>
              <a:t>Tư tưởng không nằm yên trong trang sách.</a:t>
            </a:r>
          </a:p>
          <a:p>
            <a:pPr algn="l">
              <a:lnSpc>
                <a:spcPct val="112000"/>
              </a:lnSpc>
              <a:spcAft>
                <a:spcPts val="400"/>
              </a:spcAft>
            </a:pPr>
            <a:r>
              <a:rPr sz="2600" b="1" i="0">
                <a:solidFill>
                  <a:srgbClr val="E7CD7A"/>
                </a:solidFill>
                <a:latin typeface="Georgia"/>
              </a:rPr>
              <a:t>Nó sống khi người trẻ biết biến nó thành một lựa chọn cụ thể.</a:t>
            </a:r>
          </a:p>
        </p:txBody>
      </p:sp>
      <p:sp>
        <p:nvSpPr>
          <p:cNvPr id="7" name="Rectangle 6"/>
          <p:cNvSpPr/>
          <p:nvPr/>
        </p:nvSpPr>
        <p:spPr>
          <a:xfrm>
            <a:off x="822960" y="2880360"/>
            <a:ext cx="2011680" cy="32004"/>
          </a:xfrm>
          <a:prstGeom prst="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22960" y="3246120"/>
            <a:ext cx="3364992" cy="1965960"/>
          </a:xfrm>
          <a:prstGeom prst="roundRect">
            <a:avLst>
              <a:gd name="adj" fmla="val 6000"/>
            </a:avLst>
          </a:prstGeom>
          <a:solidFill>
            <a:srgbClr val="75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46120"/>
            <a:ext cx="3364992" cy="64008"/>
          </a:xfrm>
          <a:prstGeom prst="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520440"/>
            <a:ext cx="2816352" cy="457200"/>
          </a:xfrm>
          <a:prstGeom prst="rect">
            <a:avLst/>
          </a:prstGeom>
          <a:noFill/>
        </p:spPr>
        <p:txBody>
          <a:bodyPr wrap="square" lIns="0" rIns="0" tIns="0" bIns="0" anchor="t">
            <a:spAutoFit/>
          </a:bodyPr>
          <a:lstStyle/>
          <a:p>
            <a:pPr algn="l">
              <a:lnSpc>
                <a:spcPct val="112000"/>
              </a:lnSpc>
              <a:spcAft>
                <a:spcPts val="0"/>
              </a:spcAft>
            </a:pPr>
            <a:r>
              <a:rPr sz="1500" b="1" i="0">
                <a:solidFill>
                  <a:srgbClr val="E7CD7A"/>
                </a:solidFill>
                <a:latin typeface="Georgia"/>
              </a:rPr>
              <a:t>Một cách học mới</a:t>
            </a:r>
          </a:p>
        </p:txBody>
      </p:sp>
      <p:sp>
        <p:nvSpPr>
          <p:cNvPr id="11" name="TextBox 10"/>
          <p:cNvSpPr txBox="1"/>
          <p:nvPr/>
        </p:nvSpPr>
        <p:spPr>
          <a:xfrm>
            <a:off x="1097280" y="4069080"/>
            <a:ext cx="2816352" cy="1005840"/>
          </a:xfrm>
          <a:prstGeom prst="rect">
            <a:avLst/>
          </a:prstGeom>
          <a:noFill/>
        </p:spPr>
        <p:txBody>
          <a:bodyPr wrap="square" lIns="0" rIns="0" tIns="0" bIns="0" anchor="t">
            <a:spAutoFit/>
          </a:bodyPr>
          <a:lstStyle/>
          <a:p>
            <a:pPr algn="l">
              <a:lnSpc>
                <a:spcPct val="112000"/>
              </a:lnSpc>
              <a:spcAft>
                <a:spcPts val="0"/>
              </a:spcAft>
            </a:pPr>
            <a:r>
              <a:rPr sz="1200" b="0" i="0">
                <a:solidFill>
                  <a:srgbClr val="FDFBF7"/>
                </a:solidFill>
                <a:latin typeface="Segoe UI"/>
              </a:rPr>
              <a:t>Lịch sử → bài học → việc hôm nay. Cùng một nội dung, nhưng đầu ra là hành vi.</a:t>
            </a:r>
          </a:p>
        </p:txBody>
      </p:sp>
      <p:sp>
        <p:nvSpPr>
          <p:cNvPr id="12" name="Rounded Rectangle 11"/>
          <p:cNvSpPr/>
          <p:nvPr/>
        </p:nvSpPr>
        <p:spPr>
          <a:xfrm>
            <a:off x="4407408" y="3246120"/>
            <a:ext cx="3364992" cy="1965960"/>
          </a:xfrm>
          <a:prstGeom prst="roundRect">
            <a:avLst>
              <a:gd name="adj" fmla="val 6000"/>
            </a:avLst>
          </a:prstGeom>
          <a:solidFill>
            <a:srgbClr val="75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07408" y="3246120"/>
            <a:ext cx="3364992" cy="64008"/>
          </a:xfrm>
          <a:prstGeom prst="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81728" y="3520440"/>
            <a:ext cx="2816352" cy="457200"/>
          </a:xfrm>
          <a:prstGeom prst="rect">
            <a:avLst/>
          </a:prstGeom>
          <a:noFill/>
        </p:spPr>
        <p:txBody>
          <a:bodyPr wrap="square" lIns="0" rIns="0" tIns="0" bIns="0" anchor="t">
            <a:spAutoFit/>
          </a:bodyPr>
          <a:lstStyle/>
          <a:p>
            <a:pPr algn="l">
              <a:lnSpc>
                <a:spcPct val="112000"/>
              </a:lnSpc>
              <a:spcAft>
                <a:spcPts val="0"/>
              </a:spcAft>
            </a:pPr>
            <a:r>
              <a:rPr sz="1500" b="1" i="0">
                <a:solidFill>
                  <a:srgbClr val="E7CD7A"/>
                </a:solidFill>
                <a:latin typeface="Georgia"/>
              </a:rPr>
              <a:t>Một sản phẩm có thể tiếp quản</a:t>
            </a:r>
          </a:p>
        </p:txBody>
      </p:sp>
      <p:sp>
        <p:nvSpPr>
          <p:cNvPr id="15" name="TextBox 14"/>
          <p:cNvSpPr txBox="1"/>
          <p:nvPr/>
        </p:nvSpPr>
        <p:spPr>
          <a:xfrm>
            <a:off x="4681728" y="4069080"/>
            <a:ext cx="2816352" cy="1005840"/>
          </a:xfrm>
          <a:prstGeom prst="rect">
            <a:avLst/>
          </a:prstGeom>
          <a:noFill/>
        </p:spPr>
        <p:txBody>
          <a:bodyPr wrap="square" lIns="0" rIns="0" tIns="0" bIns="0" anchor="t">
            <a:spAutoFit/>
          </a:bodyPr>
          <a:lstStyle/>
          <a:p>
            <a:pPr algn="l">
              <a:lnSpc>
                <a:spcPct val="112000"/>
              </a:lnSpc>
              <a:spcAft>
                <a:spcPts val="0"/>
              </a:spcAft>
            </a:pPr>
            <a:r>
              <a:rPr sz="1200" b="0" i="0">
                <a:solidFill>
                  <a:srgbClr val="FDFBF7"/>
                </a:solidFill>
                <a:latin typeface="Segoe UI"/>
              </a:rPr>
              <a:t>Toàn bộ nội dung nằm trong file JSON; nhóm sau có thể bổ sung và phát triển tiếp.</a:t>
            </a:r>
          </a:p>
        </p:txBody>
      </p:sp>
      <p:sp>
        <p:nvSpPr>
          <p:cNvPr id="16" name="Rounded Rectangle 15"/>
          <p:cNvSpPr/>
          <p:nvPr/>
        </p:nvSpPr>
        <p:spPr>
          <a:xfrm>
            <a:off x="7991856" y="3246120"/>
            <a:ext cx="3364992" cy="1965960"/>
          </a:xfrm>
          <a:prstGeom prst="roundRect">
            <a:avLst>
              <a:gd name="adj" fmla="val 6000"/>
            </a:avLst>
          </a:prstGeom>
          <a:solidFill>
            <a:srgbClr val="75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991856" y="3246120"/>
            <a:ext cx="3364992" cy="64008"/>
          </a:xfrm>
          <a:prstGeom prst="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66176" y="3520440"/>
            <a:ext cx="2816352" cy="457200"/>
          </a:xfrm>
          <a:prstGeom prst="rect">
            <a:avLst/>
          </a:prstGeom>
          <a:noFill/>
        </p:spPr>
        <p:txBody>
          <a:bodyPr wrap="square" lIns="0" rIns="0" tIns="0" bIns="0" anchor="t">
            <a:spAutoFit/>
          </a:bodyPr>
          <a:lstStyle/>
          <a:p>
            <a:pPr algn="l">
              <a:lnSpc>
                <a:spcPct val="112000"/>
              </a:lnSpc>
              <a:spcAft>
                <a:spcPts val="0"/>
              </a:spcAft>
            </a:pPr>
            <a:r>
              <a:rPr sz="1500" b="1" i="0">
                <a:solidFill>
                  <a:srgbClr val="E7CD7A"/>
                </a:solidFill>
                <a:latin typeface="Georgia"/>
              </a:rPr>
              <a:t>Một lời tự nhắc</a:t>
            </a:r>
          </a:p>
        </p:txBody>
      </p:sp>
      <p:sp>
        <p:nvSpPr>
          <p:cNvPr id="19" name="TextBox 18"/>
          <p:cNvSpPr txBox="1"/>
          <p:nvPr/>
        </p:nvSpPr>
        <p:spPr>
          <a:xfrm>
            <a:off x="8266176" y="4069080"/>
            <a:ext cx="2816352" cy="1005840"/>
          </a:xfrm>
          <a:prstGeom prst="rect">
            <a:avLst/>
          </a:prstGeom>
          <a:noFill/>
        </p:spPr>
        <p:txBody>
          <a:bodyPr wrap="square" lIns="0" rIns="0" tIns="0" bIns="0" anchor="t">
            <a:spAutoFit/>
          </a:bodyPr>
          <a:lstStyle/>
          <a:p>
            <a:pPr algn="l">
              <a:lnSpc>
                <a:spcPct val="112000"/>
              </a:lnSpc>
              <a:spcAft>
                <a:spcPts val="0"/>
              </a:spcAft>
            </a:pPr>
            <a:r>
              <a:rPr sz="1200" b="0" i="0">
                <a:solidFill>
                  <a:srgbClr val="FDFBF7"/>
                </a:solidFill>
                <a:latin typeface="Segoe UI"/>
              </a:rPr>
              <a:t>Kim chỉ nam chỉ có ý nghĩa khi nó đổi được một quyết định thật của ngày mai.</a:t>
            </a:r>
          </a:p>
        </p:txBody>
      </p:sp>
      <p:sp>
        <p:nvSpPr>
          <p:cNvPr id="20" name="TextBox 19"/>
          <p:cNvSpPr txBox="1"/>
          <p:nvPr/>
        </p:nvSpPr>
        <p:spPr>
          <a:xfrm>
            <a:off x="822960" y="5532120"/>
            <a:ext cx="10515600" cy="457200"/>
          </a:xfrm>
          <a:prstGeom prst="rect">
            <a:avLst/>
          </a:prstGeom>
          <a:noFill/>
        </p:spPr>
        <p:txBody>
          <a:bodyPr wrap="square" lIns="0" rIns="0" tIns="0" bIns="0" anchor="t">
            <a:spAutoFit/>
          </a:bodyPr>
          <a:lstStyle/>
          <a:p>
            <a:pPr algn="l">
              <a:lnSpc>
                <a:spcPct val="112000"/>
              </a:lnSpc>
              <a:spcAft>
                <a:spcPts val="0"/>
              </a:spcAft>
            </a:pPr>
            <a:r>
              <a:rPr sz="1500" b="0" i="1">
                <a:solidFill>
                  <a:srgbClr val="FDFBF7"/>
                </a:solidFill>
                <a:latin typeface="Georgia"/>
              </a:rPr>
              <a:t>Em xin trân trọng cảm ơn thầy/cô và các bạn đã lắng nghe — em rất mong nhận được góp ý.</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